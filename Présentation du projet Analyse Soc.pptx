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24" r:id="rId1"/>
  </p:sldMasterIdLst>
  <p:notesMasterIdLst>
    <p:notesMasterId r:id="rId31"/>
  </p:notesMasterIdLst>
  <p:sldIdLst>
    <p:sldId id="256" r:id="rId2"/>
    <p:sldId id="333" r:id="rId3"/>
    <p:sldId id="325" r:id="rId4"/>
    <p:sldId id="328" r:id="rId5"/>
    <p:sldId id="313" r:id="rId6"/>
    <p:sldId id="331" r:id="rId7"/>
    <p:sldId id="302" r:id="rId8"/>
    <p:sldId id="314" r:id="rId9"/>
    <p:sldId id="312" r:id="rId10"/>
    <p:sldId id="315" r:id="rId11"/>
    <p:sldId id="339" r:id="rId12"/>
    <p:sldId id="307" r:id="rId13"/>
    <p:sldId id="316" r:id="rId14"/>
    <p:sldId id="287" r:id="rId15"/>
    <p:sldId id="305" r:id="rId16"/>
    <p:sldId id="324" r:id="rId17"/>
    <p:sldId id="306" r:id="rId18"/>
    <p:sldId id="309" r:id="rId19"/>
    <p:sldId id="323" r:id="rId20"/>
    <p:sldId id="317" r:id="rId21"/>
    <p:sldId id="318" r:id="rId22"/>
    <p:sldId id="320" r:id="rId23"/>
    <p:sldId id="310" r:id="rId24"/>
    <p:sldId id="311" r:id="rId25"/>
    <p:sldId id="329" r:id="rId26"/>
    <p:sldId id="337" r:id="rId27"/>
    <p:sldId id="330" r:id="rId28"/>
    <p:sldId id="321" r:id="rId29"/>
    <p:sldId id="322" r:id="rId3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Style clair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073A0DAA-6AF3-43AB-8588-CEC1D06C72B9}" styleName="Style moyen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9" autoAdjust="0"/>
    <p:restoredTop sz="94660"/>
  </p:normalViewPr>
  <p:slideViewPr>
    <p:cSldViewPr snapToGrid="0">
      <p:cViewPr varScale="1">
        <p:scale>
          <a:sx n="65" d="100"/>
          <a:sy n="65" d="100"/>
        </p:scale>
        <p:origin x="936" y="78"/>
      </p:cViewPr>
      <p:guideLst/>
    </p:cSldViewPr>
  </p:slideViewPr>
  <p:notesTextViewPr>
    <p:cViewPr>
      <p:scale>
        <a:sx n="125" d="100"/>
        <a:sy n="125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7482778-74A5-4BD9-B0CD-5E91220712C8}" type="datetimeFigureOut">
              <a:rPr lang="fr-FR" smtClean="0"/>
              <a:t>02/10/2026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0521DF-95D5-442D-8E62-01B2C8362CC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410355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POINT CLE : </a:t>
            </a:r>
            <a:r>
              <a:rPr dirty="0" err="1"/>
              <a:t>expliquer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le dossier </a:t>
            </a:r>
            <a:r>
              <a:rPr dirty="0" err="1"/>
              <a:t>partagé</a:t>
            </a:r>
            <a:r>
              <a:rPr dirty="0"/>
              <a:t> VMware ('Partage') </a:t>
            </a:r>
            <a:r>
              <a:rPr dirty="0" err="1"/>
              <a:t>permet</a:t>
            </a:r>
            <a:r>
              <a:rPr dirty="0"/>
              <a:t> de </a:t>
            </a:r>
            <a:r>
              <a:rPr dirty="0" err="1"/>
              <a:t>transférer</a:t>
            </a:r>
            <a:r>
              <a:rPr dirty="0"/>
              <a:t> les </a:t>
            </a:r>
            <a:r>
              <a:rPr dirty="0" err="1"/>
              <a:t>preuves</a:t>
            </a:r>
            <a:r>
              <a:rPr dirty="0"/>
              <a:t> de la machine </a:t>
            </a:r>
            <a:r>
              <a:rPr dirty="0" err="1"/>
              <a:t>hôte</a:t>
            </a:r>
            <a:r>
              <a:rPr dirty="0"/>
              <a:t> vers la VM Kali SANS les modifier (</a:t>
            </a:r>
            <a:r>
              <a:rPr dirty="0" err="1"/>
              <a:t>intégrité</a:t>
            </a:r>
            <a:r>
              <a:rPr dirty="0"/>
              <a:t> de la </a:t>
            </a:r>
            <a:r>
              <a:rPr dirty="0" err="1"/>
              <a:t>preuve</a:t>
            </a:r>
            <a:r>
              <a:rPr dirty="0"/>
              <a:t> — </a:t>
            </a:r>
            <a:r>
              <a:rPr dirty="0" err="1"/>
              <a:t>principe</a:t>
            </a:r>
            <a:r>
              <a:rPr dirty="0"/>
              <a:t> de base </a:t>
            </a:r>
            <a:r>
              <a:rPr dirty="0" err="1"/>
              <a:t>en</a:t>
            </a:r>
            <a:r>
              <a:rPr dirty="0"/>
              <a:t> forensic). Chemin </a:t>
            </a:r>
            <a:r>
              <a:rPr dirty="0" err="1"/>
              <a:t>hôte</a:t>
            </a:r>
            <a:r>
              <a:rPr dirty="0"/>
              <a:t> : C:\Users\Cedric\Desktop\Partage.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POINT CLE : </a:t>
            </a:r>
            <a:r>
              <a:rPr dirty="0" err="1"/>
              <a:t>détailler</a:t>
            </a:r>
            <a:r>
              <a:rPr dirty="0"/>
              <a:t> les </a:t>
            </a:r>
            <a:r>
              <a:rPr dirty="0" err="1"/>
              <a:t>commandes</a:t>
            </a:r>
            <a:r>
              <a:rPr dirty="0"/>
              <a:t> dans </a:t>
            </a:r>
            <a:r>
              <a:rPr dirty="0" err="1"/>
              <a:t>l'ordre</a:t>
            </a:r>
            <a:r>
              <a:rPr dirty="0"/>
              <a:t> : </a:t>
            </a:r>
          </a:p>
          <a:p>
            <a:r>
              <a:rPr dirty="0"/>
              <a:t>1) </a:t>
            </a:r>
            <a:r>
              <a:rPr dirty="0" err="1"/>
              <a:t>vmware-hgfsclient</a:t>
            </a:r>
            <a:r>
              <a:rPr dirty="0"/>
              <a:t> → </a:t>
            </a:r>
            <a:r>
              <a:rPr dirty="0" err="1"/>
              <a:t>vérifie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VMware </a:t>
            </a:r>
            <a:r>
              <a:rPr dirty="0" err="1"/>
              <a:t>détecte</a:t>
            </a:r>
            <a:r>
              <a:rPr dirty="0"/>
              <a:t> le partage</a:t>
            </a:r>
          </a:p>
          <a:p>
            <a:r>
              <a:rPr dirty="0"/>
              <a:t>2) </a:t>
            </a:r>
            <a:r>
              <a:rPr dirty="0" err="1"/>
              <a:t>mkdir</a:t>
            </a:r>
            <a:r>
              <a:rPr dirty="0"/>
              <a:t> -p /</a:t>
            </a:r>
            <a:r>
              <a:rPr dirty="0" err="1"/>
              <a:t>mnt</a:t>
            </a:r>
            <a:r>
              <a:rPr dirty="0"/>
              <a:t>/</a:t>
            </a:r>
            <a:r>
              <a:rPr dirty="0" err="1"/>
              <a:t>hgfs</a:t>
            </a:r>
            <a:r>
              <a:rPr dirty="0"/>
              <a:t> → </a:t>
            </a:r>
            <a:r>
              <a:rPr dirty="0" err="1"/>
              <a:t>crée</a:t>
            </a:r>
            <a:r>
              <a:rPr dirty="0"/>
              <a:t> le point de montage</a:t>
            </a:r>
          </a:p>
          <a:p>
            <a:r>
              <a:rPr dirty="0"/>
              <a:t>3) </a:t>
            </a:r>
            <a:r>
              <a:rPr dirty="0" err="1"/>
              <a:t>vmhgfs</a:t>
            </a:r>
            <a:r>
              <a:rPr dirty="0"/>
              <a:t>-fuse .host:/ /</a:t>
            </a:r>
            <a:r>
              <a:rPr dirty="0" err="1"/>
              <a:t>mnt</a:t>
            </a:r>
            <a:r>
              <a:rPr dirty="0"/>
              <a:t>/</a:t>
            </a:r>
            <a:r>
              <a:rPr dirty="0" err="1"/>
              <a:t>hgfs</a:t>
            </a:r>
            <a:r>
              <a:rPr dirty="0"/>
              <a:t> -o </a:t>
            </a:r>
            <a:r>
              <a:rPr dirty="0" err="1"/>
              <a:t>allow_other</a:t>
            </a:r>
            <a:r>
              <a:rPr dirty="0"/>
              <a:t> → monte le partage</a:t>
            </a:r>
          </a:p>
          <a:p>
            <a:r>
              <a:rPr dirty="0"/>
              <a:t>4) cd vers Artefacts/files </a:t>
            </a:r>
            <a:r>
              <a:rPr dirty="0" err="1"/>
              <a:t>puis</a:t>
            </a:r>
            <a:r>
              <a:rPr dirty="0"/>
              <a:t> ls -</a:t>
            </a:r>
            <a:r>
              <a:rPr dirty="0" err="1"/>
              <a:t>lah</a:t>
            </a:r>
            <a:endParaRPr dirty="0"/>
          </a:p>
          <a:p>
            <a:r>
              <a:rPr dirty="0" err="1"/>
              <a:t>Montrer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chaque</a:t>
            </a:r>
            <a:r>
              <a:rPr dirty="0"/>
              <a:t> étape est </a:t>
            </a:r>
            <a:r>
              <a:rPr dirty="0" err="1"/>
              <a:t>tracée</a:t>
            </a:r>
            <a:r>
              <a:rPr dirty="0"/>
              <a:t> = rigueur </a:t>
            </a:r>
            <a:r>
              <a:rPr dirty="0" err="1"/>
              <a:t>méthodologique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0521DF-95D5-442D-8E62-01B2C8362CCA}" type="slidenum">
              <a:rPr lang="fr-FR" smtClean="0"/>
              <a:t>20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1689866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POINT CLE : montrer l'historique des téléchargements de Bob. On y trouve Rapport.pdf.exe dans C:\Users\bob_newman\Downloads, à côté d'autres téléchargements (nmap-7.93-setup, un faux 'Firefox Installer'). Insister sur le nom trompeur à double extension '.pdf.exe' : c'est la technique de camouflage utilisée pour tromper Bob.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5D4E29-848B-43B4-8C89-3D2976CD959E}" type="datetimeFigureOut">
              <a:rPr lang="fr-FR" smtClean="0"/>
              <a:t>02/10/2026</a:t>
            </a:fld>
            <a:endParaRPr lang="fr-F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CD8259-C85F-4A6E-81B9-554502204F7E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9392069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5D4E29-848B-43B4-8C89-3D2976CD959E}" type="datetimeFigureOut">
              <a:rPr lang="fr-FR" smtClean="0"/>
              <a:t>02/10/2026</a:t>
            </a:fld>
            <a:endParaRPr lang="fr-F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CD8259-C85F-4A6E-81B9-554502204F7E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0501129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5D4E29-848B-43B4-8C89-3D2976CD959E}" type="datetimeFigureOut">
              <a:rPr lang="fr-FR" smtClean="0"/>
              <a:t>02/10/2026</a:t>
            </a:fld>
            <a:endParaRPr lang="fr-F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CD8259-C85F-4A6E-81B9-554502204F7E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7894125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5D4E29-848B-43B4-8C89-3D2976CD959E}" type="datetimeFigureOut">
              <a:rPr lang="fr-FR" smtClean="0"/>
              <a:t>02/10/2026</a:t>
            </a:fld>
            <a:endParaRPr lang="fr-F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CD8259-C85F-4A6E-81B9-554502204F7E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6489003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5D4E29-848B-43B4-8C89-3D2976CD959E}" type="datetimeFigureOut">
              <a:rPr lang="fr-FR" smtClean="0"/>
              <a:t>02/10/2026</a:t>
            </a:fld>
            <a:endParaRPr lang="fr-FR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CD8259-C85F-4A6E-81B9-554502204F7E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2598926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5D4E29-848B-43B4-8C89-3D2976CD959E}" type="datetimeFigureOut">
              <a:rPr lang="fr-FR" smtClean="0"/>
              <a:t>02/10/2026</a:t>
            </a:fld>
            <a:endParaRPr lang="fr-FR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CD8259-C85F-4A6E-81B9-554502204F7E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8481250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5D4E29-848B-43B4-8C89-3D2976CD959E}" type="datetimeFigureOut">
              <a:rPr lang="fr-FR" smtClean="0"/>
              <a:t>02/10/2026</a:t>
            </a:fld>
            <a:endParaRPr lang="fr-FR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CD8259-C85F-4A6E-81B9-554502204F7E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4751257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5D4E29-848B-43B4-8C89-3D2976CD959E}" type="datetimeFigureOut">
              <a:rPr lang="fr-FR" smtClean="0"/>
              <a:t>02/10/2026</a:t>
            </a:fld>
            <a:endParaRPr lang="fr-FR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CD8259-C85F-4A6E-81B9-554502204F7E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6636777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5D4E29-848B-43B4-8C89-3D2976CD959E}" type="datetimeFigureOut">
              <a:rPr lang="fr-FR" smtClean="0"/>
              <a:t>02/10/2026</a:t>
            </a:fld>
            <a:endParaRPr lang="fr-F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CD8259-C85F-4A6E-81B9-554502204F7E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2391477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 panoramiqu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5D4E29-848B-43B4-8C89-3D2976CD959E}" type="datetimeFigureOut">
              <a:rPr lang="fr-FR" smtClean="0"/>
              <a:t>02/10/2026</a:t>
            </a:fld>
            <a:endParaRPr lang="fr-F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CD8259-C85F-4A6E-81B9-554502204F7E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1003958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5D4E29-848B-43B4-8C89-3D2976CD959E}" type="datetimeFigureOut">
              <a:rPr lang="fr-FR" smtClean="0"/>
              <a:t>02/10/2026</a:t>
            </a:fld>
            <a:endParaRPr lang="fr-F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CD8259-C85F-4A6E-81B9-554502204F7E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22364433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fr-FR"/>
              <a:t>Cliquez pour modifier les styles du texte du masque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5D4E29-848B-43B4-8C89-3D2976CD959E}" type="datetimeFigureOut">
              <a:rPr lang="fr-FR" smtClean="0"/>
              <a:t>02/10/2026</a:t>
            </a:fld>
            <a:endParaRPr lang="fr-F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CD8259-C85F-4A6E-81B9-554502204F7E}" type="slidenum">
              <a:rPr lang="fr-FR" smtClean="0"/>
              <a:t>‹N°›</a:t>
            </a:fld>
            <a:endParaRPr lang="fr-FR" dirty="0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365237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5D4E29-848B-43B4-8C89-3D2976CD959E}" type="datetimeFigureOut">
              <a:rPr lang="fr-FR" smtClean="0"/>
              <a:t>02/10/2026</a:t>
            </a:fld>
            <a:endParaRPr lang="fr-F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CD8259-C85F-4A6E-81B9-554502204F7E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4408594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 colon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5D4E29-848B-43B4-8C89-3D2976CD959E}" type="datetimeFigureOut">
              <a:rPr lang="fr-FR" smtClean="0"/>
              <a:t>02/10/2026</a:t>
            </a:fld>
            <a:endParaRPr lang="fr-FR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CD8259-C85F-4A6E-81B9-554502204F7E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43470742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 colonnes d’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5D4E29-848B-43B4-8C89-3D2976CD959E}" type="datetimeFigureOut">
              <a:rPr lang="fr-FR" smtClean="0"/>
              <a:t>02/10/2026</a:t>
            </a:fld>
            <a:endParaRPr lang="fr-FR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CD8259-C85F-4A6E-81B9-554502204F7E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90211833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5D4E29-848B-43B4-8C89-3D2976CD959E}" type="datetimeFigureOut">
              <a:rPr lang="fr-FR" smtClean="0"/>
              <a:t>02/10/2026</a:t>
            </a:fld>
            <a:endParaRPr lang="fr-F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CD8259-C85F-4A6E-81B9-554502204F7E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36704066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5D4E29-848B-43B4-8C89-3D2976CD959E}" type="datetimeFigureOut">
              <a:rPr lang="fr-FR" smtClean="0"/>
              <a:t>02/10/2026</a:t>
            </a:fld>
            <a:endParaRPr lang="fr-F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CD8259-C85F-4A6E-81B9-554502204F7E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5261011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905D4E29-848B-43B4-8C89-3D2976CD959E}" type="datetimeFigureOut">
              <a:rPr lang="fr-FR" smtClean="0"/>
              <a:t>02/10/2026</a:t>
            </a:fld>
            <a:endParaRPr lang="fr-F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fr-F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CD8259-C85F-4A6E-81B9-554502204F7E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61169957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025" r:id="rId1"/>
    <p:sldLayoutId id="2147484026" r:id="rId2"/>
    <p:sldLayoutId id="2147484027" r:id="rId3"/>
    <p:sldLayoutId id="2147484028" r:id="rId4"/>
    <p:sldLayoutId id="2147484029" r:id="rId5"/>
    <p:sldLayoutId id="2147484030" r:id="rId6"/>
    <p:sldLayoutId id="2147484031" r:id="rId7"/>
    <p:sldLayoutId id="2147484032" r:id="rId8"/>
    <p:sldLayoutId id="2147484033" r:id="rId9"/>
    <p:sldLayoutId id="2147484034" r:id="rId10"/>
    <p:sldLayoutId id="2147484035" r:id="rId11"/>
    <p:sldLayoutId id="2147484036" r:id="rId12"/>
    <p:sldLayoutId id="2147484037" r:id="rId13"/>
    <p:sldLayoutId id="2147484038" r:id="rId14"/>
    <p:sldLayoutId id="2147484039" r:id="rId15"/>
    <p:sldLayoutId id="2147484040" r:id="rId16"/>
    <p:sldLayoutId id="2147484041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53A73EDC-8D25-A7AE-76C5-68D1FA1F73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8746" y="2621694"/>
            <a:ext cx="10763989" cy="9886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08000"/>
              </a:lnSpc>
            </a:pPr>
            <a:r>
              <a:rPr lang="en-US" sz="28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</a:t>
            </a: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la compromission</a:t>
            </a:r>
            <a:r>
              <a:rPr lang="en-US" sz="2800" dirty="0"/>
              <a:t> </a:t>
            </a: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d'un poste Windows </a:t>
            </a:r>
            <a:r>
              <a:rPr lang="en-US" sz="28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administrateur</a:t>
            </a:r>
            <a:endParaRPr lang="en-US" sz="2800" dirty="0"/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fr-FR" altLang="fr-FR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99C2F0CB-6DD6-AA20-DF1A-697A3AA808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280987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 dirty="0"/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660A6FF2-6B72-0130-E419-FE918A5909E2}"/>
              </a:ext>
            </a:extLst>
          </p:cNvPr>
          <p:cNvSpPr txBox="1"/>
          <p:nvPr/>
        </p:nvSpPr>
        <p:spPr>
          <a:xfrm>
            <a:off x="6914637" y="1156095"/>
            <a:ext cx="2561303" cy="4000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>
                <a:latin typeface="+mj-lt"/>
                <a:cs typeface="Calibri" panose="020F0502020204030204" pitchFamily="34" charset="0"/>
              </a:rPr>
              <a:t>Liora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181DE9D3-67B7-647B-4927-44B8E48C8EAE}"/>
              </a:ext>
            </a:extLst>
          </p:cNvPr>
          <p:cNvSpPr txBox="1"/>
          <p:nvPr/>
        </p:nvSpPr>
        <p:spPr>
          <a:xfrm>
            <a:off x="82282" y="244459"/>
            <a:ext cx="609845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 err="1"/>
              <a:t>Douali</a:t>
            </a:r>
            <a:r>
              <a:rPr lang="fr-FR" dirty="0"/>
              <a:t> Cedric</a:t>
            </a:r>
          </a:p>
          <a:p>
            <a:r>
              <a:rPr lang="fr-FR" dirty="0"/>
              <a:t>2025-2026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0C7C8CF6-A941-420F-860F-A4CECC180A10}"/>
              </a:ext>
            </a:extLst>
          </p:cNvPr>
          <p:cNvSpPr txBox="1"/>
          <p:nvPr/>
        </p:nvSpPr>
        <p:spPr>
          <a:xfrm>
            <a:off x="798746" y="4263863"/>
            <a:ext cx="761954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500" dirty="0" err="1">
                <a:solidFill>
                  <a:srgbClr val="AEB9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Entreprise</a:t>
            </a:r>
            <a:r>
              <a:rPr lang="en-US" sz="1500" dirty="0">
                <a:solidFill>
                  <a:srgbClr val="AEB9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Pâtissier — Compromission de </a:t>
            </a:r>
            <a:r>
              <a:rPr lang="en-US" sz="1500" dirty="0" err="1">
                <a:solidFill>
                  <a:srgbClr val="AEB9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l'Active</a:t>
            </a:r>
            <a:r>
              <a:rPr lang="en-US" sz="1500" dirty="0">
                <a:solidFill>
                  <a:srgbClr val="AEB9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Directory via </a:t>
            </a:r>
            <a:r>
              <a:rPr lang="en-US" sz="1500" dirty="0" err="1">
                <a:solidFill>
                  <a:srgbClr val="AEB9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</a:t>
            </a:r>
            <a:r>
              <a:rPr lang="en-US" sz="1500" dirty="0">
                <a:solidFill>
                  <a:srgbClr val="AEB9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machine </a:t>
            </a:r>
            <a:r>
              <a:rPr lang="en-US" sz="1500" dirty="0" err="1">
                <a:solidFill>
                  <a:srgbClr val="AEB9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d'administration</a:t>
            </a:r>
            <a:endParaRPr lang="en-US" sz="1500" dirty="0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43C2757B-7B7D-5B32-308F-3D46DE0107AA}"/>
              </a:ext>
            </a:extLst>
          </p:cNvPr>
          <p:cNvSpPr txBox="1"/>
          <p:nvPr/>
        </p:nvSpPr>
        <p:spPr>
          <a:xfrm>
            <a:off x="798746" y="5109011"/>
            <a:ext cx="6098458" cy="11476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35000"/>
              </a:lnSpc>
              <a:buNone/>
            </a:pPr>
            <a:r>
              <a:rPr lang="en-US" sz="1300" dirty="0" err="1">
                <a:solidFill>
                  <a:srgbClr val="AEB9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Titre du diplôme : Master Analyste SOC
Machine étudiée : DESKTOP-E3LJDVT (10.0.1.3) — poste de Bob Newman
Utilisateur : bob_newman — Administrateur du domaine
Domaine : patissier.local</a:t>
            </a:r>
            <a:endParaRPr lang="en-US" sz="1300" dirty="0"/>
          </a:p>
        </p:txBody>
      </p:sp>
      <p:pic>
        <p:nvPicPr>
          <p:cNvPr id="15" name="Image 14" descr="Employés de Liora, lieu, anciens employés | LinkedIn">
            <a:extLst>
              <a:ext uri="{FF2B5EF4-FFF2-40B4-BE49-F238E27FC236}">
                <a16:creationId xmlns:a16="http://schemas.microsoft.com/office/drawing/2014/main" id="{5FB19A64-1FCD-6324-7C62-2A8E6FD563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9671" y="265073"/>
            <a:ext cx="1905000" cy="190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82409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3" name="Rectangle 32">
            <a:extLst>
              <a:ext uri="{FF2B5EF4-FFF2-40B4-BE49-F238E27FC236}">
                <a16:creationId xmlns:a16="http://schemas.microsoft.com/office/drawing/2014/main" id="{0D9B8FD4-CDEB-4EB4-B4DE-C89E119389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Freeform 36">
            <a:extLst>
              <a:ext uri="{FF2B5EF4-FFF2-40B4-BE49-F238E27FC236}">
                <a16:creationId xmlns:a16="http://schemas.microsoft.com/office/drawing/2014/main" id="{5A2E3D1D-9E9F-4739-BA14-D4D7FA9FBD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644637" y="0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1FFB365B-E9DC-4859-B8AB-CB83EEBE4E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"/>
            <a:ext cx="4990911" cy="6858001"/>
          </a:xfrm>
          <a:custGeom>
            <a:avLst/>
            <a:gdLst>
              <a:gd name="connsiteX0" fmla="*/ 3646196 w 4990911"/>
              <a:gd name="connsiteY0" fmla="*/ 0 h 6858001"/>
              <a:gd name="connsiteX1" fmla="*/ 4989734 w 4990911"/>
              <a:gd name="connsiteY1" fmla="*/ 0 h 6858001"/>
              <a:gd name="connsiteX2" fmla="*/ 4964689 w 4990911"/>
              <a:gd name="connsiteY2" fmla="*/ 155677 h 6858001"/>
              <a:gd name="connsiteX3" fmla="*/ 4940820 w 4990911"/>
              <a:gd name="connsiteY3" fmla="*/ 310668 h 6858001"/>
              <a:gd name="connsiteX4" fmla="*/ 4917456 w 4990911"/>
              <a:gd name="connsiteY4" fmla="*/ 466344 h 6858001"/>
              <a:gd name="connsiteX5" fmla="*/ 4897453 w 4990911"/>
              <a:gd name="connsiteY5" fmla="*/ 622707 h 6858001"/>
              <a:gd name="connsiteX6" fmla="*/ 4877282 w 4990911"/>
              <a:gd name="connsiteY6" fmla="*/ 778383 h 6858001"/>
              <a:gd name="connsiteX7" fmla="*/ 4858456 w 4990911"/>
              <a:gd name="connsiteY7" fmla="*/ 934746 h 6858001"/>
              <a:gd name="connsiteX8" fmla="*/ 4842320 w 4990911"/>
              <a:gd name="connsiteY8" fmla="*/ 1089051 h 6858001"/>
              <a:gd name="connsiteX9" fmla="*/ 4827024 w 4990911"/>
              <a:gd name="connsiteY9" fmla="*/ 1245413 h 6858001"/>
              <a:gd name="connsiteX10" fmla="*/ 4813072 w 4990911"/>
              <a:gd name="connsiteY10" fmla="*/ 1401090 h 6858001"/>
              <a:gd name="connsiteX11" fmla="*/ 4800970 w 4990911"/>
              <a:gd name="connsiteY11" fmla="*/ 1554023 h 6858001"/>
              <a:gd name="connsiteX12" fmla="*/ 4788867 w 4990911"/>
              <a:gd name="connsiteY12" fmla="*/ 1709014 h 6858001"/>
              <a:gd name="connsiteX13" fmla="*/ 4778782 w 4990911"/>
              <a:gd name="connsiteY13" fmla="*/ 1861947 h 6858001"/>
              <a:gd name="connsiteX14" fmla="*/ 4770882 w 4990911"/>
              <a:gd name="connsiteY14" fmla="*/ 2014881 h 6858001"/>
              <a:gd name="connsiteX15" fmla="*/ 4762645 w 4990911"/>
              <a:gd name="connsiteY15" fmla="*/ 2167128 h 6858001"/>
              <a:gd name="connsiteX16" fmla="*/ 4755754 w 4990911"/>
              <a:gd name="connsiteY16" fmla="*/ 2318004 h 6858001"/>
              <a:gd name="connsiteX17" fmla="*/ 4750879 w 4990911"/>
              <a:gd name="connsiteY17" fmla="*/ 2467509 h 6858001"/>
              <a:gd name="connsiteX18" fmla="*/ 4746677 w 4990911"/>
              <a:gd name="connsiteY18" fmla="*/ 2617013 h 6858001"/>
              <a:gd name="connsiteX19" fmla="*/ 4742643 w 4990911"/>
              <a:gd name="connsiteY19" fmla="*/ 2765146 h 6858001"/>
              <a:gd name="connsiteX20" fmla="*/ 4740794 w 4990911"/>
              <a:gd name="connsiteY20" fmla="*/ 2911221 h 6858001"/>
              <a:gd name="connsiteX21" fmla="*/ 4738777 w 4990911"/>
              <a:gd name="connsiteY21" fmla="*/ 3057297 h 6858001"/>
              <a:gd name="connsiteX22" fmla="*/ 4737768 w 4990911"/>
              <a:gd name="connsiteY22" fmla="*/ 3201315 h 6858001"/>
              <a:gd name="connsiteX23" fmla="*/ 4738777 w 4990911"/>
              <a:gd name="connsiteY23" fmla="*/ 3343961 h 6858001"/>
              <a:gd name="connsiteX24" fmla="*/ 4738777 w 4990911"/>
              <a:gd name="connsiteY24" fmla="*/ 3485236 h 6858001"/>
              <a:gd name="connsiteX25" fmla="*/ 4740794 w 4990911"/>
              <a:gd name="connsiteY25" fmla="*/ 3625139 h 6858001"/>
              <a:gd name="connsiteX26" fmla="*/ 4743819 w 4990911"/>
              <a:gd name="connsiteY26" fmla="*/ 3762299 h 6858001"/>
              <a:gd name="connsiteX27" fmla="*/ 4746677 w 4990911"/>
              <a:gd name="connsiteY27" fmla="*/ 3898087 h 6858001"/>
              <a:gd name="connsiteX28" fmla="*/ 4749871 w 4990911"/>
              <a:gd name="connsiteY28" fmla="*/ 4031133 h 6858001"/>
              <a:gd name="connsiteX29" fmla="*/ 4754745 w 4990911"/>
              <a:gd name="connsiteY29" fmla="*/ 4163492 h 6858001"/>
              <a:gd name="connsiteX30" fmla="*/ 4759956 w 4990911"/>
              <a:gd name="connsiteY30" fmla="*/ 4293793 h 6858001"/>
              <a:gd name="connsiteX31" fmla="*/ 4764662 w 4990911"/>
              <a:gd name="connsiteY31" fmla="*/ 4421352 h 6858001"/>
              <a:gd name="connsiteX32" fmla="*/ 4777942 w 4990911"/>
              <a:gd name="connsiteY32" fmla="*/ 4670298 h 6858001"/>
              <a:gd name="connsiteX33" fmla="*/ 4792061 w 4990911"/>
              <a:gd name="connsiteY33" fmla="*/ 4908956 h 6858001"/>
              <a:gd name="connsiteX34" fmla="*/ 4806853 w 4990911"/>
              <a:gd name="connsiteY34" fmla="*/ 5138013 h 6858001"/>
              <a:gd name="connsiteX35" fmla="*/ 4823158 w 4990911"/>
              <a:gd name="connsiteY35" fmla="*/ 5354726 h 6858001"/>
              <a:gd name="connsiteX36" fmla="*/ 4840135 w 4990911"/>
              <a:gd name="connsiteY36" fmla="*/ 5561838 h 6858001"/>
              <a:gd name="connsiteX37" fmla="*/ 4858456 w 4990911"/>
              <a:gd name="connsiteY37" fmla="*/ 5753862 h 6858001"/>
              <a:gd name="connsiteX38" fmla="*/ 4876442 w 4990911"/>
              <a:gd name="connsiteY38" fmla="*/ 5934227 h 6858001"/>
              <a:gd name="connsiteX39" fmla="*/ 4894427 w 4990911"/>
              <a:gd name="connsiteY39" fmla="*/ 6100191 h 6858001"/>
              <a:gd name="connsiteX40" fmla="*/ 4911404 w 4990911"/>
              <a:gd name="connsiteY40" fmla="*/ 6252438 h 6858001"/>
              <a:gd name="connsiteX41" fmla="*/ 4927541 w 4990911"/>
              <a:gd name="connsiteY41" fmla="*/ 6387541 h 6858001"/>
              <a:gd name="connsiteX42" fmla="*/ 4942837 w 4990911"/>
              <a:gd name="connsiteY42" fmla="*/ 6509613 h 6858001"/>
              <a:gd name="connsiteX43" fmla="*/ 4955612 w 4990911"/>
              <a:gd name="connsiteY43" fmla="*/ 6612483 h 6858001"/>
              <a:gd name="connsiteX44" fmla="*/ 4967714 w 4990911"/>
              <a:gd name="connsiteY44" fmla="*/ 6698894 h 6858001"/>
              <a:gd name="connsiteX45" fmla="*/ 4985028 w 4990911"/>
              <a:gd name="connsiteY45" fmla="*/ 6817538 h 6858001"/>
              <a:gd name="connsiteX46" fmla="*/ 4990911 w 4990911"/>
              <a:gd name="connsiteY46" fmla="*/ 6858000 h 6858001"/>
              <a:gd name="connsiteX47" fmla="*/ 4085557 w 4990911"/>
              <a:gd name="connsiteY47" fmla="*/ 6858000 h 6858001"/>
              <a:gd name="connsiteX48" fmla="*/ 4085557 w 4990911"/>
              <a:gd name="connsiteY48" fmla="*/ 6858001 h 6858001"/>
              <a:gd name="connsiteX49" fmla="*/ 0 w 4990911"/>
              <a:gd name="connsiteY49" fmla="*/ 6858001 h 6858001"/>
              <a:gd name="connsiteX50" fmla="*/ 0 w 4990911"/>
              <a:gd name="connsiteY50" fmla="*/ 1 h 6858001"/>
              <a:gd name="connsiteX51" fmla="*/ 3646196 w 4990911"/>
              <a:gd name="connsiteY51" fmla="*/ 1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4990911" h="6858001">
                <a:moveTo>
                  <a:pt x="3646196" y="0"/>
                </a:moveTo>
                <a:lnTo>
                  <a:pt x="4989734" y="0"/>
                </a:lnTo>
                <a:lnTo>
                  <a:pt x="4964689" y="155677"/>
                </a:lnTo>
                <a:lnTo>
                  <a:pt x="4940820" y="310668"/>
                </a:lnTo>
                <a:lnTo>
                  <a:pt x="4917456" y="466344"/>
                </a:lnTo>
                <a:lnTo>
                  <a:pt x="4897453" y="622707"/>
                </a:lnTo>
                <a:lnTo>
                  <a:pt x="4877282" y="778383"/>
                </a:lnTo>
                <a:lnTo>
                  <a:pt x="4858456" y="934746"/>
                </a:lnTo>
                <a:lnTo>
                  <a:pt x="4842320" y="1089051"/>
                </a:lnTo>
                <a:lnTo>
                  <a:pt x="4827024" y="1245413"/>
                </a:lnTo>
                <a:lnTo>
                  <a:pt x="4813072" y="1401090"/>
                </a:lnTo>
                <a:lnTo>
                  <a:pt x="4800970" y="1554023"/>
                </a:lnTo>
                <a:lnTo>
                  <a:pt x="4788867" y="1709014"/>
                </a:lnTo>
                <a:lnTo>
                  <a:pt x="4778782" y="1861947"/>
                </a:lnTo>
                <a:lnTo>
                  <a:pt x="4770882" y="2014881"/>
                </a:lnTo>
                <a:lnTo>
                  <a:pt x="4762645" y="2167128"/>
                </a:lnTo>
                <a:lnTo>
                  <a:pt x="4755754" y="2318004"/>
                </a:lnTo>
                <a:lnTo>
                  <a:pt x="4750879" y="2467509"/>
                </a:lnTo>
                <a:lnTo>
                  <a:pt x="4746677" y="2617013"/>
                </a:lnTo>
                <a:lnTo>
                  <a:pt x="4742643" y="2765146"/>
                </a:lnTo>
                <a:lnTo>
                  <a:pt x="4740794" y="2911221"/>
                </a:lnTo>
                <a:lnTo>
                  <a:pt x="4738777" y="3057297"/>
                </a:lnTo>
                <a:lnTo>
                  <a:pt x="4737768" y="3201315"/>
                </a:lnTo>
                <a:lnTo>
                  <a:pt x="4738777" y="3343961"/>
                </a:lnTo>
                <a:lnTo>
                  <a:pt x="4738777" y="3485236"/>
                </a:lnTo>
                <a:lnTo>
                  <a:pt x="4740794" y="3625139"/>
                </a:lnTo>
                <a:lnTo>
                  <a:pt x="4743819" y="3762299"/>
                </a:lnTo>
                <a:lnTo>
                  <a:pt x="4746677" y="3898087"/>
                </a:lnTo>
                <a:lnTo>
                  <a:pt x="4749871" y="4031133"/>
                </a:lnTo>
                <a:lnTo>
                  <a:pt x="4754745" y="4163492"/>
                </a:lnTo>
                <a:lnTo>
                  <a:pt x="4759956" y="4293793"/>
                </a:lnTo>
                <a:lnTo>
                  <a:pt x="4764662" y="4421352"/>
                </a:lnTo>
                <a:lnTo>
                  <a:pt x="4777942" y="4670298"/>
                </a:lnTo>
                <a:lnTo>
                  <a:pt x="4792061" y="4908956"/>
                </a:lnTo>
                <a:lnTo>
                  <a:pt x="4806853" y="5138013"/>
                </a:lnTo>
                <a:lnTo>
                  <a:pt x="4823158" y="5354726"/>
                </a:lnTo>
                <a:lnTo>
                  <a:pt x="4840135" y="5561838"/>
                </a:lnTo>
                <a:lnTo>
                  <a:pt x="4858456" y="5753862"/>
                </a:lnTo>
                <a:lnTo>
                  <a:pt x="4876442" y="5934227"/>
                </a:lnTo>
                <a:lnTo>
                  <a:pt x="4894427" y="6100191"/>
                </a:lnTo>
                <a:lnTo>
                  <a:pt x="4911404" y="6252438"/>
                </a:lnTo>
                <a:lnTo>
                  <a:pt x="4927541" y="6387541"/>
                </a:lnTo>
                <a:lnTo>
                  <a:pt x="4942837" y="6509613"/>
                </a:lnTo>
                <a:lnTo>
                  <a:pt x="4955612" y="6612483"/>
                </a:lnTo>
                <a:lnTo>
                  <a:pt x="4967714" y="6698894"/>
                </a:lnTo>
                <a:lnTo>
                  <a:pt x="4985028" y="6817538"/>
                </a:lnTo>
                <a:lnTo>
                  <a:pt x="4990911" y="6858000"/>
                </a:lnTo>
                <a:lnTo>
                  <a:pt x="4085557" y="6858000"/>
                </a:lnTo>
                <a:lnTo>
                  <a:pt x="4085557" y="6858001"/>
                </a:lnTo>
                <a:lnTo>
                  <a:pt x="0" y="6858001"/>
                </a:lnTo>
                <a:lnTo>
                  <a:pt x="0" y="1"/>
                </a:lnTo>
                <a:lnTo>
                  <a:pt x="3646196" y="1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8ADAB9C8-EB37-4914-A699-C716FC8FE4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34E5F026-1778-7C83-8D51-C9FA7FDCA0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3143" y="1645920"/>
            <a:ext cx="3522879" cy="4470821"/>
          </a:xfrm>
        </p:spPr>
        <p:txBody>
          <a:bodyPr>
            <a:normAutofit/>
          </a:bodyPr>
          <a:lstStyle/>
          <a:p>
            <a:pPr algn="r"/>
            <a:r>
              <a:rPr lang="fr-FR">
                <a:solidFill>
                  <a:schemeClr val="bg2"/>
                </a:solidFill>
              </a:rPr>
              <a:t>SOMMAIRE</a:t>
            </a:r>
          </a:p>
        </p:txBody>
      </p:sp>
      <p:sp>
        <p:nvSpPr>
          <p:cNvPr id="28" name="Espace réservé du contenu 2">
            <a:extLst>
              <a:ext uri="{FF2B5EF4-FFF2-40B4-BE49-F238E27FC236}">
                <a16:creationId xmlns:a16="http://schemas.microsoft.com/office/drawing/2014/main" id="{1BA6CC24-B9A9-FCB4-AB10-C3DD48971C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04109" y="1645920"/>
            <a:ext cx="6269434" cy="4470821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fr-FR" sz="1600" dirty="0"/>
              <a:t>Présentation de l'entreprise</a:t>
            </a:r>
          </a:p>
          <a:p>
            <a:pPr>
              <a:lnSpc>
                <a:spcPct val="90000"/>
              </a:lnSpc>
            </a:pPr>
            <a:r>
              <a:rPr lang="fr-FR" sz="1600" dirty="0"/>
              <a:t>Contexte</a:t>
            </a:r>
          </a:p>
          <a:p>
            <a:pPr>
              <a:lnSpc>
                <a:spcPct val="90000"/>
              </a:lnSpc>
            </a:pPr>
            <a:r>
              <a:rPr lang="fr-FR" sz="1600" dirty="0"/>
              <a:t>Méthodologie</a:t>
            </a:r>
          </a:p>
          <a:p>
            <a:pPr>
              <a:lnSpc>
                <a:spcPct val="90000"/>
              </a:lnSpc>
            </a:pPr>
            <a:r>
              <a:rPr lang="fr-FR" sz="1600" dirty="0"/>
              <a:t>Schéma global du projet</a:t>
            </a:r>
          </a:p>
          <a:p>
            <a:pPr>
              <a:lnSpc>
                <a:spcPct val="90000"/>
              </a:lnSpc>
            </a:pPr>
            <a:r>
              <a:rPr lang="fr-FR" sz="1600" dirty="0"/>
              <a:t>Partie 1 — Identifier l'accès à distance</a:t>
            </a:r>
          </a:p>
          <a:p>
            <a:pPr>
              <a:lnSpc>
                <a:spcPct val="90000"/>
              </a:lnSpc>
            </a:pPr>
            <a:r>
              <a:rPr lang="fr-FR" sz="1600" dirty="0"/>
              <a:t>Partie 2 — Déterminer le mécanisme de persistance</a:t>
            </a:r>
          </a:p>
          <a:p>
            <a:pPr>
              <a:lnSpc>
                <a:spcPct val="90000"/>
              </a:lnSpc>
            </a:pPr>
            <a:r>
              <a:rPr lang="fr-FR" sz="1600" dirty="0"/>
              <a:t>Partie 3 — Reconstitution de l'infection initiale</a:t>
            </a:r>
          </a:p>
          <a:p>
            <a:pPr>
              <a:lnSpc>
                <a:spcPct val="90000"/>
              </a:lnSpc>
            </a:pPr>
            <a:r>
              <a:rPr lang="fr-FR" sz="1600" dirty="0"/>
              <a:t>Cartographie MITRE ATT&amp;CK</a:t>
            </a:r>
          </a:p>
          <a:p>
            <a:pPr>
              <a:lnSpc>
                <a:spcPct val="90000"/>
              </a:lnSpc>
            </a:pPr>
            <a:r>
              <a:rPr lang="fr-FR" sz="1600" dirty="0"/>
              <a:t>IOC</a:t>
            </a:r>
          </a:p>
          <a:p>
            <a:pPr>
              <a:lnSpc>
                <a:spcPct val="90000"/>
              </a:lnSpc>
            </a:pPr>
            <a:r>
              <a:rPr lang="fr-FR" sz="1600" dirty="0"/>
              <a:t>Chronologie globale de l'attaque</a:t>
            </a:r>
          </a:p>
          <a:p>
            <a:pPr>
              <a:lnSpc>
                <a:spcPct val="90000"/>
              </a:lnSpc>
            </a:pPr>
            <a:r>
              <a:rPr lang="fr-FR" sz="1600" dirty="0"/>
              <a:t>Conclusion</a:t>
            </a:r>
          </a:p>
          <a:p>
            <a:pPr>
              <a:lnSpc>
                <a:spcPct val="90000"/>
              </a:lnSpc>
            </a:pPr>
            <a:endParaRPr lang="fr-FR" sz="1600" dirty="0"/>
          </a:p>
          <a:p>
            <a:pPr>
              <a:lnSpc>
                <a:spcPct val="90000"/>
              </a:lnSpc>
            </a:pPr>
            <a:endParaRPr lang="fr-FR" sz="1600" dirty="0"/>
          </a:p>
          <a:p>
            <a:pPr>
              <a:lnSpc>
                <a:spcPct val="90000"/>
              </a:lnSpc>
            </a:pPr>
            <a:endParaRPr lang="fr-FR" sz="1600" dirty="0"/>
          </a:p>
          <a:p>
            <a:pPr>
              <a:lnSpc>
                <a:spcPct val="90000"/>
              </a:lnSpc>
            </a:pPr>
            <a:endParaRPr lang="fr-FR" sz="1600" dirty="0"/>
          </a:p>
          <a:p>
            <a:pPr marL="0" indent="0">
              <a:lnSpc>
                <a:spcPct val="90000"/>
              </a:lnSpc>
              <a:buNone/>
            </a:pPr>
            <a:endParaRPr lang="fr-FR" sz="1600" dirty="0"/>
          </a:p>
          <a:p>
            <a:pPr>
              <a:lnSpc>
                <a:spcPct val="90000"/>
              </a:lnSpc>
            </a:pPr>
            <a:endParaRPr lang="fr-FR" sz="1600" dirty="0"/>
          </a:p>
        </p:txBody>
      </p:sp>
    </p:spTree>
    <p:extLst>
      <p:ext uri="{BB962C8B-B14F-4D97-AF65-F5344CB8AC3E}">
        <p14:creationId xmlns:p14="http://schemas.microsoft.com/office/powerpoint/2010/main" val="28747658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B5F0D88-8A9D-CD17-2B14-8DE693168A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Présentation de l’entreprise</a:t>
            </a:r>
          </a:p>
        </p:txBody>
      </p:sp>
      <p:pic>
        <p:nvPicPr>
          <p:cNvPr id="4" name="Espace réservé du contenu 3" descr="Vitrine Pâtisserie | Innovation, élégance et fraîcheur | Someva">
            <a:extLst>
              <a:ext uri="{FF2B5EF4-FFF2-40B4-BE49-F238E27FC236}">
                <a16:creationId xmlns:a16="http://schemas.microsoft.com/office/drawing/2014/main" id="{4E7A807F-FEFF-A956-E0E0-2422091ECC7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7401" y="1638300"/>
            <a:ext cx="4023360" cy="2667000"/>
          </a:xfrm>
          <a:prstGeom prst="rect">
            <a:avLst/>
          </a:prstGeom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CF69C061-41E6-1F72-2C22-5C454862B922}"/>
              </a:ext>
            </a:extLst>
          </p:cNvPr>
          <p:cNvSpPr txBox="1"/>
          <p:nvPr/>
        </p:nvSpPr>
        <p:spPr>
          <a:xfrm>
            <a:off x="4829905" y="1638300"/>
            <a:ext cx="558963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1- Pâtissier : entreprise française fondée en 1954 par les frères Bernard et Gustave Pâtissier.</a:t>
            </a:r>
          </a:p>
          <a:p>
            <a:endParaRPr lang="fr-FR" dirty="0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B2CB8A38-0627-4C94-EE90-8CED466D20F7}"/>
              </a:ext>
            </a:extLst>
          </p:cNvPr>
          <p:cNvSpPr txBox="1"/>
          <p:nvPr/>
        </p:nvSpPr>
        <p:spPr>
          <a:xfrm>
            <a:off x="4829905" y="2838629"/>
            <a:ext cx="563388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2- Activités : loisirs, électronique grand public et électroménager ; l’entreprise s’est notamment distinguée dans la vente d’objets connectés.</a:t>
            </a:r>
          </a:p>
          <a:p>
            <a:endParaRPr lang="fr-FR" dirty="0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07562B3D-FB28-4905-2BF6-CABA698E588F}"/>
              </a:ext>
            </a:extLst>
          </p:cNvPr>
          <p:cNvSpPr txBox="1"/>
          <p:nvPr/>
        </p:nvSpPr>
        <p:spPr>
          <a:xfrm>
            <a:off x="4829905" y="4003394"/>
            <a:ext cx="5700443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3- Incident : une compromission de l’Active Directory a été détectée, avec déploiement d’une GPO malveillante depuis la machine d’un administrateur.</a:t>
            </a:r>
          </a:p>
          <a:p>
            <a:endParaRPr lang="fr-FR" dirty="0"/>
          </a:p>
          <a:p>
            <a:r>
              <a:rPr lang="fr-FR" dirty="0"/>
              <a:t>4- Poste étudié : machine Windows de Bob, administrateur du domaine, après le téléchargement d’un rapport hebdomadaire depuis l’intranet.</a:t>
            </a:r>
          </a:p>
          <a:p>
            <a:endParaRPr lang="fr-FR" dirty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3527329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B5F0D88-8A9D-CD17-2B14-8DE693168A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Contexte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20FD93E-6E51-D3C2-5CE4-1B1A6B4F45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400"/>
              </a:spcAft>
              <a:defRPr sz="1700" b="0">
                <a:solidFill>
                  <a:srgbClr val="FFFFFF"/>
                </a:solidFill>
              </a:defRPr>
            </a:pPr>
            <a:r>
              <a:t>Une compromission dans l’Active Directory de Pâtissier a été détectée, avec le déploiement d’une GPO malveillante depuis la machine d’un administrateur.</a:t>
            </a:r>
            <a:endParaRPr lang="fr-FR"/>
          </a:p>
          <a:p>
            <a:pPr>
              <a:spcAft>
                <a:spcPts val="1400"/>
              </a:spcAft>
              <a:defRPr sz="1700">
                <a:solidFill>
                  <a:srgbClr val="FFFFFF"/>
                </a:solidFill>
              </a:defRPr>
            </a:pPr>
            <a:r>
              <a:t>La machine examinée est celle de Bob, administrateur du domaine patissier.local.</a:t>
            </a:r>
          </a:p>
          <a:p>
            <a:pPr>
              <a:spcAft>
                <a:spcPts val="1400"/>
              </a:spcAft>
              <a:defRPr sz="1700">
                <a:solidFill>
                  <a:srgbClr val="FFFFFF"/>
                </a:solidFill>
              </a:defRPr>
            </a:pPr>
            <a:r>
              <a:t>Bob indique qu’un rapport téléchargé depuis l’intranet ne s’est pas ouvert et a disparu lors du premier téléchargement, puis s’est ouvert après un second téléchargement.</a:t>
            </a:r>
          </a:p>
          <a:p>
            <a:pPr>
              <a:spcAft>
                <a:spcPts val="1400"/>
              </a:spcAft>
              <a:defRPr sz="1700">
                <a:solidFill>
                  <a:srgbClr val="FFFFFF"/>
                </a:solidFill>
              </a:defRPr>
            </a:pPr>
            <a:r>
              <a:t>L’analyse doit identifier le canal d’accès distant, vérifier sa persistance et reconstituer l’introduction du fichier malveillant.</a:t>
            </a:r>
          </a:p>
          <a:p>
            <a:pPr>
              <a:spcAft>
                <a:spcPts val="1400"/>
              </a:spcAft>
              <a:defRPr sz="1700">
                <a:solidFill>
                  <a:srgbClr val="FFFFFF"/>
                </a:solidFill>
              </a:defRPr>
            </a:pPr>
            <a:r>
              <a:t>Les conclusions sont établies à partir des artefacts fournis : processus, réseau, pare-feu, registre et historique.</a:t>
            </a:r>
          </a:p>
        </p:txBody>
      </p:sp>
    </p:spTree>
    <p:extLst>
      <p:ext uri="{BB962C8B-B14F-4D97-AF65-F5344CB8AC3E}">
        <p14:creationId xmlns:p14="http://schemas.microsoft.com/office/powerpoint/2010/main" val="23527329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B5F0D88-8A9D-CD17-2B14-8DE693168A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Méthodologie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20FD93E-6E51-D3C2-5CE4-1B1A6B4F45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4293" y="1453311"/>
            <a:ext cx="8946541" cy="4195481"/>
          </a:xfrm>
        </p:spPr>
        <p:txBody>
          <a:bodyPr wrap="square">
            <a:normAutofit fontScale="85000" lnSpcReduction="10000"/>
          </a:bodyPr>
          <a:lstStyle/>
          <a:p>
            <a:pPr>
              <a:spcAft>
                <a:spcPts val="1600"/>
              </a:spcAft>
              <a:defRPr sz="1800" b="0">
                <a:solidFill>
                  <a:srgbClr val="FFFFFF"/>
                </a:solidFill>
              </a:defRPr>
            </a:pPr>
            <a:r>
              <a:rPr dirty="0" err="1"/>
              <a:t>Collecte</a:t>
            </a:r>
            <a:r>
              <a:rPr dirty="0"/>
              <a:t> des artefacts sur la machine compromise :  </a:t>
            </a:r>
            <a:r>
              <a:rPr dirty="0" err="1"/>
              <a:t>registre</a:t>
            </a:r>
            <a:r>
              <a:rPr dirty="0"/>
              <a:t>, </a:t>
            </a:r>
            <a:r>
              <a:rPr lang="fr-FR" dirty="0"/>
              <a:t>configuration réseau, port, liste des processus</a:t>
            </a:r>
          </a:p>
          <a:p>
            <a:pPr>
              <a:spcAft>
                <a:spcPts val="1600"/>
              </a:spcAft>
              <a:defRPr sz="1800" b="0">
                <a:solidFill>
                  <a:srgbClr val="FFFFFF"/>
                </a:solidFill>
              </a:defRPr>
            </a:pPr>
            <a:r>
              <a:rPr dirty="0" err="1"/>
              <a:t>Transfert</a:t>
            </a:r>
            <a:r>
              <a:rPr dirty="0"/>
              <a:t> </a:t>
            </a:r>
            <a:r>
              <a:rPr dirty="0" err="1"/>
              <a:t>sécurisé</a:t>
            </a:r>
            <a:r>
              <a:rPr dirty="0"/>
              <a:t> des </a:t>
            </a:r>
            <a:r>
              <a:rPr dirty="0" err="1"/>
              <a:t>preuves</a:t>
            </a:r>
            <a:r>
              <a:rPr dirty="0"/>
              <a:t> vers </a:t>
            </a:r>
            <a:r>
              <a:rPr dirty="0" err="1"/>
              <a:t>l'environnement</a:t>
            </a:r>
            <a:r>
              <a:rPr dirty="0"/>
              <a:t> </a:t>
            </a:r>
            <a:r>
              <a:rPr dirty="0" err="1"/>
              <a:t>d'analyse</a:t>
            </a:r>
            <a:r>
              <a:rPr dirty="0"/>
              <a:t> forensic (VM Kali Linux) via un dossier </a:t>
            </a:r>
            <a:r>
              <a:rPr dirty="0" err="1"/>
              <a:t>partagé</a:t>
            </a:r>
            <a:r>
              <a:rPr dirty="0"/>
              <a:t> </a:t>
            </a:r>
            <a:r>
              <a:rPr dirty="0" err="1"/>
              <a:t>dédié</a:t>
            </a:r>
            <a:endParaRPr lang="fr-FR" dirty="0"/>
          </a:p>
          <a:p>
            <a:pPr>
              <a:spcAft>
                <a:spcPts val="1600"/>
              </a:spcAft>
              <a:defRPr sz="1800" b="0">
                <a:solidFill>
                  <a:srgbClr val="FFFFFF"/>
                </a:solidFill>
              </a:defRPr>
            </a:pPr>
            <a:r>
              <a:rPr lang="fr-FR" sz="1800" dirty="0">
                <a:solidFill>
                  <a:srgbClr val="FFFFFF"/>
                </a:solidFill>
              </a:rPr>
              <a:t>Vérification de l’intégrité des artefacts par comparaison des empreintes SHA-256 calculées directement sur Kali Linux, avant et après l’</a:t>
            </a:r>
            <a:r>
              <a:rPr lang="fr-FR" sz="1800" dirty="0" err="1">
                <a:solidFill>
                  <a:srgbClr val="FFFFFF"/>
                </a:solidFill>
              </a:rPr>
              <a:t>analyse.</a:t>
            </a:r>
            <a:r>
              <a:rPr lang="fr-FR" dirty="0" err="1"/>
              <a:t>Analyse</a:t>
            </a:r>
            <a:r>
              <a:rPr lang="fr-FR" dirty="0"/>
              <a:t> des artefacts : processus actifs,</a:t>
            </a:r>
            <a:endParaRPr dirty="0"/>
          </a:p>
          <a:p>
            <a:pPr>
              <a:spcAft>
                <a:spcPts val="1600"/>
              </a:spcAft>
              <a:defRPr sz="1800" b="0">
                <a:solidFill>
                  <a:srgbClr val="FFFFFF"/>
                </a:solidFill>
              </a:defRPr>
            </a:pPr>
            <a:r>
              <a:rPr dirty="0" err="1"/>
              <a:t>Analyse</a:t>
            </a:r>
            <a:r>
              <a:rPr dirty="0"/>
              <a:t> des artefacts : processus </a:t>
            </a:r>
            <a:r>
              <a:rPr dirty="0" err="1"/>
              <a:t>actifs</a:t>
            </a:r>
            <a:r>
              <a:rPr dirty="0"/>
              <a:t>, </a:t>
            </a:r>
            <a:r>
              <a:rPr dirty="0" err="1"/>
              <a:t>connexions</a:t>
            </a:r>
            <a:r>
              <a:rPr dirty="0"/>
              <a:t> réseau, </a:t>
            </a:r>
            <a:r>
              <a:rPr dirty="0" err="1"/>
              <a:t>clés</a:t>
            </a:r>
            <a:r>
              <a:rPr dirty="0"/>
              <a:t> de </a:t>
            </a:r>
            <a:r>
              <a:rPr dirty="0" err="1"/>
              <a:t>registre</a:t>
            </a:r>
            <a:r>
              <a:rPr dirty="0"/>
              <a:t>, </a:t>
            </a:r>
            <a:r>
              <a:rPr dirty="0" err="1"/>
              <a:t>journaux</a:t>
            </a:r>
            <a:r>
              <a:rPr dirty="0"/>
              <a:t> </a:t>
            </a:r>
            <a:r>
              <a:rPr dirty="0" err="1"/>
              <a:t>système</a:t>
            </a:r>
            <a:r>
              <a:rPr dirty="0"/>
              <a:t> et pare-feu</a:t>
            </a:r>
          </a:p>
          <a:p>
            <a:pPr>
              <a:spcAft>
                <a:spcPts val="1600"/>
              </a:spcAft>
              <a:defRPr sz="1800" b="0">
                <a:solidFill>
                  <a:srgbClr val="FFFFFF"/>
                </a:solidFill>
              </a:defRPr>
            </a:pPr>
            <a:r>
              <a:rPr dirty="0" err="1"/>
              <a:t>Corrélation</a:t>
            </a:r>
            <a:r>
              <a:rPr dirty="0"/>
              <a:t> des indices </a:t>
            </a:r>
            <a:r>
              <a:rPr dirty="0" err="1"/>
              <a:t>collectés</a:t>
            </a:r>
            <a:r>
              <a:rPr dirty="0"/>
              <a:t> </a:t>
            </a:r>
            <a:r>
              <a:rPr dirty="0" err="1"/>
              <a:t>afin</a:t>
            </a:r>
            <a:r>
              <a:rPr dirty="0"/>
              <a:t> de </a:t>
            </a:r>
            <a:r>
              <a:rPr dirty="0" err="1"/>
              <a:t>reconstituer</a:t>
            </a:r>
            <a:r>
              <a:rPr dirty="0"/>
              <a:t> la </a:t>
            </a:r>
            <a:r>
              <a:rPr dirty="0" err="1"/>
              <a:t>chronologie</a:t>
            </a:r>
            <a:r>
              <a:rPr dirty="0"/>
              <a:t> </a:t>
            </a:r>
            <a:r>
              <a:rPr dirty="0" err="1"/>
              <a:t>précise</a:t>
            </a:r>
            <a:r>
              <a:rPr dirty="0"/>
              <a:t> de </a:t>
            </a:r>
            <a:r>
              <a:rPr dirty="0" err="1"/>
              <a:t>l'attaque</a:t>
            </a:r>
            <a:endParaRPr dirty="0"/>
          </a:p>
          <a:p>
            <a:pPr>
              <a:spcAft>
                <a:spcPts val="1600"/>
              </a:spcAft>
              <a:defRPr sz="1800" b="0">
                <a:solidFill>
                  <a:srgbClr val="FFFFFF"/>
                </a:solidFill>
              </a:defRPr>
            </a:pPr>
            <a:r>
              <a:rPr dirty="0" err="1"/>
              <a:t>Rédaction</a:t>
            </a:r>
            <a:r>
              <a:rPr dirty="0"/>
              <a:t> du rapport </a:t>
            </a:r>
            <a:r>
              <a:rPr dirty="0" err="1"/>
              <a:t>d'investigation</a:t>
            </a:r>
            <a:r>
              <a:rPr dirty="0"/>
              <a:t> et formulation des </a:t>
            </a:r>
            <a:r>
              <a:rPr dirty="0" err="1"/>
              <a:t>recommandations</a:t>
            </a:r>
            <a:r>
              <a:rPr dirty="0"/>
              <a:t> de </a:t>
            </a:r>
            <a:r>
              <a:rPr dirty="0" err="1"/>
              <a:t>remédiation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527329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B5F0D88-8A9D-CD17-2B14-8DE693168A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dirty="0"/>
              <a:t>Schema global du </a:t>
            </a:r>
            <a:r>
              <a:rPr sz="3600" dirty="0" err="1"/>
              <a:t>projet</a:t>
            </a:r>
            <a:endParaRPr sz="3600" dirty="0"/>
          </a:p>
        </p:txBody>
      </p:sp>
      <p:sp>
        <p:nvSpPr>
          <p:cNvPr id="3" name="Rounded Rectangle 2"/>
          <p:cNvSpPr/>
          <p:nvPr/>
        </p:nvSpPr>
        <p:spPr>
          <a:xfrm>
            <a:off x="2565092" y="1293319"/>
            <a:ext cx="3757155" cy="1432000"/>
          </a:xfrm>
          <a:prstGeom prst="roundRect">
            <a:avLst/>
          </a:prstGeom>
          <a:solidFill>
            <a:srgbClr val="153A3D"/>
          </a:solidFill>
          <a:ln w="25400">
            <a:solidFill>
              <a:srgbClr val="5484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>
              <a:spcAft>
                <a:spcPts val="200"/>
              </a:spcAft>
              <a:defRPr sz="1300" b="1">
                <a:solidFill>
                  <a:srgbClr val="FFFFFF"/>
                </a:solidFill>
              </a:defRPr>
            </a:pPr>
            <a:r>
              <a:rPr dirty="0" err="1"/>
              <a:t>pfSense</a:t>
            </a:r>
            <a:r>
              <a:rPr dirty="0"/>
              <a:t> —  DNS / FW</a:t>
            </a:r>
          </a:p>
          <a:p>
            <a:pPr algn="ctr">
              <a:spcAft>
                <a:spcPts val="200"/>
              </a:spcAft>
              <a:defRPr sz="1100" b="0">
                <a:solidFill>
                  <a:srgbClr val="E6B729"/>
                </a:solidFill>
              </a:defRPr>
            </a:pPr>
            <a:r>
              <a:rPr dirty="0">
                <a:solidFill>
                  <a:schemeClr val="tx1"/>
                </a:solidFill>
              </a:rPr>
              <a:t>www.intranet.fr  →  10.10.0.132</a:t>
            </a:r>
            <a:endParaRPr lang="fr-FR" dirty="0">
              <a:solidFill>
                <a:schemeClr val="tx1"/>
              </a:solidFill>
            </a:endParaRPr>
          </a:p>
          <a:p>
            <a:pPr algn="ctr">
              <a:spcAft>
                <a:spcPts val="200"/>
              </a:spcAft>
              <a:defRPr sz="1100" b="0">
                <a:solidFill>
                  <a:srgbClr val="E6B729"/>
                </a:solidFill>
              </a:defRPr>
            </a:pPr>
            <a:endParaRPr dirty="0"/>
          </a:p>
        </p:txBody>
      </p:sp>
      <p:sp>
        <p:nvSpPr>
          <p:cNvPr id="4" name="Oval 3"/>
          <p:cNvSpPr/>
          <p:nvPr/>
        </p:nvSpPr>
        <p:spPr>
          <a:xfrm>
            <a:off x="2505000" y="1530000"/>
            <a:ext cx="320000" cy="320000"/>
          </a:xfrm>
          <a:prstGeom prst="ellipse">
            <a:avLst/>
          </a:prstGeom>
          <a:solidFill>
            <a:srgbClr val="E6B729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125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325000" y="2750000"/>
            <a:ext cx="0" cy="250000"/>
          </a:xfrm>
          <a:prstGeom prst="line">
            <a:avLst/>
          </a:prstGeom>
          <a:ln w="22225">
            <a:solidFill>
              <a:srgbClr val="FFFFF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2737500" y="2730000"/>
            <a:ext cx="1800000" cy="240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1000" b="0" i="1">
                <a:solidFill>
                  <a:srgbClr val="FFFFFF"/>
                </a:solidFill>
              </a:defRPr>
            </a:pPr>
            <a:r>
              <a:t>réseau 10.0.1.0/24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0000" y="3299999"/>
            <a:ext cx="2449997" cy="1704749"/>
          </a:xfrm>
          <a:prstGeom prst="roundRect">
            <a:avLst/>
          </a:prstGeom>
          <a:solidFill>
            <a:srgbClr val="153A3D"/>
          </a:solidFill>
          <a:ln w="25400">
            <a:solidFill>
              <a:srgbClr val="B015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>
              <a:spcAft>
                <a:spcPts val="200"/>
              </a:spcAft>
              <a:defRPr sz="1250" b="1">
                <a:solidFill>
                  <a:srgbClr val="FFFFFF"/>
                </a:solidFill>
              </a:defRPr>
            </a:pPr>
            <a:r>
              <a:rPr dirty="0" err="1"/>
              <a:t>Serveur</a:t>
            </a:r>
            <a:r>
              <a:rPr dirty="0"/>
              <a:t> de </a:t>
            </a:r>
            <a:r>
              <a:rPr dirty="0" err="1"/>
              <a:t>l'attaquant</a:t>
            </a:r>
            <a:endParaRPr dirty="0"/>
          </a:p>
          <a:p>
            <a:pPr algn="ctr">
              <a:spcAft>
                <a:spcPts val="200"/>
              </a:spcAft>
              <a:defRPr sz="1100" b="0">
                <a:solidFill>
                  <a:srgbClr val="E6B729"/>
                </a:solidFill>
              </a:defRPr>
            </a:pPr>
            <a:r>
              <a:rPr dirty="0">
                <a:solidFill>
                  <a:schemeClr val="tx1"/>
                </a:solidFill>
              </a:rPr>
              <a:t>10.10.0.132</a:t>
            </a:r>
          </a:p>
          <a:p>
            <a:pPr algn="ctr">
              <a:spcAft>
                <a:spcPts val="200"/>
              </a:spcAft>
              <a:defRPr sz="1000" b="0">
                <a:solidFill>
                  <a:srgbClr val="FFFFFF"/>
                </a:solidFill>
              </a:defRPr>
            </a:pPr>
            <a:r>
              <a:rPr dirty="0"/>
              <a:t>Faux intranet / </a:t>
            </a:r>
            <a:r>
              <a:rPr dirty="0" err="1"/>
              <a:t>fichier</a:t>
            </a:r>
            <a:r>
              <a:rPr dirty="0"/>
              <a:t> </a:t>
            </a:r>
            <a:r>
              <a:rPr dirty="0" err="1"/>
              <a:t>piégé</a:t>
            </a:r>
            <a:endParaRPr dirty="0"/>
          </a:p>
        </p:txBody>
      </p:sp>
      <p:sp>
        <p:nvSpPr>
          <p:cNvPr id="8" name="Oval 7"/>
          <p:cNvSpPr/>
          <p:nvPr/>
        </p:nvSpPr>
        <p:spPr>
          <a:xfrm>
            <a:off x="330000" y="2980000"/>
            <a:ext cx="320000" cy="320000"/>
          </a:xfrm>
          <a:prstGeom prst="ellipse">
            <a:avLst/>
          </a:prstGeom>
          <a:solidFill>
            <a:srgbClr val="E6B729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125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0000" y="3150000"/>
            <a:ext cx="3300000" cy="1793072"/>
          </a:xfrm>
          <a:prstGeom prst="roundRect">
            <a:avLst/>
          </a:prstGeom>
          <a:solidFill>
            <a:srgbClr val="153A3D"/>
          </a:solidFill>
          <a:ln w="25400">
            <a:solidFill>
              <a:srgbClr val="5484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>
              <a:spcAft>
                <a:spcPts val="200"/>
              </a:spcAft>
              <a:defRPr sz="1250" b="1">
                <a:solidFill>
                  <a:srgbClr val="FFFFFF"/>
                </a:solidFill>
              </a:defRPr>
            </a:pPr>
            <a:r>
              <a:rPr dirty="0"/>
              <a:t>Poste de Bob — Windows</a:t>
            </a:r>
          </a:p>
          <a:p>
            <a:pPr algn="ctr">
              <a:spcAft>
                <a:spcPts val="200"/>
              </a:spcAft>
              <a:defRPr sz="1000" b="0">
                <a:solidFill>
                  <a:srgbClr val="FFFFFF"/>
                </a:solidFill>
              </a:defRPr>
            </a:pPr>
            <a:r>
              <a:rPr dirty="0"/>
              <a:t>DESKTOP-E3LJDVT — 10.0.1.3</a:t>
            </a:r>
          </a:p>
          <a:p>
            <a:pPr algn="ctr">
              <a:spcAft>
                <a:spcPts val="200"/>
              </a:spcAft>
              <a:defRPr sz="1050" b="0">
                <a:solidFill>
                  <a:srgbClr val="E6B729"/>
                </a:solidFill>
              </a:defRPr>
            </a:pPr>
            <a:r>
              <a:rPr dirty="0">
                <a:solidFill>
                  <a:schemeClr val="tx1"/>
                </a:solidFill>
              </a:rPr>
              <a:t>updater.exe  →  ncat.exe (TCP 42890)</a:t>
            </a:r>
          </a:p>
          <a:p>
            <a:pPr algn="ctr">
              <a:spcAft>
                <a:spcPts val="200"/>
              </a:spcAft>
              <a:defRPr sz="1050" b="0">
                <a:solidFill>
                  <a:srgbClr val="E6B729"/>
                </a:solidFill>
              </a:defRPr>
            </a:pPr>
            <a:r>
              <a:rPr dirty="0">
                <a:solidFill>
                  <a:schemeClr val="tx1"/>
                </a:solidFill>
              </a:rPr>
              <a:t>RunOnce = relance au prochain </a:t>
            </a:r>
            <a:r>
              <a:rPr lang="fr-FR" dirty="0" err="1">
                <a:solidFill>
                  <a:schemeClr val="tx1"/>
                </a:solidFill>
              </a:rPr>
              <a:t>demarrage</a:t>
            </a:r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10" name="Oval 9"/>
          <p:cNvSpPr/>
          <p:nvPr/>
        </p:nvSpPr>
        <p:spPr>
          <a:xfrm>
            <a:off x="7730000" y="2980000"/>
            <a:ext cx="320000" cy="320000"/>
          </a:xfrm>
          <a:prstGeom prst="ellipse">
            <a:avLst/>
          </a:prstGeom>
          <a:solidFill>
            <a:srgbClr val="E6B729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125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cxnSp>
        <p:nvCxnSpPr>
          <p:cNvPr id="11" name="Connector 10"/>
          <p:cNvCxnSpPr/>
          <p:nvPr/>
        </p:nvCxnSpPr>
        <p:spPr>
          <a:xfrm flipH="1">
            <a:off x="1875000" y="3000000"/>
            <a:ext cx="2450000" cy="300000"/>
          </a:xfrm>
          <a:prstGeom prst="line">
            <a:avLst/>
          </a:prstGeom>
          <a:ln w="22225">
            <a:solidFill>
              <a:srgbClr val="FFFFF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>
            <a:cxnSpLocks/>
          </p:cNvCxnSpPr>
          <p:nvPr/>
        </p:nvCxnSpPr>
        <p:spPr>
          <a:xfrm>
            <a:off x="4325000" y="3000000"/>
            <a:ext cx="2449996" cy="169999"/>
          </a:xfrm>
          <a:prstGeom prst="line">
            <a:avLst/>
          </a:prstGeom>
          <a:ln w="22225">
            <a:solidFill>
              <a:srgbClr val="FFFFF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3100000" y="4075000"/>
            <a:ext cx="1650000" cy="0"/>
          </a:xfrm>
          <a:prstGeom prst="line">
            <a:avLst/>
          </a:prstGeom>
          <a:ln w="25400">
            <a:solidFill>
              <a:srgbClr val="B0151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3775000" y="3365000"/>
            <a:ext cx="300000" cy="300000"/>
          </a:xfrm>
          <a:prstGeom prst="ellipse">
            <a:avLst/>
          </a:prstGeom>
          <a:solidFill>
            <a:srgbClr val="B01513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125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40000" y="3695000"/>
            <a:ext cx="1570000" cy="380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900" b="0" i="1">
                <a:solidFill>
                  <a:srgbClr val="B01513"/>
                </a:solidFill>
              </a:defRPr>
            </a:pPr>
            <a:r>
              <a:t>téléchargement du fichier piégé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400000" y="4850000"/>
            <a:ext cx="0" cy="700000"/>
          </a:xfrm>
          <a:prstGeom prst="line">
            <a:avLst/>
          </a:prstGeom>
          <a:ln w="25400">
            <a:solidFill>
              <a:srgbClr val="6AAC9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3074996" y="5113923"/>
            <a:ext cx="3700000" cy="240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900" b="0" i="1">
                <a:solidFill>
                  <a:srgbClr val="6AAC90"/>
                </a:solidFill>
              </a:defRPr>
            </a:pPr>
            <a:r>
              <a:rPr dirty="0"/>
              <a:t>artefacts (</a:t>
            </a:r>
            <a:r>
              <a:rPr dirty="0" err="1"/>
              <a:t>mémoire</a:t>
            </a:r>
            <a:r>
              <a:rPr dirty="0"/>
              <a:t>, </a:t>
            </a:r>
            <a:r>
              <a:rPr dirty="0" err="1"/>
              <a:t>disque</a:t>
            </a:r>
            <a:r>
              <a:rPr dirty="0"/>
              <a:t>, </a:t>
            </a:r>
            <a:r>
              <a:rPr dirty="0" err="1"/>
              <a:t>registre</a:t>
            </a:r>
            <a:r>
              <a:rPr dirty="0"/>
              <a:t>, réseau)</a:t>
            </a:r>
          </a:p>
        </p:txBody>
      </p:sp>
      <p:sp>
        <p:nvSpPr>
          <p:cNvPr id="18" name="Oval 17"/>
          <p:cNvSpPr/>
          <p:nvPr/>
        </p:nvSpPr>
        <p:spPr>
          <a:xfrm>
            <a:off x="6250000" y="5080000"/>
            <a:ext cx="300000" cy="300000"/>
          </a:xfrm>
          <a:prstGeom prst="ellipse">
            <a:avLst/>
          </a:prstGeom>
          <a:solidFill>
            <a:srgbClr val="6AAC90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1250" b="1">
                <a:solidFill>
                  <a:srgbClr val="FFFFFF"/>
                </a:solidFill>
              </a:defRPr>
            </a:pPr>
            <a:r>
              <a:rPr dirty="0"/>
              <a:t>5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750000" y="5550000"/>
            <a:ext cx="3300000" cy="1100000"/>
          </a:xfrm>
          <a:prstGeom prst="roundRect">
            <a:avLst/>
          </a:prstGeom>
          <a:solidFill>
            <a:srgbClr val="153A3D"/>
          </a:solidFill>
          <a:ln w="25400">
            <a:solidFill>
              <a:srgbClr val="6AAC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>
              <a:spcAft>
                <a:spcPts val="200"/>
              </a:spcAft>
              <a:defRPr sz="1250" b="1">
                <a:solidFill>
                  <a:srgbClr val="FFFFFF"/>
                </a:solidFill>
              </a:defRPr>
            </a:pPr>
            <a:r>
              <a:rPr dirty="0"/>
              <a:t>Kali Linux — </a:t>
            </a:r>
            <a:r>
              <a:rPr dirty="0" err="1"/>
              <a:t>Analyse</a:t>
            </a:r>
            <a:r>
              <a:rPr dirty="0"/>
              <a:t> forensic</a:t>
            </a:r>
            <a:endParaRPr lang="fr-FR" dirty="0"/>
          </a:p>
          <a:p>
            <a:pPr algn="ctr">
              <a:spcAft>
                <a:spcPts val="200"/>
              </a:spcAft>
              <a:defRPr sz="1250" b="1">
                <a:solidFill>
                  <a:srgbClr val="FFFFFF"/>
                </a:solidFill>
              </a:defRPr>
            </a:pPr>
            <a:r>
              <a:rPr lang="fr-FR" dirty="0" err="1"/>
              <a:t>Commande : rg </a:t>
            </a:r>
          </a:p>
        </p:txBody>
      </p:sp>
      <p:sp>
        <p:nvSpPr>
          <p:cNvPr id="20" name="Oval 19"/>
          <p:cNvSpPr/>
          <p:nvPr/>
        </p:nvSpPr>
        <p:spPr>
          <a:xfrm>
            <a:off x="4430000" y="5230000"/>
            <a:ext cx="320000" cy="320000"/>
          </a:xfrm>
          <a:prstGeom prst="ellipse">
            <a:avLst/>
          </a:prstGeom>
          <a:solidFill>
            <a:srgbClr val="E6B729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125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449999" y="1179871"/>
            <a:ext cx="3299989" cy="5420129"/>
          </a:xfrm>
          <a:prstGeom prst="roundRect">
            <a:avLst/>
          </a:prstGeom>
          <a:solidFill>
            <a:srgbClr val="112E3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2400" tIns="152400" rIns="127000" bIns="127000" rtlCol="0" anchor="ctr"/>
          <a:lstStyle/>
          <a:p>
            <a:pPr algn="ctr">
              <a:spcAft>
                <a:spcPts val="800"/>
              </a:spcAft>
              <a:defRPr sz="1500" b="1">
                <a:solidFill>
                  <a:srgbClr val="E6B729"/>
                </a:solidFill>
              </a:defRPr>
            </a:pPr>
            <a:r>
              <a:rPr dirty="0" err="1"/>
              <a:t>Légende</a:t>
            </a:r>
            <a:endParaRPr dirty="0"/>
          </a:p>
          <a:p>
            <a:pPr>
              <a:spcAft>
                <a:spcPts val="700"/>
              </a:spcAft>
            </a:pPr>
            <a:r>
              <a:rPr sz="1000" b="1" dirty="0">
                <a:solidFill>
                  <a:srgbClr val="E6B729"/>
                </a:solidFill>
              </a:rPr>
              <a:t>1.  </a:t>
            </a:r>
            <a:r>
              <a:rPr sz="1000" dirty="0" err="1">
                <a:solidFill>
                  <a:srgbClr val="FFFFFF"/>
                </a:solidFill>
              </a:rPr>
              <a:t>Détournement</a:t>
            </a:r>
            <a:r>
              <a:rPr sz="1000" dirty="0">
                <a:solidFill>
                  <a:srgbClr val="FFFFFF"/>
                </a:solidFill>
              </a:rPr>
              <a:t> DNS sur </a:t>
            </a:r>
            <a:r>
              <a:rPr sz="1000" dirty="0" err="1">
                <a:solidFill>
                  <a:srgbClr val="FFFFFF"/>
                </a:solidFill>
              </a:rPr>
              <a:t>pfSense</a:t>
            </a:r>
            <a:r>
              <a:rPr sz="1000" dirty="0">
                <a:solidFill>
                  <a:srgbClr val="FFFFFF"/>
                </a:solidFill>
              </a:rPr>
              <a:t> : www.intranet.fr est </a:t>
            </a:r>
            <a:r>
              <a:rPr sz="1000" dirty="0" err="1">
                <a:solidFill>
                  <a:srgbClr val="FFFFFF"/>
                </a:solidFill>
              </a:rPr>
              <a:t>redirigé</a:t>
            </a:r>
            <a:r>
              <a:rPr sz="1000" dirty="0">
                <a:solidFill>
                  <a:srgbClr val="FFFFFF"/>
                </a:solidFill>
              </a:rPr>
              <a:t> vers le </a:t>
            </a:r>
            <a:r>
              <a:rPr sz="1000" dirty="0" err="1">
                <a:solidFill>
                  <a:srgbClr val="FFFFFF"/>
                </a:solidFill>
              </a:rPr>
              <a:t>serveur</a:t>
            </a:r>
            <a:r>
              <a:rPr sz="1000" dirty="0">
                <a:solidFill>
                  <a:srgbClr val="FFFFFF"/>
                </a:solidFill>
              </a:rPr>
              <a:t> de </a:t>
            </a:r>
            <a:r>
              <a:rPr sz="1000" dirty="0" err="1">
                <a:solidFill>
                  <a:srgbClr val="FFFFFF"/>
                </a:solidFill>
              </a:rPr>
              <a:t>l'attaquant</a:t>
            </a:r>
            <a:r>
              <a:rPr sz="1000" dirty="0">
                <a:solidFill>
                  <a:srgbClr val="FFFFFF"/>
                </a:solidFill>
              </a:rPr>
              <a:t>.</a:t>
            </a:r>
          </a:p>
          <a:p>
            <a:pPr>
              <a:spcAft>
                <a:spcPts val="700"/>
              </a:spcAft>
            </a:pPr>
            <a:r>
              <a:rPr sz="1000" b="1" dirty="0">
                <a:solidFill>
                  <a:srgbClr val="E6B729"/>
                </a:solidFill>
              </a:rPr>
              <a:t>2.  </a:t>
            </a:r>
            <a:r>
              <a:rPr sz="1000" dirty="0">
                <a:solidFill>
                  <a:srgbClr val="FFFFFF"/>
                </a:solidFill>
              </a:rPr>
              <a:t>Le </a:t>
            </a:r>
            <a:r>
              <a:rPr sz="1000" dirty="0" err="1">
                <a:solidFill>
                  <a:srgbClr val="FFFFFF"/>
                </a:solidFill>
              </a:rPr>
              <a:t>serveur</a:t>
            </a:r>
            <a:r>
              <a:rPr sz="1000" dirty="0">
                <a:solidFill>
                  <a:srgbClr val="FFFFFF"/>
                </a:solidFill>
              </a:rPr>
              <a:t> </a:t>
            </a:r>
            <a:r>
              <a:rPr sz="1000" dirty="0" err="1">
                <a:solidFill>
                  <a:srgbClr val="FFFFFF"/>
                </a:solidFill>
              </a:rPr>
              <a:t>malveillant</a:t>
            </a:r>
            <a:r>
              <a:rPr sz="1000" dirty="0">
                <a:solidFill>
                  <a:srgbClr val="FFFFFF"/>
                </a:solidFill>
              </a:rPr>
              <a:t> (10.10.0.132) </a:t>
            </a:r>
            <a:r>
              <a:rPr sz="1000" dirty="0" err="1">
                <a:solidFill>
                  <a:srgbClr val="FFFFFF"/>
                </a:solidFill>
              </a:rPr>
              <a:t>héberge</a:t>
            </a:r>
            <a:r>
              <a:rPr sz="1000" dirty="0">
                <a:solidFill>
                  <a:srgbClr val="FFFFFF"/>
                </a:solidFill>
              </a:rPr>
              <a:t> un faux intranet et le </a:t>
            </a:r>
            <a:r>
              <a:rPr sz="1000" dirty="0" err="1">
                <a:solidFill>
                  <a:srgbClr val="FFFFFF"/>
                </a:solidFill>
              </a:rPr>
              <a:t>fichier</a:t>
            </a:r>
            <a:r>
              <a:rPr sz="1000" dirty="0">
                <a:solidFill>
                  <a:srgbClr val="FFFFFF"/>
                </a:solidFill>
              </a:rPr>
              <a:t> </a:t>
            </a:r>
            <a:r>
              <a:rPr sz="1000" dirty="0" err="1">
                <a:solidFill>
                  <a:srgbClr val="FFFFFF"/>
                </a:solidFill>
              </a:rPr>
              <a:t>piégé</a:t>
            </a:r>
            <a:r>
              <a:rPr sz="1000" dirty="0">
                <a:solidFill>
                  <a:srgbClr val="FFFFFF"/>
                </a:solidFill>
              </a:rPr>
              <a:t>.</a:t>
            </a:r>
          </a:p>
          <a:p>
            <a:pPr>
              <a:spcAft>
                <a:spcPts val="700"/>
              </a:spcAft>
            </a:pPr>
            <a:r>
              <a:rPr sz="1000" b="1" dirty="0">
                <a:solidFill>
                  <a:srgbClr val="E6B729"/>
                </a:solidFill>
              </a:rPr>
              <a:t>3.  </a:t>
            </a:r>
            <a:r>
              <a:rPr sz="1000" dirty="0">
                <a:solidFill>
                  <a:srgbClr val="FFFFFF"/>
                </a:solidFill>
              </a:rPr>
              <a:t>Bob </a:t>
            </a:r>
            <a:r>
              <a:rPr sz="1000" dirty="0" err="1">
                <a:solidFill>
                  <a:srgbClr val="FFFFFF"/>
                </a:solidFill>
              </a:rPr>
              <a:t>télécharge</a:t>
            </a:r>
            <a:r>
              <a:rPr sz="1000" dirty="0">
                <a:solidFill>
                  <a:srgbClr val="FFFFFF"/>
                </a:solidFill>
              </a:rPr>
              <a:t> le </a:t>
            </a:r>
            <a:r>
              <a:rPr sz="1000" dirty="0" err="1">
                <a:solidFill>
                  <a:srgbClr val="FFFFFF"/>
                </a:solidFill>
              </a:rPr>
              <a:t>fichier</a:t>
            </a:r>
            <a:r>
              <a:rPr sz="1000" dirty="0">
                <a:solidFill>
                  <a:srgbClr val="FFFFFF"/>
                </a:solidFill>
              </a:rPr>
              <a:t>, </a:t>
            </a:r>
            <a:r>
              <a:rPr sz="1000" dirty="0" err="1">
                <a:solidFill>
                  <a:srgbClr val="FFFFFF"/>
                </a:solidFill>
              </a:rPr>
              <a:t>croyant</a:t>
            </a:r>
            <a:r>
              <a:rPr sz="1000" dirty="0">
                <a:solidFill>
                  <a:srgbClr val="FFFFFF"/>
                </a:solidFill>
              </a:rPr>
              <a:t> </a:t>
            </a:r>
            <a:r>
              <a:rPr sz="1000" dirty="0" err="1">
                <a:solidFill>
                  <a:srgbClr val="FFFFFF"/>
                </a:solidFill>
              </a:rPr>
              <a:t>accéder</a:t>
            </a:r>
            <a:r>
              <a:rPr sz="1000" dirty="0">
                <a:solidFill>
                  <a:srgbClr val="FFFFFF"/>
                </a:solidFill>
              </a:rPr>
              <a:t> à </a:t>
            </a:r>
            <a:r>
              <a:rPr sz="1000" dirty="0" err="1">
                <a:solidFill>
                  <a:srgbClr val="FFFFFF"/>
                </a:solidFill>
              </a:rPr>
              <a:t>l'intranet</a:t>
            </a:r>
            <a:r>
              <a:rPr sz="1000" dirty="0">
                <a:solidFill>
                  <a:srgbClr val="FFFFFF"/>
                </a:solidFill>
              </a:rPr>
              <a:t> </a:t>
            </a:r>
            <a:r>
              <a:rPr sz="1000" dirty="0" err="1">
                <a:solidFill>
                  <a:srgbClr val="FFFFFF"/>
                </a:solidFill>
              </a:rPr>
              <a:t>légitime</a:t>
            </a:r>
            <a:r>
              <a:rPr sz="1000" dirty="0">
                <a:solidFill>
                  <a:srgbClr val="FFFFFF"/>
                </a:solidFill>
              </a:rPr>
              <a:t>.</a:t>
            </a:r>
          </a:p>
          <a:p>
            <a:pPr>
              <a:spcAft>
                <a:spcPts val="700"/>
              </a:spcAft>
            </a:pPr>
            <a:r>
              <a:rPr sz="1000" b="1" dirty="0">
                <a:solidFill>
                  <a:srgbClr val="E6B729"/>
                </a:solidFill>
              </a:rPr>
              <a:t>4.  </a:t>
            </a:r>
            <a:r>
              <a:rPr sz="1000" b="1" dirty="0">
                <a:solidFill>
                  <a:schemeClr val="tx1"/>
                </a:solidFill>
              </a:rPr>
              <a:t>updater.exe lance ncat.exe (</a:t>
            </a:r>
            <a:r>
              <a:rPr sz="1000" b="1" dirty="0" err="1">
                <a:solidFill>
                  <a:schemeClr val="tx1"/>
                </a:solidFill>
              </a:rPr>
              <a:t>accès</a:t>
            </a:r>
            <a:r>
              <a:rPr sz="1000" b="1" dirty="0">
                <a:solidFill>
                  <a:schemeClr val="tx1"/>
                </a:solidFill>
              </a:rPr>
              <a:t> distant, port TCP 42890) et </a:t>
            </a:r>
            <a:r>
              <a:rPr sz="1000" b="1" dirty="0" err="1">
                <a:solidFill>
                  <a:schemeClr val="tx1"/>
                </a:solidFill>
              </a:rPr>
              <a:t>s’appuie</a:t>
            </a:r>
            <a:r>
              <a:rPr sz="1000" b="1" dirty="0">
                <a:solidFill>
                  <a:schemeClr val="tx1"/>
                </a:solidFill>
              </a:rPr>
              <a:t> sur </a:t>
            </a:r>
            <a:r>
              <a:rPr sz="1000" b="1" dirty="0" err="1">
                <a:solidFill>
                  <a:schemeClr val="tx1"/>
                </a:solidFill>
              </a:rPr>
              <a:t>une</a:t>
            </a:r>
            <a:r>
              <a:rPr sz="1000" b="1" dirty="0">
                <a:solidFill>
                  <a:schemeClr val="tx1"/>
                </a:solidFill>
              </a:rPr>
              <a:t> </a:t>
            </a:r>
            <a:r>
              <a:rPr sz="1000" b="1" dirty="0" err="1">
                <a:solidFill>
                  <a:schemeClr val="tx1"/>
                </a:solidFill>
              </a:rPr>
              <a:t>valeur</a:t>
            </a:r>
            <a:r>
              <a:rPr sz="1000" b="1" dirty="0">
                <a:solidFill>
                  <a:schemeClr val="tx1"/>
                </a:solidFill>
              </a:rPr>
              <a:t> </a:t>
            </a:r>
            <a:r>
              <a:rPr sz="1000" b="1" dirty="0" err="1">
                <a:solidFill>
                  <a:schemeClr val="tx1"/>
                </a:solidFill>
              </a:rPr>
              <a:t>RunOnce</a:t>
            </a:r>
            <a:r>
              <a:rPr sz="1000" b="1" dirty="0">
                <a:solidFill>
                  <a:schemeClr val="tx1"/>
                </a:solidFill>
              </a:rPr>
              <a:t> pour </a:t>
            </a:r>
            <a:r>
              <a:rPr sz="1000" b="1" dirty="0" err="1">
                <a:solidFill>
                  <a:schemeClr val="tx1"/>
                </a:solidFill>
              </a:rPr>
              <a:t>être</a:t>
            </a:r>
            <a:r>
              <a:rPr sz="1000" b="1" dirty="0">
                <a:solidFill>
                  <a:schemeClr val="tx1"/>
                </a:solidFill>
              </a:rPr>
              <a:t> </a:t>
            </a:r>
            <a:r>
              <a:rPr sz="1000" b="1" dirty="0" err="1">
                <a:solidFill>
                  <a:schemeClr val="tx1"/>
                </a:solidFill>
              </a:rPr>
              <a:t>relancé</a:t>
            </a:r>
            <a:r>
              <a:rPr sz="1000" b="1" dirty="0">
                <a:solidFill>
                  <a:schemeClr val="tx1"/>
                </a:solidFill>
              </a:rPr>
              <a:t> à la </a:t>
            </a:r>
            <a:r>
              <a:rPr sz="1000" b="1" dirty="0" err="1">
                <a:solidFill>
                  <a:schemeClr val="tx1"/>
                </a:solidFill>
              </a:rPr>
              <a:t>prochaine</a:t>
            </a:r>
            <a:r>
              <a:rPr sz="1000" b="1" dirty="0">
                <a:solidFill>
                  <a:schemeClr val="tx1"/>
                </a:solidFill>
              </a:rPr>
              <a:t> ouverture de session</a:t>
            </a:r>
            <a:r>
              <a:rPr sz="1000" b="1" dirty="0">
                <a:solidFill>
                  <a:srgbClr val="E6B729"/>
                </a:solidFill>
              </a:rPr>
              <a:t>.</a:t>
            </a:r>
          </a:p>
          <a:p>
            <a:pPr>
              <a:spcAft>
                <a:spcPts val="700"/>
              </a:spcAft>
            </a:pPr>
            <a:r>
              <a:rPr sz="1000" b="1" dirty="0">
                <a:solidFill>
                  <a:srgbClr val="E6B729"/>
                </a:solidFill>
              </a:rPr>
              <a:t>5.  </a:t>
            </a:r>
            <a:r>
              <a:rPr sz="1000" dirty="0">
                <a:solidFill>
                  <a:srgbClr val="FFFFFF"/>
                </a:solidFill>
              </a:rPr>
              <a:t>Les artefacts (</a:t>
            </a:r>
            <a:r>
              <a:rPr sz="1000" dirty="0" err="1">
                <a:solidFill>
                  <a:srgbClr val="FFFFFF"/>
                </a:solidFill>
              </a:rPr>
              <a:t>mémoire</a:t>
            </a:r>
            <a:r>
              <a:rPr sz="1000" dirty="0">
                <a:solidFill>
                  <a:srgbClr val="FFFFFF"/>
                </a:solidFill>
              </a:rPr>
              <a:t>, </a:t>
            </a:r>
            <a:r>
              <a:rPr sz="1000" dirty="0" err="1">
                <a:solidFill>
                  <a:srgbClr val="FFFFFF"/>
                </a:solidFill>
              </a:rPr>
              <a:t>disque</a:t>
            </a:r>
            <a:r>
              <a:rPr sz="1000" dirty="0">
                <a:solidFill>
                  <a:srgbClr val="FFFFFF"/>
                </a:solidFill>
              </a:rPr>
              <a:t>, </a:t>
            </a:r>
            <a:r>
              <a:rPr sz="1000" dirty="0" err="1">
                <a:solidFill>
                  <a:srgbClr val="FFFFFF"/>
                </a:solidFill>
              </a:rPr>
              <a:t>registre</a:t>
            </a:r>
            <a:r>
              <a:rPr sz="1000" dirty="0">
                <a:solidFill>
                  <a:srgbClr val="FFFFFF"/>
                </a:solidFill>
              </a:rPr>
              <a:t>, réseau) </a:t>
            </a:r>
            <a:r>
              <a:rPr sz="1000" dirty="0" err="1">
                <a:solidFill>
                  <a:srgbClr val="FFFFFF"/>
                </a:solidFill>
              </a:rPr>
              <a:t>sont</a:t>
            </a:r>
            <a:r>
              <a:rPr sz="1000" dirty="0">
                <a:solidFill>
                  <a:srgbClr val="FFFFFF"/>
                </a:solidFill>
              </a:rPr>
              <a:t> extraits du poste de Bob.</a:t>
            </a:r>
          </a:p>
          <a:p>
            <a:pPr>
              <a:spcAft>
                <a:spcPts val="700"/>
              </a:spcAft>
            </a:pPr>
            <a:r>
              <a:rPr sz="1000" b="1" dirty="0">
                <a:solidFill>
                  <a:srgbClr val="E6B729"/>
                </a:solidFill>
              </a:rPr>
              <a:t>6.  </a:t>
            </a:r>
            <a:r>
              <a:rPr sz="1000" dirty="0" err="1">
                <a:solidFill>
                  <a:srgbClr val="FFFFFF"/>
                </a:solidFill>
              </a:rPr>
              <a:t>Analyse</a:t>
            </a:r>
            <a:r>
              <a:rPr sz="1000" dirty="0">
                <a:solidFill>
                  <a:srgbClr val="FFFFFF"/>
                </a:solidFill>
              </a:rPr>
              <a:t> forensic sous Kali Linux pour </a:t>
            </a:r>
            <a:r>
              <a:rPr sz="1000" dirty="0" err="1">
                <a:solidFill>
                  <a:srgbClr val="FFFFFF"/>
                </a:solidFill>
              </a:rPr>
              <a:t>corréler</a:t>
            </a:r>
            <a:r>
              <a:rPr sz="1000" dirty="0">
                <a:solidFill>
                  <a:srgbClr val="FFFFFF"/>
                </a:solidFill>
              </a:rPr>
              <a:t> les </a:t>
            </a:r>
            <a:r>
              <a:rPr sz="1000" dirty="0" err="1">
                <a:solidFill>
                  <a:srgbClr val="FFFFFF"/>
                </a:solidFill>
              </a:rPr>
              <a:t>preuves</a:t>
            </a:r>
            <a:r>
              <a:rPr sz="1000" dirty="0">
                <a:solidFill>
                  <a:srgbClr val="FFFFFF"/>
                </a:solidFill>
              </a:rPr>
              <a:t> et </a:t>
            </a:r>
            <a:r>
              <a:rPr sz="1000" dirty="0" err="1">
                <a:solidFill>
                  <a:srgbClr val="FFFFFF"/>
                </a:solidFill>
              </a:rPr>
              <a:t>reconstituer</a:t>
            </a:r>
            <a:r>
              <a:rPr sz="1000" dirty="0">
                <a:solidFill>
                  <a:srgbClr val="FFFFFF"/>
                </a:solidFill>
              </a:rPr>
              <a:t> </a:t>
            </a:r>
            <a:r>
              <a:rPr sz="1000" dirty="0" err="1">
                <a:solidFill>
                  <a:srgbClr val="FFFFFF"/>
                </a:solidFill>
              </a:rPr>
              <a:t>l'attaque</a:t>
            </a:r>
            <a:r>
              <a:rPr sz="1000" dirty="0">
                <a:solidFill>
                  <a:srgbClr val="FFFFFF"/>
                </a:solidFill>
              </a:rPr>
              <a:t>.</a:t>
            </a:r>
          </a:p>
          <a:p>
            <a:pPr>
              <a:spcBef>
                <a:spcPts val="200"/>
              </a:spcBef>
            </a:pPr>
            <a:r>
              <a:rPr sz="950" b="1" dirty="0">
                <a:solidFill>
                  <a:srgbClr val="54849A"/>
                </a:solidFill>
              </a:rPr>
              <a:t>■ Infrastructure réseau</a:t>
            </a:r>
          </a:p>
          <a:p>
            <a:r>
              <a:rPr sz="950" b="1" dirty="0">
                <a:solidFill>
                  <a:srgbClr val="B01513"/>
                </a:solidFill>
              </a:rPr>
              <a:t>■ </a:t>
            </a:r>
            <a:r>
              <a:rPr sz="950" b="1" dirty="0" err="1">
                <a:solidFill>
                  <a:srgbClr val="B01513"/>
                </a:solidFill>
              </a:rPr>
              <a:t>Attaquant</a:t>
            </a:r>
            <a:r>
              <a:rPr sz="950" b="1" dirty="0">
                <a:solidFill>
                  <a:srgbClr val="B01513"/>
                </a:solidFill>
              </a:rPr>
              <a:t> / infrastructure </a:t>
            </a:r>
            <a:r>
              <a:rPr sz="950" b="1" dirty="0" err="1">
                <a:solidFill>
                  <a:srgbClr val="B01513"/>
                </a:solidFill>
              </a:rPr>
              <a:t>malveillante</a:t>
            </a:r>
            <a:endParaRPr sz="950" b="1" dirty="0">
              <a:solidFill>
                <a:srgbClr val="B01513"/>
              </a:solidFill>
            </a:endParaRPr>
          </a:p>
          <a:p>
            <a:r>
              <a:rPr sz="950" b="1" dirty="0">
                <a:solidFill>
                  <a:srgbClr val="6AAC90"/>
                </a:solidFill>
              </a:rPr>
              <a:t>■ Environnement </a:t>
            </a:r>
            <a:r>
              <a:rPr sz="950" b="1" dirty="0" err="1">
                <a:solidFill>
                  <a:srgbClr val="6AAC90"/>
                </a:solidFill>
              </a:rPr>
              <a:t>d'analyse</a:t>
            </a:r>
            <a:r>
              <a:rPr sz="950" b="1" dirty="0">
                <a:solidFill>
                  <a:srgbClr val="6AAC90"/>
                </a:solidFill>
              </a:rPr>
              <a:t> forensic</a:t>
            </a:r>
          </a:p>
        </p:txBody>
      </p:sp>
      <p:pic>
        <p:nvPicPr>
          <p:cNvPr id="25" name="Image 24">
            <a:extLst>
              <a:ext uri="{FF2B5EF4-FFF2-40B4-BE49-F238E27FC236}">
                <a16:creationId xmlns:a16="http://schemas.microsoft.com/office/drawing/2014/main" id="{5E92C2E9-3C12-FC11-E653-872C2A23F2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0000" y="2153740"/>
            <a:ext cx="468425" cy="474508"/>
          </a:xfrm>
          <a:prstGeom prst="rect">
            <a:avLst/>
          </a:prstGeom>
        </p:spPr>
      </p:pic>
      <p:pic>
        <p:nvPicPr>
          <p:cNvPr id="27" name="Image 26">
            <a:extLst>
              <a:ext uri="{FF2B5EF4-FFF2-40B4-BE49-F238E27FC236}">
                <a16:creationId xmlns:a16="http://schemas.microsoft.com/office/drawing/2014/main" id="{F8DF4236-AC02-DC31-E3F3-4A892341EA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6400" y="4428365"/>
            <a:ext cx="388878" cy="534707"/>
          </a:xfrm>
          <a:prstGeom prst="rect">
            <a:avLst/>
          </a:prstGeom>
        </p:spPr>
      </p:pic>
      <p:pic>
        <p:nvPicPr>
          <p:cNvPr id="31" name="Image 30">
            <a:extLst>
              <a:ext uri="{FF2B5EF4-FFF2-40B4-BE49-F238E27FC236}">
                <a16:creationId xmlns:a16="http://schemas.microsoft.com/office/drawing/2014/main" id="{6D95EB21-F67B-17D4-A850-0EBD8ED52C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71468" y="4457608"/>
            <a:ext cx="510688" cy="464784"/>
          </a:xfrm>
          <a:prstGeom prst="rect">
            <a:avLst/>
          </a:prstGeom>
        </p:spPr>
      </p:pic>
      <p:pic>
        <p:nvPicPr>
          <p:cNvPr id="33" name="Image 32">
            <a:extLst>
              <a:ext uri="{FF2B5EF4-FFF2-40B4-BE49-F238E27FC236}">
                <a16:creationId xmlns:a16="http://schemas.microsoft.com/office/drawing/2014/main" id="{87D74C8E-1A18-3FF5-8B81-C51AB2193A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69657" y="6100000"/>
            <a:ext cx="510688" cy="464784"/>
          </a:xfrm>
          <a:prstGeom prst="rect">
            <a:avLst/>
          </a:prstGeom>
        </p:spPr>
      </p:pic>
      <p:sp>
        <p:nvSpPr>
          <p:cNvPr id="24" name="ZoneTexte 23">
            <a:extLst>
              <a:ext uri="{FF2B5EF4-FFF2-40B4-BE49-F238E27FC236}">
                <a16:creationId xmlns:a16="http://schemas.microsoft.com/office/drawing/2014/main" id="{948B176C-52B6-0100-23A0-00BC63851F61}"/>
              </a:ext>
            </a:extLst>
          </p:cNvPr>
          <p:cNvSpPr txBox="1"/>
          <p:nvPr/>
        </p:nvSpPr>
        <p:spPr>
          <a:xfrm>
            <a:off x="3775000" y="2272567"/>
            <a:ext cx="2547247" cy="2756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/>
              <a:t>Trace pfsense:admin@10.0.1.20 </a:t>
            </a:r>
          </a:p>
        </p:txBody>
      </p:sp>
    </p:spTree>
    <p:extLst>
      <p:ext uri="{BB962C8B-B14F-4D97-AF65-F5344CB8AC3E}">
        <p14:creationId xmlns:p14="http://schemas.microsoft.com/office/powerpoint/2010/main" val="23527329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8D2F372-6643-F695-C84A-DF156195E4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9DFF1E8A-CA54-C8CB-4BD5-272A5E98A4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2097163"/>
            <a:ext cx="8946541" cy="41954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Identifier l'accès distant</a:t>
            </a:r>
            <a:endParaRPr lang="en-US" sz="36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</a:t>
            </a:r>
            <a:r>
              <a:rPr lang="en-US" sz="3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l'attaquant</a:t>
            </a:r>
            <a:endParaRPr lang="en-US" sz="3600" b="1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lnSpc>
                <a:spcPct val="110000"/>
              </a:lnSpc>
              <a:buNone/>
            </a:pPr>
            <a:endParaRPr lang="en-US" sz="3400" dirty="0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6A91002C-9DFB-8266-4977-9F908863E003}"/>
              </a:ext>
            </a:extLst>
          </p:cNvPr>
          <p:cNvSpPr txBox="1"/>
          <p:nvPr/>
        </p:nvSpPr>
        <p:spPr>
          <a:xfrm>
            <a:off x="1103312" y="2368086"/>
            <a:ext cx="609845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0E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1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9481395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C812E1F-9F73-57F0-2E9D-78B79924B2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2800" dirty="0"/>
              <a:t>Les artefacts à analyser</a:t>
            </a:r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62B3E8B9-1A20-D15F-51A3-BD993475055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77382" y="1853248"/>
            <a:ext cx="8947150" cy="2302334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483EF3CE-51E1-14E3-1CDF-C510C2B8927E}"/>
              </a:ext>
            </a:extLst>
          </p:cNvPr>
          <p:cNvSpPr txBox="1"/>
          <p:nvPr/>
        </p:nvSpPr>
        <p:spPr>
          <a:xfrm>
            <a:off x="477382" y="4911213"/>
            <a:ext cx="867236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Ces artefacts seront analysés afin d’identifier le mécanisme d’accès distant, sa persistance et la méthode d’introduction du fichier malveillant sur la machine de Bob.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550000" y="1900000"/>
            <a:ext cx="1750000" cy="2100000"/>
          </a:xfrm>
          <a:prstGeom prst="roundRect">
            <a:avLst/>
          </a:prstGeom>
          <a:solidFill>
            <a:srgbClr val="153A3D"/>
          </a:solidFill>
          <a:ln w="25400">
            <a:solidFill>
              <a:srgbClr val="E6B7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101600" rIns="127000" bIns="101600" rtlCol="0" anchor="ctr"/>
          <a:lstStyle/>
          <a:p>
            <a:pPr algn="ctr">
              <a:spcAft>
                <a:spcPts val="400"/>
              </a:spcAft>
              <a:defRPr sz="1200" b="1">
                <a:solidFill>
                  <a:srgbClr val="E6B729"/>
                </a:solidFill>
              </a:defRPr>
            </a:pPr>
            <a:endParaRPr dirty="0"/>
          </a:p>
          <a:p>
            <a:pPr>
              <a:defRPr sz="1150">
                <a:solidFill>
                  <a:srgbClr val="FFFFFF"/>
                </a:solidFill>
              </a:defRPr>
            </a:pPr>
            <a:r>
              <a:rPr dirty="0"/>
              <a:t>8 artefacts collectés à corréler  : registre, réseau, pare-feu, processus.</a:t>
            </a:r>
          </a:p>
        </p:txBody>
      </p:sp>
    </p:spTree>
    <p:extLst>
      <p:ext uri="{BB962C8B-B14F-4D97-AF65-F5344CB8AC3E}">
        <p14:creationId xmlns:p14="http://schemas.microsoft.com/office/powerpoint/2010/main" val="12591760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B8070DB-2A2D-086F-B05A-14AA9D48C6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055" y="452718"/>
            <a:ext cx="11545889" cy="1346585"/>
          </a:xfrm>
        </p:spPr>
        <p:txBody>
          <a:bodyPr/>
          <a:lstStyle/>
          <a:p>
            <a:r>
              <a:rPr lang="fr-FR" sz="2800" dirty="0"/>
              <a:t>Transfert des artefacts vers la machine d’analyse Kali Linux</a:t>
            </a:r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07954887-3E46-4807-6EE5-DCD2A098356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46111" y="1988294"/>
            <a:ext cx="5449889" cy="3403430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D14B5B15-2EB3-532C-392E-100909F6F5FC}"/>
              </a:ext>
            </a:extLst>
          </p:cNvPr>
          <p:cNvSpPr txBox="1"/>
          <p:nvPr/>
        </p:nvSpPr>
        <p:spPr>
          <a:xfrm>
            <a:off x="646111" y="5785850"/>
            <a:ext cx="9674942" cy="6636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Configuration d’un dossier partagé VMware permettant de transférer les artefacts depuis la machine hôte vers la VM Kali Linux dédiée à l’analyse </a:t>
            </a:r>
            <a:r>
              <a:rPr lang="fr-FR" dirty="0" err="1"/>
              <a:t>forensic</a:t>
            </a:r>
            <a:r>
              <a:rPr lang="fr-FR" dirty="0"/>
              <a:t>.</a:t>
            </a:r>
          </a:p>
        </p:txBody>
      </p:sp>
      <p:cxnSp>
        <p:nvCxnSpPr>
          <p:cNvPr id="4" name="Connecteur droit avec flèche 3">
            <a:extLst>
              <a:ext uri="{FF2B5EF4-FFF2-40B4-BE49-F238E27FC236}">
                <a16:creationId xmlns:a16="http://schemas.microsoft.com/office/drawing/2014/main" id="{77D99143-5E87-0F5D-D5D1-4190D82A8490}"/>
              </a:ext>
            </a:extLst>
          </p:cNvPr>
          <p:cNvCxnSpPr>
            <a:cxnSpLocks/>
          </p:cNvCxnSpPr>
          <p:nvPr/>
        </p:nvCxnSpPr>
        <p:spPr>
          <a:xfrm flipV="1">
            <a:off x="5842001" y="3650000"/>
            <a:ext cx="1517444" cy="3320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ZoneTexte 9">
            <a:extLst>
              <a:ext uri="{FF2B5EF4-FFF2-40B4-BE49-F238E27FC236}">
                <a16:creationId xmlns:a16="http://schemas.microsoft.com/office/drawing/2014/main" id="{6C41BCA5-0AB7-FB50-3069-3F03BE5E0675}"/>
              </a:ext>
            </a:extLst>
          </p:cNvPr>
          <p:cNvSpPr txBox="1"/>
          <p:nvPr/>
        </p:nvSpPr>
        <p:spPr>
          <a:xfrm>
            <a:off x="7462684" y="3215148"/>
            <a:ext cx="405580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Dossier partagé entre la machine hôte et la machine virtuelle</a:t>
            </a:r>
          </a:p>
        </p:txBody>
      </p:sp>
    </p:spTree>
    <p:extLst>
      <p:ext uri="{BB962C8B-B14F-4D97-AF65-F5344CB8AC3E}">
        <p14:creationId xmlns:p14="http://schemas.microsoft.com/office/powerpoint/2010/main" val="29569078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656D580-3C25-37BA-173B-3C5FBCA92E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2800" dirty="0"/>
              <a:t>Montage et accès au dossier partagé sous Kali Linux</a:t>
            </a:r>
          </a:p>
        </p:txBody>
      </p:sp>
      <p:sp>
        <p:nvSpPr>
          <p:cNvPr id="7" name="Espace réservé du contenu 6">
            <a:extLst>
              <a:ext uri="{FF2B5EF4-FFF2-40B4-BE49-F238E27FC236}">
                <a16:creationId xmlns:a16="http://schemas.microsoft.com/office/drawing/2014/main" id="{06422CF1-19C5-A690-9930-72B1D02F21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27586" y="1853248"/>
            <a:ext cx="6941627" cy="4195481"/>
          </a:xfrm>
        </p:spPr>
        <p:txBody>
          <a:bodyPr/>
          <a:lstStyle/>
          <a:p>
            <a:r>
              <a:rPr lang="fr-FR" dirty="0"/>
              <a:t>4 étapes clés : détecter le partage → créer le point de montage → monter → accéder aux artefacts</a:t>
            </a: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01E609A3-832D-1A55-C587-DDBF0B46B0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111" y="1853248"/>
            <a:ext cx="4181475" cy="4048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64909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18416A3-17A8-E12F-1780-4BB14DA875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6834" y="157750"/>
            <a:ext cx="9404723" cy="1258095"/>
          </a:xfrm>
        </p:spPr>
        <p:txBody>
          <a:bodyPr/>
          <a:lstStyle/>
          <a:p>
            <a:r>
              <a:rPr lang="fr-FR" dirty="0"/>
              <a:t>Vérification de l’intégrité des artefacts</a:t>
            </a:r>
          </a:p>
        </p:txBody>
      </p:sp>
      <p:pic>
        <p:nvPicPr>
          <p:cNvPr id="13" name="Espace réservé du contenu 12">
            <a:extLst>
              <a:ext uri="{FF2B5EF4-FFF2-40B4-BE49-F238E27FC236}">
                <a16:creationId xmlns:a16="http://schemas.microsoft.com/office/drawing/2014/main" id="{5794FE85-D27B-1462-9F9D-B496D5138E6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98628" y="1720405"/>
            <a:ext cx="6123400" cy="4195762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E1E88FE9-AD6D-39ED-D3E3-53C2ADD0444E}"/>
              </a:ext>
            </a:extLst>
          </p:cNvPr>
          <p:cNvSpPr/>
          <p:nvPr/>
        </p:nvSpPr>
        <p:spPr>
          <a:xfrm>
            <a:off x="721144" y="1828800"/>
            <a:ext cx="4027835" cy="54409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cxnSp>
        <p:nvCxnSpPr>
          <p:cNvPr id="21" name="Connecteur droit avec flèche 20">
            <a:extLst>
              <a:ext uri="{FF2B5EF4-FFF2-40B4-BE49-F238E27FC236}">
                <a16:creationId xmlns:a16="http://schemas.microsoft.com/office/drawing/2014/main" id="{C2346CBA-5F99-0998-36B7-1605CD668D2A}"/>
              </a:ext>
            </a:extLst>
          </p:cNvPr>
          <p:cNvCxnSpPr>
            <a:cxnSpLocks/>
          </p:cNvCxnSpPr>
          <p:nvPr/>
        </p:nvCxnSpPr>
        <p:spPr>
          <a:xfrm flipH="1">
            <a:off x="4971495" y="1828800"/>
            <a:ext cx="2471528" cy="1106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BD5C4715-B794-3A8B-08E6-C7959FE16FA4}"/>
              </a:ext>
            </a:extLst>
          </p:cNvPr>
          <p:cNvSpPr/>
          <p:nvPr/>
        </p:nvSpPr>
        <p:spPr>
          <a:xfrm>
            <a:off x="513375" y="2371340"/>
            <a:ext cx="5975915" cy="79956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cxnSp>
        <p:nvCxnSpPr>
          <p:cNvPr id="24" name="Connecteur droit avec flèche 23">
            <a:extLst>
              <a:ext uri="{FF2B5EF4-FFF2-40B4-BE49-F238E27FC236}">
                <a16:creationId xmlns:a16="http://schemas.microsoft.com/office/drawing/2014/main" id="{98F296FB-C731-F847-8776-1DEFD2FC8CC9}"/>
              </a:ext>
            </a:extLst>
          </p:cNvPr>
          <p:cNvCxnSpPr>
            <a:cxnSpLocks/>
          </p:cNvCxnSpPr>
          <p:nvPr/>
        </p:nvCxnSpPr>
        <p:spPr>
          <a:xfrm flipH="1">
            <a:off x="6504037" y="2822740"/>
            <a:ext cx="129786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ZoneTexte 27">
            <a:extLst>
              <a:ext uri="{FF2B5EF4-FFF2-40B4-BE49-F238E27FC236}">
                <a16:creationId xmlns:a16="http://schemas.microsoft.com/office/drawing/2014/main" id="{BB1FA193-E7A5-67C7-3B32-BC1090565C2F}"/>
              </a:ext>
            </a:extLst>
          </p:cNvPr>
          <p:cNvSpPr txBox="1"/>
          <p:nvPr/>
        </p:nvSpPr>
        <p:spPr>
          <a:xfrm>
            <a:off x="7728155" y="1720405"/>
            <a:ext cx="37427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Accéder au dossier</a:t>
            </a:r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9A9F6239-4F56-C4E7-F362-9C45E29BBAD9}"/>
              </a:ext>
            </a:extLst>
          </p:cNvPr>
          <p:cNvSpPr txBox="1"/>
          <p:nvPr/>
        </p:nvSpPr>
        <p:spPr>
          <a:xfrm>
            <a:off x="8185355" y="2477479"/>
            <a:ext cx="32855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Calcul des empreintes  avec l’algorithme SHA-256</a:t>
            </a:r>
          </a:p>
        </p:txBody>
      </p:sp>
    </p:spTree>
    <p:extLst>
      <p:ext uri="{BB962C8B-B14F-4D97-AF65-F5344CB8AC3E}">
        <p14:creationId xmlns:p14="http://schemas.microsoft.com/office/powerpoint/2010/main" val="9851547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EDA16E5-F04B-3889-1EB8-9A9F30DDA3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2800" dirty="0"/>
              <a:t>Recherche des processus</a:t>
            </a:r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C3CA04B6-1025-955B-F302-A6CFDED22E0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83879" y="3178313"/>
            <a:ext cx="6334125" cy="1076325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6726CF36-2E00-3C24-A315-A7FE3C1D1FB3}"/>
              </a:ext>
            </a:extLst>
          </p:cNvPr>
          <p:cNvSpPr txBox="1"/>
          <p:nvPr/>
        </p:nvSpPr>
        <p:spPr>
          <a:xfrm>
            <a:off x="646109" y="2600196"/>
            <a:ext cx="56315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Identification des processus à analyser 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1981C2C0-4F5C-B969-A425-39B1E44C5C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6110" y="1629628"/>
            <a:ext cx="6379815" cy="538381"/>
          </a:xfrm>
          <a:prstGeom prst="rect">
            <a:avLst/>
          </a:prstGeom>
        </p:spPr>
      </p:pic>
      <p:pic>
        <p:nvPicPr>
          <p:cNvPr id="14" name="Image 13">
            <a:extLst>
              <a:ext uri="{FF2B5EF4-FFF2-40B4-BE49-F238E27FC236}">
                <a16:creationId xmlns:a16="http://schemas.microsoft.com/office/drawing/2014/main" id="{45EA0CCD-9FC2-A4DD-A16A-19DA9DACB27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3878" y="4463423"/>
            <a:ext cx="6334125" cy="1328768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56974F29-1B51-3FE9-5567-3B9CE1994A2A}"/>
              </a:ext>
            </a:extLst>
          </p:cNvPr>
          <p:cNvSpPr/>
          <p:nvPr/>
        </p:nvSpPr>
        <p:spPr>
          <a:xfrm>
            <a:off x="483878" y="4682011"/>
            <a:ext cx="2040129" cy="16799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34DC211-582B-C7A2-DD02-C09743BFE44D}"/>
              </a:ext>
            </a:extLst>
          </p:cNvPr>
          <p:cNvSpPr/>
          <p:nvPr/>
        </p:nvSpPr>
        <p:spPr>
          <a:xfrm>
            <a:off x="483877" y="4984594"/>
            <a:ext cx="2040129" cy="16799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F4E2EE58-54AC-6ABE-2F5F-CFA3074A3FDE}"/>
              </a:ext>
            </a:extLst>
          </p:cNvPr>
          <p:cNvSpPr txBox="1"/>
          <p:nvPr/>
        </p:nvSpPr>
        <p:spPr>
          <a:xfrm>
            <a:off x="7270955" y="5287177"/>
            <a:ext cx="433337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Outil permettant d’établir des connexions et de transférer des données.</a:t>
            </a:r>
          </a:p>
        </p:txBody>
      </p:sp>
      <p:cxnSp>
        <p:nvCxnSpPr>
          <p:cNvPr id="24" name="Connecteur droit avec flèche 23">
            <a:extLst>
              <a:ext uri="{FF2B5EF4-FFF2-40B4-BE49-F238E27FC236}">
                <a16:creationId xmlns:a16="http://schemas.microsoft.com/office/drawing/2014/main" id="{001C1EED-B6DC-5E99-2C1C-73DC0B7FDF0C}"/>
              </a:ext>
            </a:extLst>
          </p:cNvPr>
          <p:cNvCxnSpPr>
            <a:endCxn id="18" idx="3"/>
          </p:cNvCxnSpPr>
          <p:nvPr/>
        </p:nvCxnSpPr>
        <p:spPr>
          <a:xfrm flipH="1" flipV="1">
            <a:off x="2524006" y="5068589"/>
            <a:ext cx="4746949" cy="6095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necteur droit avec flèche 25">
            <a:extLst>
              <a:ext uri="{FF2B5EF4-FFF2-40B4-BE49-F238E27FC236}">
                <a16:creationId xmlns:a16="http://schemas.microsoft.com/office/drawing/2014/main" id="{DEE9649E-A769-D78B-1C48-499CAA06E36D}"/>
              </a:ext>
            </a:extLst>
          </p:cNvPr>
          <p:cNvCxnSpPr>
            <a:cxnSpLocks/>
            <a:endCxn id="16" idx="3"/>
          </p:cNvCxnSpPr>
          <p:nvPr/>
        </p:nvCxnSpPr>
        <p:spPr>
          <a:xfrm flipH="1">
            <a:off x="2524007" y="4689992"/>
            <a:ext cx="5130406" cy="760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ZoneTexte 27">
            <a:extLst>
              <a:ext uri="{FF2B5EF4-FFF2-40B4-BE49-F238E27FC236}">
                <a16:creationId xmlns:a16="http://schemas.microsoft.com/office/drawing/2014/main" id="{AEC5BFA4-2EEF-4D0D-1F6C-3BC7DE5A37F5}"/>
              </a:ext>
            </a:extLst>
          </p:cNvPr>
          <p:cNvSpPr txBox="1"/>
          <p:nvPr/>
        </p:nvSpPr>
        <p:spPr>
          <a:xfrm>
            <a:off x="7654413" y="4338263"/>
            <a:ext cx="31556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Nom évoquant un programme de mise à jour </a:t>
            </a:r>
          </a:p>
        </p:txBody>
      </p:sp>
    </p:spTree>
    <p:extLst>
      <p:ext uri="{BB962C8B-B14F-4D97-AF65-F5344CB8AC3E}">
        <p14:creationId xmlns:p14="http://schemas.microsoft.com/office/powerpoint/2010/main" val="10595210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F058EBA-CDC8-2767-F4B0-BF46F28E24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2800" dirty="0"/>
              <a:t>Relations parent-enfant entre les processus</a:t>
            </a:r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EC51A627-06D0-EDE2-A637-B9FECBE608D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516194" y="3220924"/>
            <a:ext cx="4791075" cy="933450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A7A9F74D-9921-A446-0381-0C30C462289C}"/>
              </a:ext>
            </a:extLst>
          </p:cNvPr>
          <p:cNvSpPr txBox="1"/>
          <p:nvPr/>
        </p:nvSpPr>
        <p:spPr>
          <a:xfrm>
            <a:off x="646111" y="1765975"/>
            <a:ext cx="62923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Analyse de la relation parent-enfant des processus</a:t>
            </a:r>
          </a:p>
        </p:txBody>
      </p:sp>
      <p:cxnSp>
        <p:nvCxnSpPr>
          <p:cNvPr id="4" name="Connecteur droit avec flèche 3">
            <a:extLst>
              <a:ext uri="{FF2B5EF4-FFF2-40B4-BE49-F238E27FC236}">
                <a16:creationId xmlns:a16="http://schemas.microsoft.com/office/drawing/2014/main" id="{E06A4E35-53CE-D1CC-0C22-E87FED181B27}"/>
              </a:ext>
            </a:extLst>
          </p:cNvPr>
          <p:cNvCxnSpPr>
            <a:cxnSpLocks/>
          </p:cNvCxnSpPr>
          <p:nvPr/>
        </p:nvCxnSpPr>
        <p:spPr>
          <a:xfrm>
            <a:off x="1371600" y="4011561"/>
            <a:ext cx="0" cy="10766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cteur droit avec flèche 10">
            <a:extLst>
              <a:ext uri="{FF2B5EF4-FFF2-40B4-BE49-F238E27FC236}">
                <a16:creationId xmlns:a16="http://schemas.microsoft.com/office/drawing/2014/main" id="{8F23A656-EC94-87B8-B97A-3388B09DE909}"/>
              </a:ext>
            </a:extLst>
          </p:cNvPr>
          <p:cNvCxnSpPr>
            <a:cxnSpLocks/>
          </p:cNvCxnSpPr>
          <p:nvPr/>
        </p:nvCxnSpPr>
        <p:spPr>
          <a:xfrm>
            <a:off x="2610464" y="4154374"/>
            <a:ext cx="0" cy="9334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ZoneTexte 11">
            <a:extLst>
              <a:ext uri="{FF2B5EF4-FFF2-40B4-BE49-F238E27FC236}">
                <a16:creationId xmlns:a16="http://schemas.microsoft.com/office/drawing/2014/main" id="{07D2897E-2C99-CCCA-0AC7-EDA997B34E9F}"/>
              </a:ext>
            </a:extLst>
          </p:cNvPr>
          <p:cNvSpPr txBox="1"/>
          <p:nvPr/>
        </p:nvSpPr>
        <p:spPr>
          <a:xfrm>
            <a:off x="221228" y="5088194"/>
            <a:ext cx="218274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Processus enfant</a:t>
            </a:r>
          </a:p>
          <a:p>
            <a:r>
              <a:rPr lang="fr-FR" dirty="0"/>
              <a:t>Ncat.exe</a:t>
            </a:r>
          </a:p>
          <a:p>
            <a:endParaRPr lang="fr-FR" dirty="0"/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172E7825-6CF5-8563-FC77-C20D57DC13DD}"/>
              </a:ext>
            </a:extLst>
          </p:cNvPr>
          <p:cNvSpPr txBox="1"/>
          <p:nvPr/>
        </p:nvSpPr>
        <p:spPr>
          <a:xfrm>
            <a:off x="2403968" y="5087824"/>
            <a:ext cx="26842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Processus Parent: </a:t>
            </a:r>
          </a:p>
          <a:p>
            <a:r>
              <a:rPr lang="fr-FR" dirty="0"/>
              <a:t>Updater.exe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7E9A153-8847-4972-37A7-A4ACBD36936F}"/>
              </a:ext>
            </a:extLst>
          </p:cNvPr>
          <p:cNvSpPr/>
          <p:nvPr/>
        </p:nvSpPr>
        <p:spPr>
          <a:xfrm>
            <a:off x="1119352" y="3831021"/>
            <a:ext cx="551793" cy="18054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1BF88CC-1D6B-5237-DFDB-EF9CD2DDA3CC}"/>
              </a:ext>
            </a:extLst>
          </p:cNvPr>
          <p:cNvSpPr/>
          <p:nvPr/>
        </p:nvSpPr>
        <p:spPr>
          <a:xfrm>
            <a:off x="2274303" y="3831021"/>
            <a:ext cx="551793" cy="18054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975197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AF6F931-DBDE-3FEA-592B-155F8D3399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355" y="409604"/>
            <a:ext cx="10364451" cy="1596177"/>
          </a:xfrm>
        </p:spPr>
        <p:txBody>
          <a:bodyPr/>
          <a:lstStyle/>
          <a:p>
            <a:br>
              <a:rPr lang="fr-FR" dirty="0"/>
            </a:br>
            <a:endParaRPr lang="fr-FR" dirty="0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28FB136D-1D8E-4E88-A9A1-CF552A54EDE0}"/>
              </a:ext>
            </a:extLst>
          </p:cNvPr>
          <p:cNvSpPr txBox="1"/>
          <p:nvPr/>
        </p:nvSpPr>
        <p:spPr>
          <a:xfrm>
            <a:off x="2256503" y="465247"/>
            <a:ext cx="85540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/>
              <a:t>Trouver le port utilisé par Ncat</a:t>
            </a:r>
          </a:p>
        </p:txBody>
      </p:sp>
      <p:pic>
        <p:nvPicPr>
          <p:cNvPr id="8" name="Espace réservé du contenu 7">
            <a:extLst>
              <a:ext uri="{FF2B5EF4-FFF2-40B4-BE49-F238E27FC236}">
                <a16:creationId xmlns:a16="http://schemas.microsoft.com/office/drawing/2014/main" id="{2C9AFF73-1701-8F14-F9C0-680C15F1472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792418" y="2359742"/>
            <a:ext cx="6029325" cy="8382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A6C4D5B7-D07B-CED6-9E34-B5620DE717B4}"/>
              </a:ext>
            </a:extLst>
          </p:cNvPr>
          <p:cNvSpPr/>
          <p:nvPr/>
        </p:nvSpPr>
        <p:spPr>
          <a:xfrm>
            <a:off x="5222455" y="2507080"/>
            <a:ext cx="873545" cy="50413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079751A-B6F5-6FF5-7F8F-F4A72B1A2096}"/>
              </a:ext>
            </a:extLst>
          </p:cNvPr>
          <p:cNvSpPr/>
          <p:nvPr/>
        </p:nvSpPr>
        <p:spPr>
          <a:xfrm>
            <a:off x="1387366" y="2359742"/>
            <a:ext cx="394137" cy="14733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80883E-4566-B173-E3B3-D85AC790D1D2}"/>
              </a:ext>
            </a:extLst>
          </p:cNvPr>
          <p:cNvSpPr/>
          <p:nvPr/>
        </p:nvSpPr>
        <p:spPr>
          <a:xfrm>
            <a:off x="3428077" y="2507080"/>
            <a:ext cx="873545" cy="14733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cxnSp>
        <p:nvCxnSpPr>
          <p:cNvPr id="14" name="Connecteur droit avec flèche 13">
            <a:extLst>
              <a:ext uri="{FF2B5EF4-FFF2-40B4-BE49-F238E27FC236}">
                <a16:creationId xmlns:a16="http://schemas.microsoft.com/office/drawing/2014/main" id="{2EBDC165-E700-1683-C120-E7D5B9B53028}"/>
              </a:ext>
            </a:extLst>
          </p:cNvPr>
          <p:cNvCxnSpPr>
            <a:cxnSpLocks/>
            <a:stCxn id="10" idx="0"/>
          </p:cNvCxnSpPr>
          <p:nvPr/>
        </p:nvCxnSpPr>
        <p:spPr>
          <a:xfrm flipH="1" flipV="1">
            <a:off x="1554345" y="1677965"/>
            <a:ext cx="30090" cy="6817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ZoneTexte 15">
            <a:extLst>
              <a:ext uri="{FF2B5EF4-FFF2-40B4-BE49-F238E27FC236}">
                <a16:creationId xmlns:a16="http://schemas.microsoft.com/office/drawing/2014/main" id="{FA507BD7-E03C-DE9D-9BEA-7BE738F9C06E}"/>
              </a:ext>
            </a:extLst>
          </p:cNvPr>
          <p:cNvSpPr txBox="1"/>
          <p:nvPr/>
        </p:nvSpPr>
        <p:spPr>
          <a:xfrm>
            <a:off x="792418" y="1343179"/>
            <a:ext cx="12413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Processus</a:t>
            </a:r>
          </a:p>
        </p:txBody>
      </p:sp>
      <p:cxnSp>
        <p:nvCxnSpPr>
          <p:cNvPr id="18" name="Connecteur droit avec flèche 17">
            <a:extLst>
              <a:ext uri="{FF2B5EF4-FFF2-40B4-BE49-F238E27FC236}">
                <a16:creationId xmlns:a16="http://schemas.microsoft.com/office/drawing/2014/main" id="{6FBF7687-04E1-7D90-9905-A5C05C9D9F72}"/>
              </a:ext>
            </a:extLst>
          </p:cNvPr>
          <p:cNvCxnSpPr>
            <a:cxnSpLocks/>
          </p:cNvCxnSpPr>
          <p:nvPr/>
        </p:nvCxnSpPr>
        <p:spPr>
          <a:xfrm flipV="1">
            <a:off x="3988676" y="1900000"/>
            <a:ext cx="0" cy="6070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ZoneTexte 19">
            <a:extLst>
              <a:ext uri="{FF2B5EF4-FFF2-40B4-BE49-F238E27FC236}">
                <a16:creationId xmlns:a16="http://schemas.microsoft.com/office/drawing/2014/main" id="{1A68C70B-3902-A42D-EBCF-BA9B9113CBE9}"/>
              </a:ext>
            </a:extLst>
          </p:cNvPr>
          <p:cNvSpPr txBox="1"/>
          <p:nvPr/>
        </p:nvSpPr>
        <p:spPr>
          <a:xfrm>
            <a:off x="3428077" y="1335494"/>
            <a:ext cx="22403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Écoute sur toutes les interfaces IPv4</a:t>
            </a:r>
          </a:p>
        </p:txBody>
      </p:sp>
      <p:cxnSp>
        <p:nvCxnSpPr>
          <p:cNvPr id="23" name="Connecteur droit avec flèche 22">
            <a:extLst>
              <a:ext uri="{FF2B5EF4-FFF2-40B4-BE49-F238E27FC236}">
                <a16:creationId xmlns:a16="http://schemas.microsoft.com/office/drawing/2014/main" id="{9A6C6C21-319A-A04F-2B21-628643542D05}"/>
              </a:ext>
            </a:extLst>
          </p:cNvPr>
          <p:cNvCxnSpPr>
            <a:cxnSpLocks/>
          </p:cNvCxnSpPr>
          <p:nvPr/>
        </p:nvCxnSpPr>
        <p:spPr>
          <a:xfrm>
            <a:off x="5896303" y="3011214"/>
            <a:ext cx="40855" cy="13085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ZoneTexte 24">
            <a:extLst>
              <a:ext uri="{FF2B5EF4-FFF2-40B4-BE49-F238E27FC236}">
                <a16:creationId xmlns:a16="http://schemas.microsoft.com/office/drawing/2014/main" id="{3DC46C7E-007E-554A-C5B5-7591EB47408B}"/>
              </a:ext>
            </a:extLst>
          </p:cNvPr>
          <p:cNvSpPr txBox="1"/>
          <p:nvPr/>
        </p:nvSpPr>
        <p:spPr>
          <a:xfrm>
            <a:off x="5092262" y="4367048"/>
            <a:ext cx="42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Attend les connexions entrantes </a:t>
            </a:r>
          </a:p>
        </p:txBody>
      </p:sp>
    </p:spTree>
    <p:extLst>
      <p:ext uri="{BB962C8B-B14F-4D97-AF65-F5344CB8AC3E}">
        <p14:creationId xmlns:p14="http://schemas.microsoft.com/office/powerpoint/2010/main" val="3841856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A612B79-EE71-F986-D6C9-63FFD4DBD0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2800" dirty="0"/>
              <a:t>Vérifier que le pare-feu autorise </a:t>
            </a:r>
            <a:r>
              <a:rPr lang="fr-FR" sz="2800" dirty="0" err="1"/>
              <a:t>Ncat</a:t>
            </a:r>
            <a:endParaRPr lang="fr-FR" sz="2800" dirty="0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9C162C2B-D9EB-6A8D-7714-4C36B1FA2B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156" y="2661930"/>
            <a:ext cx="4580296" cy="2924343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EB28849E-F485-E81C-535E-B653C415F8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6111" y="1271727"/>
            <a:ext cx="3952875" cy="381000"/>
          </a:xfrm>
          <a:prstGeom prst="rect">
            <a:avLst/>
          </a:prstGeom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208D1B37-F4EB-D271-40D2-338499FD0210}"/>
              </a:ext>
            </a:extLst>
          </p:cNvPr>
          <p:cNvSpPr txBox="1"/>
          <p:nvPr/>
        </p:nvSpPr>
        <p:spPr>
          <a:xfrm>
            <a:off x="7179491" y="1243138"/>
            <a:ext cx="370184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Recherche des règles du pare-feu concernant </a:t>
            </a:r>
            <a:r>
              <a:rPr lang="fr-FR" dirty="0" err="1"/>
              <a:t>Ncat</a:t>
            </a:r>
            <a:endParaRPr lang="fr-FR" dirty="0"/>
          </a:p>
        </p:txBody>
      </p:sp>
      <p:cxnSp>
        <p:nvCxnSpPr>
          <p:cNvPr id="12" name="Connecteur droit avec flèche 11">
            <a:extLst>
              <a:ext uri="{FF2B5EF4-FFF2-40B4-BE49-F238E27FC236}">
                <a16:creationId xmlns:a16="http://schemas.microsoft.com/office/drawing/2014/main" id="{94AF32ED-6A23-D914-A349-7C2171CF2FEE}"/>
              </a:ext>
            </a:extLst>
          </p:cNvPr>
          <p:cNvCxnSpPr>
            <a:cxnSpLocks/>
          </p:cNvCxnSpPr>
          <p:nvPr/>
        </p:nvCxnSpPr>
        <p:spPr>
          <a:xfrm flipH="1">
            <a:off x="4070248" y="1490115"/>
            <a:ext cx="3038475" cy="64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ZoneTexte 13">
            <a:extLst>
              <a:ext uri="{FF2B5EF4-FFF2-40B4-BE49-F238E27FC236}">
                <a16:creationId xmlns:a16="http://schemas.microsoft.com/office/drawing/2014/main" id="{2A1AED57-9246-EC99-68BD-57119B8DB5DA}"/>
              </a:ext>
            </a:extLst>
          </p:cNvPr>
          <p:cNvSpPr txBox="1"/>
          <p:nvPr/>
        </p:nvSpPr>
        <p:spPr>
          <a:xfrm>
            <a:off x="484206" y="2071636"/>
            <a:ext cx="42766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Règle du pare-feu autorisant </a:t>
            </a:r>
            <a:r>
              <a:rPr lang="fr-FR" dirty="0" err="1"/>
              <a:t>Ncat</a:t>
            </a:r>
            <a:endParaRPr lang="fr-FR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EB9028A-9D22-0406-D63A-E2B3E9F41E55}"/>
              </a:ext>
            </a:extLst>
          </p:cNvPr>
          <p:cNvSpPr/>
          <p:nvPr/>
        </p:nvSpPr>
        <p:spPr>
          <a:xfrm>
            <a:off x="434156" y="3937818"/>
            <a:ext cx="3370927" cy="57518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cxnSp>
        <p:nvCxnSpPr>
          <p:cNvPr id="18" name="Connecteur droit avec flèche 17">
            <a:extLst>
              <a:ext uri="{FF2B5EF4-FFF2-40B4-BE49-F238E27FC236}">
                <a16:creationId xmlns:a16="http://schemas.microsoft.com/office/drawing/2014/main" id="{09D29E19-761B-F831-B2AB-FEE8BA45D98E}"/>
              </a:ext>
            </a:extLst>
          </p:cNvPr>
          <p:cNvCxnSpPr>
            <a:cxnSpLocks/>
            <a:endCxn id="16" idx="3"/>
          </p:cNvCxnSpPr>
          <p:nvPr/>
        </p:nvCxnSpPr>
        <p:spPr>
          <a:xfrm flipH="1">
            <a:off x="3805083" y="3937818"/>
            <a:ext cx="3908323" cy="2875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ZoneTexte 20">
            <a:extLst>
              <a:ext uri="{FF2B5EF4-FFF2-40B4-BE49-F238E27FC236}">
                <a16:creationId xmlns:a16="http://schemas.microsoft.com/office/drawing/2014/main" id="{3F1973CD-2554-80C0-C1CD-3400CE155818}"/>
              </a:ext>
            </a:extLst>
          </p:cNvPr>
          <p:cNvSpPr txBox="1"/>
          <p:nvPr/>
        </p:nvSpPr>
        <p:spPr>
          <a:xfrm>
            <a:off x="7831394" y="2788953"/>
            <a:ext cx="3539612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fr-FR" b="1"/>
              <a:t>Enabled : True</a:t>
            </a:r>
            <a:r>
              <a:rPr lang="fr-FR"/>
              <a:t> → règle activée.</a:t>
            </a:r>
          </a:p>
          <a:p>
            <a:pPr lvl="0"/>
            <a:r>
              <a:rPr lang="fr-FR" b="1"/>
              <a:t>Direction : Inbound</a:t>
            </a:r>
            <a:r>
              <a:rPr lang="fr-FR"/>
              <a:t> → connexions entrantes.</a:t>
            </a:r>
          </a:p>
          <a:p>
            <a:pPr lvl="0"/>
            <a:r>
              <a:rPr lang="fr-FR" b="1"/>
              <a:t>Action : Allow</a:t>
            </a:r>
            <a:r>
              <a:rPr lang="fr-FR"/>
              <a:t> → connexions autorisées.</a:t>
            </a:r>
          </a:p>
          <a:p>
            <a:pPr lvl="0"/>
            <a:r>
              <a:rPr lang="fr-FR" b="1"/>
              <a:t>Profile : Private</a:t>
            </a:r>
            <a:r>
              <a:rPr lang="fr-FR"/>
              <a:t> → règle applicable au profil réseau privé.</a:t>
            </a:r>
          </a:p>
        </p:txBody>
      </p:sp>
    </p:spTree>
    <p:extLst>
      <p:ext uri="{BB962C8B-B14F-4D97-AF65-F5344CB8AC3E}">
        <p14:creationId xmlns:p14="http://schemas.microsoft.com/office/powerpoint/2010/main" val="22680221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D2DDA94-2DE6-B7F5-7381-BC6BA8A62B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2800" dirty="0"/>
              <a:t>Reconstitution de l’accès distant</a:t>
            </a:r>
          </a:p>
        </p:txBody>
      </p:sp>
      <p:sp>
        <p:nvSpPr>
          <p:cNvPr id="3" name="Oval 2"/>
          <p:cNvSpPr/>
          <p:nvPr/>
        </p:nvSpPr>
        <p:spPr>
          <a:xfrm>
            <a:off x="1372088" y="2050000"/>
            <a:ext cx="560000" cy="560000"/>
          </a:xfrm>
          <a:prstGeom prst="ellipse">
            <a:avLst/>
          </a:prstGeom>
          <a:solidFill>
            <a:srgbClr val="54849A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6111" y="2790000"/>
            <a:ext cx="2011955" cy="1650000"/>
          </a:xfrm>
          <a:prstGeom prst="roundRect">
            <a:avLst/>
          </a:prstGeom>
          <a:solidFill>
            <a:srgbClr val="153A3D"/>
          </a:solidFill>
          <a:ln w="12700">
            <a:solidFill>
              <a:srgbClr val="5484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8900" tIns="101600" rIns="88900" bIns="101600" rtlCol="0" anchor="ctr"/>
          <a:lstStyle/>
          <a:p>
            <a:pPr algn="ctr">
              <a:spcAft>
                <a:spcPts val="600"/>
              </a:spcAft>
              <a:defRPr sz="1300" b="1">
                <a:solidFill>
                  <a:srgbClr val="FFFFFF"/>
                </a:solidFill>
              </a:defRPr>
            </a:pPr>
            <a:r>
              <a:t>Processus suspect</a:t>
            </a:r>
          </a:p>
          <a:p>
            <a:pPr algn="ctr">
              <a:defRPr sz="1100">
                <a:solidFill>
                  <a:srgbClr val="FFFFFF"/>
                </a:solidFill>
              </a:defRPr>
            </a:pPr>
            <a:r>
              <a:t>updater.exe identifié en cours d'exécution</a:t>
            </a:r>
          </a:p>
        </p:txBody>
      </p:sp>
      <p:sp>
        <p:nvSpPr>
          <p:cNvPr id="5" name="Oval 4"/>
          <p:cNvSpPr/>
          <p:nvPr/>
        </p:nvSpPr>
        <p:spPr>
          <a:xfrm>
            <a:off x="3594044" y="2050000"/>
            <a:ext cx="560000" cy="560000"/>
          </a:xfrm>
          <a:prstGeom prst="ellipse">
            <a:avLst/>
          </a:prstGeom>
          <a:solidFill>
            <a:srgbClr val="54849A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868066" y="2790000"/>
            <a:ext cx="2011955" cy="1650000"/>
          </a:xfrm>
          <a:prstGeom prst="roundRect">
            <a:avLst/>
          </a:prstGeom>
          <a:solidFill>
            <a:srgbClr val="153A3D"/>
          </a:solidFill>
          <a:ln w="12700">
            <a:solidFill>
              <a:srgbClr val="5484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8900" tIns="101600" rIns="88900" bIns="101600" rtlCol="0" anchor="ctr"/>
          <a:lstStyle/>
          <a:p>
            <a:pPr algn="ctr">
              <a:spcAft>
                <a:spcPts val="600"/>
              </a:spcAft>
              <a:defRPr sz="1300" b="1">
                <a:solidFill>
                  <a:srgbClr val="FFFFFF"/>
                </a:solidFill>
              </a:defRPr>
            </a:pPr>
            <a:r>
              <a:t>Filiation confirmée</a:t>
            </a:r>
          </a:p>
          <a:p>
            <a:pPr algn="ctr">
              <a:defRPr sz="1100">
                <a:solidFill>
                  <a:srgbClr val="FFFFFF"/>
                </a:solidFill>
              </a:defRPr>
            </a:pPr>
            <a:r>
              <a:t>updater.exe lance ncat.exe</a:t>
            </a:r>
          </a:p>
        </p:txBody>
      </p:sp>
      <p:sp>
        <p:nvSpPr>
          <p:cNvPr id="7" name="Oval 6"/>
          <p:cNvSpPr/>
          <p:nvPr/>
        </p:nvSpPr>
        <p:spPr>
          <a:xfrm>
            <a:off x="5816000" y="2050000"/>
            <a:ext cx="560000" cy="560000"/>
          </a:xfrm>
          <a:prstGeom prst="ellipse">
            <a:avLst/>
          </a:prstGeom>
          <a:solidFill>
            <a:srgbClr val="54849A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90022" y="2790000"/>
            <a:ext cx="2011955" cy="1650000"/>
          </a:xfrm>
          <a:prstGeom prst="roundRect">
            <a:avLst/>
          </a:prstGeom>
          <a:solidFill>
            <a:srgbClr val="153A3D"/>
          </a:solidFill>
          <a:ln w="12700">
            <a:solidFill>
              <a:srgbClr val="5484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8900" tIns="101600" rIns="88900" bIns="101600" rtlCol="0" anchor="ctr"/>
          <a:lstStyle/>
          <a:p>
            <a:pPr algn="ctr">
              <a:spcAft>
                <a:spcPts val="600"/>
              </a:spcAft>
              <a:defRPr sz="1300" b="1">
                <a:solidFill>
                  <a:srgbClr val="FFFFFF"/>
                </a:solidFill>
              </a:defRPr>
            </a:pPr>
            <a:r>
              <a:t>Port ouvert</a:t>
            </a:r>
          </a:p>
          <a:p>
            <a:pPr algn="ctr">
              <a:defRPr sz="1100">
                <a:solidFill>
                  <a:srgbClr val="FFFFFF"/>
                </a:solidFill>
              </a:defRPr>
            </a:pPr>
            <a:r>
              <a:t>Ncat écoute sur le port TCP/42890</a:t>
            </a:r>
          </a:p>
        </p:txBody>
      </p:sp>
      <p:sp>
        <p:nvSpPr>
          <p:cNvPr id="9" name="Oval 8"/>
          <p:cNvSpPr/>
          <p:nvPr/>
        </p:nvSpPr>
        <p:spPr>
          <a:xfrm>
            <a:off x="8037955" y="2050000"/>
            <a:ext cx="560000" cy="560000"/>
          </a:xfrm>
          <a:prstGeom prst="ellipse">
            <a:avLst/>
          </a:prstGeom>
          <a:solidFill>
            <a:srgbClr val="54849A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1977" y="2790000"/>
            <a:ext cx="2011955" cy="1650000"/>
          </a:xfrm>
          <a:prstGeom prst="roundRect">
            <a:avLst/>
          </a:prstGeom>
          <a:solidFill>
            <a:srgbClr val="153A3D"/>
          </a:solidFill>
          <a:ln w="12700">
            <a:solidFill>
              <a:srgbClr val="5484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8900" tIns="101600" rIns="88900" bIns="101600" rtlCol="0" anchor="ctr"/>
          <a:lstStyle/>
          <a:p>
            <a:pPr algn="ctr">
              <a:spcAft>
                <a:spcPts val="600"/>
              </a:spcAft>
              <a:defRPr sz="1300" b="1">
                <a:solidFill>
                  <a:srgbClr val="FFFFFF"/>
                </a:solidFill>
              </a:defRPr>
            </a:pPr>
            <a:r>
              <a:t>Règle pare-feu</a:t>
            </a:r>
          </a:p>
          <a:p>
            <a:pPr algn="ctr">
              <a:defRPr sz="1100">
                <a:solidFill>
                  <a:srgbClr val="FFFFFF"/>
                </a:solidFill>
              </a:defRPr>
            </a:pPr>
            <a:r>
              <a:t>Ncat.exe explicitement autorisé</a:t>
            </a:r>
          </a:p>
        </p:txBody>
      </p:sp>
      <p:sp>
        <p:nvSpPr>
          <p:cNvPr id="11" name="Oval 10"/>
          <p:cNvSpPr/>
          <p:nvPr/>
        </p:nvSpPr>
        <p:spPr>
          <a:xfrm>
            <a:off x="10259911" y="2050000"/>
            <a:ext cx="560000" cy="560000"/>
          </a:xfrm>
          <a:prstGeom prst="ellipse">
            <a:avLst/>
          </a:prstGeom>
          <a:solidFill>
            <a:srgbClr val="54849A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533933" y="2790000"/>
            <a:ext cx="2011955" cy="1650000"/>
          </a:xfrm>
          <a:prstGeom prst="roundRect">
            <a:avLst/>
          </a:prstGeom>
          <a:solidFill>
            <a:srgbClr val="153A3D"/>
          </a:solidFill>
          <a:ln w="12700">
            <a:solidFill>
              <a:srgbClr val="5484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8900" tIns="101600" rIns="88900" bIns="101600" rtlCol="0" anchor="ctr"/>
          <a:lstStyle/>
          <a:p>
            <a:pPr algn="ctr">
              <a:spcAft>
                <a:spcPts val="600"/>
              </a:spcAft>
              <a:defRPr sz="1300" b="1">
                <a:solidFill>
                  <a:srgbClr val="FFFFFF"/>
                </a:solidFill>
              </a:defRPr>
            </a:pPr>
            <a:r>
              <a:t>Accès distant</a:t>
            </a:r>
          </a:p>
          <a:p>
            <a:pPr algn="ctr">
              <a:defRPr sz="1100">
                <a:solidFill>
                  <a:srgbClr val="FFFFFF"/>
                </a:solidFill>
              </a:defRPr>
            </a:pPr>
            <a:r>
              <a:t>Canal disponible via Ncat sur TCP/42890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932088" y="2330000"/>
            <a:ext cx="1661956" cy="0"/>
          </a:xfrm>
          <a:prstGeom prst="line">
            <a:avLst/>
          </a:prstGeom>
          <a:ln w="22225">
            <a:solidFill>
              <a:srgbClr val="FFFFF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4154044" y="2330000"/>
            <a:ext cx="1661956" cy="0"/>
          </a:xfrm>
          <a:prstGeom prst="line">
            <a:avLst/>
          </a:prstGeom>
          <a:ln w="22225">
            <a:solidFill>
              <a:srgbClr val="FFFFF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6376000" y="2330000"/>
            <a:ext cx="1661955" cy="0"/>
          </a:xfrm>
          <a:prstGeom prst="line">
            <a:avLst/>
          </a:prstGeom>
          <a:ln w="22225">
            <a:solidFill>
              <a:srgbClr val="FFFFF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8597955" y="2330000"/>
            <a:ext cx="1661956" cy="0"/>
          </a:xfrm>
          <a:prstGeom prst="line">
            <a:avLst/>
          </a:prstGeom>
          <a:ln w="22225">
            <a:solidFill>
              <a:srgbClr val="FFFFF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46111" y="4790000"/>
            <a:ext cx="1089977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1">
                <a:solidFill>
                  <a:srgbClr val="54849A"/>
                </a:solidFill>
              </a:defRPr>
            </a:pPr>
            <a:r>
              <a:rPr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9061559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77B7B65-878B-9A44-ABF9-D24674E683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90015254-CBCE-71F5-C5A0-DC8394B0495F}"/>
              </a:ext>
            </a:extLst>
          </p:cNvPr>
          <p:cNvSpPr txBox="1"/>
          <p:nvPr/>
        </p:nvSpPr>
        <p:spPr>
          <a:xfrm>
            <a:off x="914400" y="2766293"/>
            <a:ext cx="609845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0E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2</a:t>
            </a:r>
            <a:endParaRPr lang="en-US" sz="1400" dirty="0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E24CE585-7EB4-CBA9-8365-6D5AB296F7B1}"/>
              </a:ext>
            </a:extLst>
          </p:cNvPr>
          <p:cNvSpPr txBox="1"/>
          <p:nvPr/>
        </p:nvSpPr>
        <p:spPr>
          <a:xfrm>
            <a:off x="914400" y="3554361"/>
            <a:ext cx="7728155" cy="15881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0000"/>
              </a:lnSpc>
            </a:pPr>
            <a:r>
              <a:rPr lang="en-US" sz="3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Déterminer</a:t>
            </a: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le </a:t>
            </a:r>
            <a:r>
              <a:rPr lang="en-US" sz="3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mécanisme</a:t>
            </a:r>
            <a:endParaRPr lang="en-US" sz="3600" dirty="0"/>
          </a:p>
          <a:p>
            <a:pPr>
              <a:lnSpc>
                <a:spcPct val="110000"/>
              </a:lnSpc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</a:t>
            </a:r>
            <a:r>
              <a:rPr lang="en-US" sz="3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persistance</a:t>
            </a:r>
            <a:endParaRPr lang="en-US" sz="3600" dirty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5772542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13F7AB4-5679-64EA-DA93-149CAE9927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2800" dirty="0"/>
              <a:t>Recherche du mécanisme de persistance</a:t>
            </a:r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049286EC-E44B-2751-2848-87DB72E047A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46111" y="2706193"/>
            <a:ext cx="8947150" cy="3617973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AF9F8274-8F73-E29E-4F59-5DC76110B5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6111" y="2239911"/>
            <a:ext cx="3686175" cy="3429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10304496" y="2797000"/>
            <a:ext cx="1550000" cy="3550000"/>
          </a:xfrm>
          <a:prstGeom prst="roundRect">
            <a:avLst/>
          </a:prstGeom>
          <a:solidFill>
            <a:srgbClr val="153A3D"/>
          </a:solidFill>
          <a:ln w="25400">
            <a:solidFill>
              <a:srgbClr val="B015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101600" rIns="127000" bIns="101600" rtlCol="0" anchor="ctr"/>
          <a:lstStyle/>
          <a:p>
            <a:pPr>
              <a:defRPr sz="1150">
                <a:solidFill>
                  <a:srgbClr val="FFFFFF"/>
                </a:solidFill>
              </a:defRPr>
            </a:pPr>
            <a:r>
              <a:rPr dirty="0"/>
              <a:t>Clé RunOnce « Updater » → updater.exe relancé à la prochaine ouverture de session : mécanisme de relance ponctuelle.</a:t>
            </a:r>
          </a:p>
        </p:txBody>
      </p:sp>
      <p:cxnSp>
        <p:nvCxnSpPr>
          <p:cNvPr id="9" name="Connecteur droit avec flèche 8">
            <a:extLst>
              <a:ext uri="{FF2B5EF4-FFF2-40B4-BE49-F238E27FC236}">
                <a16:creationId xmlns:a16="http://schemas.microsoft.com/office/drawing/2014/main" id="{8CEF15B6-23E8-462F-46A6-17A2B685908A}"/>
              </a:ext>
            </a:extLst>
          </p:cNvPr>
          <p:cNvCxnSpPr>
            <a:cxnSpLocks/>
            <a:endCxn id="7" idx="3"/>
          </p:cNvCxnSpPr>
          <p:nvPr/>
        </p:nvCxnSpPr>
        <p:spPr>
          <a:xfrm flipH="1">
            <a:off x="4332286" y="2411361"/>
            <a:ext cx="139059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ZoneTexte 10">
            <a:extLst>
              <a:ext uri="{FF2B5EF4-FFF2-40B4-BE49-F238E27FC236}">
                <a16:creationId xmlns:a16="http://schemas.microsoft.com/office/drawing/2014/main" id="{ECA34F8F-4901-DE23-5B2D-549B8F4C8E3A}"/>
              </a:ext>
            </a:extLst>
          </p:cNvPr>
          <p:cNvSpPr txBox="1"/>
          <p:nvPr/>
        </p:nvSpPr>
        <p:spPr>
          <a:xfrm>
            <a:off x="5798216" y="2059862"/>
            <a:ext cx="4123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Recherche de updater.exe dans le registre</a:t>
            </a:r>
            <a:endParaRPr lang="fr-FR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E114167-B699-E9FE-AAA3-3CB2846FC1C6}"/>
              </a:ext>
            </a:extLst>
          </p:cNvPr>
          <p:cNvSpPr/>
          <p:nvPr/>
        </p:nvSpPr>
        <p:spPr>
          <a:xfrm>
            <a:off x="646111" y="4572000"/>
            <a:ext cx="8947150" cy="45720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cxnSp>
        <p:nvCxnSpPr>
          <p:cNvPr id="15" name="Connecteur droit avec flèche 14">
            <a:extLst>
              <a:ext uri="{FF2B5EF4-FFF2-40B4-BE49-F238E27FC236}">
                <a16:creationId xmlns:a16="http://schemas.microsoft.com/office/drawing/2014/main" id="{5C633F28-5826-6080-86B8-18DC85F561DC}"/>
              </a:ext>
            </a:extLst>
          </p:cNvPr>
          <p:cNvCxnSpPr>
            <a:endCxn id="13" idx="3"/>
          </p:cNvCxnSpPr>
          <p:nvPr/>
        </p:nvCxnSpPr>
        <p:spPr>
          <a:xfrm flipH="1" flipV="1">
            <a:off x="9593261" y="4800601"/>
            <a:ext cx="748918" cy="2286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4296662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B2DC4B1-FBCC-4638-E6D9-310DB09EAB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Reconstitution</a:t>
            </a:r>
            <a:r>
              <a:rPr lang="fr-FR" dirty="0"/>
              <a:t> de la persistance de l’incident</a:t>
            </a:r>
          </a:p>
        </p:txBody>
      </p:sp>
      <p:sp>
        <p:nvSpPr>
          <p:cNvPr id="3" name="Oval 2"/>
          <p:cNvSpPr/>
          <p:nvPr/>
        </p:nvSpPr>
        <p:spPr>
          <a:xfrm>
            <a:off x="1372088" y="2050000"/>
            <a:ext cx="560000" cy="560000"/>
          </a:xfrm>
          <a:prstGeom prst="ellipse">
            <a:avLst/>
          </a:prstGeom>
          <a:solidFill>
            <a:srgbClr val="6AAC9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6111" y="2790000"/>
            <a:ext cx="2011955" cy="1650000"/>
          </a:xfrm>
          <a:prstGeom prst="roundRect">
            <a:avLst/>
          </a:prstGeom>
          <a:solidFill>
            <a:srgbClr val="153A3D"/>
          </a:solidFill>
          <a:ln w="12700">
            <a:solidFill>
              <a:srgbClr val="6AAC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8900" tIns="101600" rIns="88900" bIns="101600" rtlCol="0" anchor="ctr"/>
          <a:lstStyle/>
          <a:p>
            <a:pPr algn="ctr">
              <a:spcAft>
                <a:spcPts val="600"/>
              </a:spcAft>
              <a:defRPr sz="1300" b="1">
                <a:solidFill>
                  <a:srgbClr val="FFFFFF"/>
                </a:solidFill>
              </a:defRPr>
            </a:pPr>
            <a:r>
              <a:t>Clé RunOnce</a:t>
            </a:r>
          </a:p>
          <a:p>
            <a:pPr algn="ctr">
              <a:defRPr sz="1100">
                <a:solidFill>
                  <a:srgbClr val="FFFFFF"/>
                </a:solidFill>
              </a:defRPr>
            </a:pPr>
            <a:r>
              <a:t>Détectée dans HKCU\...\RunOnce</a:t>
            </a:r>
          </a:p>
        </p:txBody>
      </p:sp>
      <p:sp>
        <p:nvSpPr>
          <p:cNvPr id="5" name="Oval 4"/>
          <p:cNvSpPr/>
          <p:nvPr/>
        </p:nvSpPr>
        <p:spPr>
          <a:xfrm>
            <a:off x="3594044" y="2050000"/>
            <a:ext cx="560000" cy="560000"/>
          </a:xfrm>
          <a:prstGeom prst="ellipse">
            <a:avLst/>
          </a:prstGeom>
          <a:solidFill>
            <a:srgbClr val="6AAC9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868066" y="2790000"/>
            <a:ext cx="2011955" cy="1650000"/>
          </a:xfrm>
          <a:prstGeom prst="roundRect">
            <a:avLst/>
          </a:prstGeom>
          <a:solidFill>
            <a:srgbClr val="153A3D"/>
          </a:solidFill>
          <a:ln w="12700">
            <a:solidFill>
              <a:srgbClr val="6AAC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8900" tIns="101600" rIns="88900" bIns="101600" rtlCol="0" anchor="ctr"/>
          <a:lstStyle/>
          <a:p>
            <a:pPr algn="ctr">
              <a:spcAft>
                <a:spcPts val="600"/>
              </a:spcAft>
              <a:defRPr sz="1300" b="1">
                <a:solidFill>
                  <a:srgbClr val="FFFFFF"/>
                </a:solidFill>
              </a:defRPr>
            </a:pPr>
            <a:r>
              <a:t>Valeur malveillante</a:t>
            </a:r>
          </a:p>
          <a:p>
            <a:pPr algn="ctr">
              <a:defRPr sz="1100">
                <a:solidFill>
                  <a:srgbClr val="FFFFFF"/>
                </a:solidFill>
              </a:defRPr>
            </a:pPr>
            <a:r>
              <a:t>« updater » pointe vers updater.exe</a:t>
            </a:r>
          </a:p>
        </p:txBody>
      </p:sp>
      <p:sp>
        <p:nvSpPr>
          <p:cNvPr id="7" name="Oval 6"/>
          <p:cNvSpPr/>
          <p:nvPr/>
        </p:nvSpPr>
        <p:spPr>
          <a:xfrm>
            <a:off x="5816000" y="2050000"/>
            <a:ext cx="560000" cy="560000"/>
          </a:xfrm>
          <a:prstGeom prst="ellipse">
            <a:avLst/>
          </a:prstGeom>
          <a:solidFill>
            <a:srgbClr val="6AAC9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90022" y="2790000"/>
            <a:ext cx="2011955" cy="1650000"/>
          </a:xfrm>
          <a:prstGeom prst="roundRect">
            <a:avLst/>
          </a:prstGeom>
          <a:solidFill>
            <a:srgbClr val="153A3D"/>
          </a:solidFill>
          <a:ln w="12700">
            <a:solidFill>
              <a:srgbClr val="6AAC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8900" tIns="101600" rIns="88900" bIns="101600" rtlCol="0" anchor="ctr"/>
          <a:lstStyle/>
          <a:p>
            <a:pPr algn="ctr">
              <a:spcAft>
                <a:spcPts val="600"/>
              </a:spcAft>
              <a:defRPr sz="1300" b="1">
                <a:solidFill>
                  <a:srgbClr val="FFFFFF"/>
                </a:solidFill>
              </a:defRPr>
            </a:pPr>
            <a:r>
              <a:t>Déclenchement</a:t>
            </a:r>
          </a:p>
          <a:p>
            <a:pPr algn="ctr">
              <a:defRPr sz="1100">
                <a:solidFill>
                  <a:srgbClr val="FFFFFF"/>
                </a:solidFill>
              </a:defRPr>
            </a:pPr>
            <a:r>
              <a:t>Exécution à la prochaine ouverture de session</a:t>
            </a:r>
          </a:p>
        </p:txBody>
      </p:sp>
      <p:sp>
        <p:nvSpPr>
          <p:cNvPr id="9" name="Oval 8"/>
          <p:cNvSpPr/>
          <p:nvPr/>
        </p:nvSpPr>
        <p:spPr>
          <a:xfrm>
            <a:off x="8037955" y="2050000"/>
            <a:ext cx="560000" cy="560000"/>
          </a:xfrm>
          <a:prstGeom prst="ellipse">
            <a:avLst/>
          </a:prstGeom>
          <a:solidFill>
            <a:srgbClr val="6AAC9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1977" y="2790000"/>
            <a:ext cx="2011955" cy="1650000"/>
          </a:xfrm>
          <a:prstGeom prst="roundRect">
            <a:avLst/>
          </a:prstGeom>
          <a:solidFill>
            <a:srgbClr val="153A3D"/>
          </a:solidFill>
          <a:ln w="12700">
            <a:solidFill>
              <a:srgbClr val="6AAC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8900" tIns="101600" rIns="88900" bIns="101600" rtlCol="0" anchor="ctr"/>
          <a:lstStyle/>
          <a:p>
            <a:pPr algn="ctr">
              <a:spcAft>
                <a:spcPts val="600"/>
              </a:spcAft>
              <a:defRPr sz="1300" b="1">
                <a:solidFill>
                  <a:srgbClr val="FFFFFF"/>
                </a:solidFill>
              </a:defRPr>
            </a:pPr>
            <a:r>
              <a:t>Discrétion</a:t>
            </a:r>
          </a:p>
          <a:p>
            <a:pPr algn="ctr">
              <a:defRPr sz="1100">
                <a:solidFill>
                  <a:srgbClr val="FFFFFF"/>
                </a:solidFill>
              </a:defRPr>
            </a:pPr>
            <a:r>
              <a:t>La clé s'auto-supprime après exécution</a:t>
            </a:r>
          </a:p>
        </p:txBody>
      </p:sp>
      <p:sp>
        <p:nvSpPr>
          <p:cNvPr id="11" name="Oval 10"/>
          <p:cNvSpPr/>
          <p:nvPr/>
        </p:nvSpPr>
        <p:spPr>
          <a:xfrm>
            <a:off x="10259911" y="2050000"/>
            <a:ext cx="560000" cy="560000"/>
          </a:xfrm>
          <a:prstGeom prst="ellipse">
            <a:avLst/>
          </a:prstGeom>
          <a:solidFill>
            <a:srgbClr val="6AAC9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533933" y="2790000"/>
            <a:ext cx="2011955" cy="1650000"/>
          </a:xfrm>
          <a:prstGeom prst="roundRect">
            <a:avLst/>
          </a:prstGeom>
          <a:solidFill>
            <a:srgbClr val="153A3D"/>
          </a:solidFill>
          <a:ln w="12700">
            <a:solidFill>
              <a:srgbClr val="6AAC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8900" tIns="101600" rIns="88900" bIns="101600" rtlCol="0" anchor="ctr"/>
          <a:lstStyle/>
          <a:p>
            <a:pPr algn="ctr">
              <a:spcAft>
                <a:spcPts val="600"/>
              </a:spcAft>
              <a:defRPr sz="1300" b="1">
                <a:solidFill>
                  <a:srgbClr val="FFFFFF"/>
                </a:solidFill>
              </a:defRPr>
            </a:pPr>
            <a:r>
              <a:t>Relance ponctuelle</a:t>
            </a:r>
          </a:p>
          <a:p>
            <a:pPr algn="ctr">
              <a:defRPr sz="1100">
                <a:solidFill>
                  <a:srgbClr val="FFFFFF"/>
                </a:solidFill>
              </a:defRPr>
            </a:pPr>
            <a:r>
              <a:t>RunOnce exécute updater.exe une fois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932088" y="2330000"/>
            <a:ext cx="1661956" cy="0"/>
          </a:xfrm>
          <a:prstGeom prst="line">
            <a:avLst/>
          </a:prstGeom>
          <a:ln w="22225">
            <a:solidFill>
              <a:srgbClr val="FFFFF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4154044" y="2330000"/>
            <a:ext cx="1661956" cy="0"/>
          </a:xfrm>
          <a:prstGeom prst="line">
            <a:avLst/>
          </a:prstGeom>
          <a:ln w="22225">
            <a:solidFill>
              <a:srgbClr val="FFFFF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6376000" y="2330000"/>
            <a:ext cx="1661955" cy="0"/>
          </a:xfrm>
          <a:prstGeom prst="line">
            <a:avLst/>
          </a:prstGeom>
          <a:ln w="22225">
            <a:solidFill>
              <a:srgbClr val="FFFFF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8597955" y="2330000"/>
            <a:ext cx="1661956" cy="0"/>
          </a:xfrm>
          <a:prstGeom prst="line">
            <a:avLst/>
          </a:prstGeom>
          <a:ln w="22225">
            <a:solidFill>
              <a:srgbClr val="FFFFF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9189512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286AEB0-E7DA-05BE-219D-E9DDC95C6A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77E0E17-EEDD-3C7E-8F14-2F58B7025C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6111" y="2669458"/>
            <a:ext cx="8946541" cy="35901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500" b="1" kern="0" spc="300" dirty="0">
                <a:solidFill>
                  <a:srgbClr val="0E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3</a:t>
            </a:r>
            <a:endParaRPr lang="en-US" sz="1500" dirty="0"/>
          </a:p>
          <a:p>
            <a:pPr marL="0" indent="0">
              <a:buNone/>
            </a:pPr>
            <a:endParaRPr lang="fr-FR" dirty="0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97914537-0505-8796-90EA-EB04A90B06E1}"/>
              </a:ext>
            </a:extLst>
          </p:cNvPr>
          <p:cNvSpPr txBox="1"/>
          <p:nvPr/>
        </p:nvSpPr>
        <p:spPr>
          <a:xfrm>
            <a:off x="1047135" y="3746090"/>
            <a:ext cx="9114504" cy="911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0000"/>
              </a:lnSpc>
            </a:pPr>
            <a:r>
              <a:rPr lang="en-US" sz="3200" dirty="0" err="1">
                <a:solidFill>
                  <a:srgbClr val="FFFFFF"/>
                </a:solidFill>
                <a:latin typeface="Calibri" panose="020F0502020204030204" pitchFamily="34" charset="0"/>
                <a:ea typeface="Calibri" pitchFamily="34" charset="-122"/>
                <a:cs typeface="Calibri" panose="020F0502020204030204" pitchFamily="34" charset="0"/>
              </a:rPr>
              <a:t>Reconstitution de l’infection initiale</a:t>
            </a:r>
            <a:endParaRPr lang="en-US" sz="3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fr-FR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89339698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0F47650-203D-0E5E-5D09-9AE9E403C0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Recherche du fichier malveillant</a:t>
            </a:r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B60534C4-9A80-10D4-4800-BE6476AEA70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46111" y="3429000"/>
            <a:ext cx="6076950" cy="2095500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999925A4-2244-ADE5-93EF-A772AC683F20}"/>
              </a:ext>
            </a:extLst>
          </p:cNvPr>
          <p:cNvSpPr txBox="1"/>
          <p:nvPr/>
        </p:nvSpPr>
        <p:spPr>
          <a:xfrm>
            <a:off x="752168" y="1853248"/>
            <a:ext cx="57518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>
                <a:latin typeface="Calibri" panose="020F0502020204030204" pitchFamily="34" charset="0"/>
                <a:cs typeface="Calibri" panose="020F0502020204030204" pitchFamily="34" charset="0"/>
              </a:rPr>
              <a:t>Recherche du fichier téléchargé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558799" y="4574500"/>
            <a:ext cx="4150000" cy="1900000"/>
          </a:xfrm>
          <a:prstGeom prst="roundRect">
            <a:avLst/>
          </a:prstGeom>
          <a:solidFill>
            <a:srgbClr val="153A3D"/>
          </a:solidFill>
          <a:ln w="25400">
            <a:solidFill>
              <a:srgbClr val="E6B7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101600" rIns="127000" bIns="101600" rtlCol="0" anchor="ctr"/>
          <a:lstStyle/>
          <a:p>
            <a:pPr>
              <a:defRPr sz="1150">
                <a:solidFill>
                  <a:srgbClr val="FFFFFF"/>
                </a:solidFill>
              </a:defRPr>
            </a:pPr>
            <a:r>
              <a:rPr dirty="0"/>
              <a:t>Nom </a:t>
            </a:r>
            <a:r>
              <a:rPr dirty="0" err="1"/>
              <a:t>trompeur</a:t>
            </a:r>
            <a:r>
              <a:rPr dirty="0"/>
              <a:t> Rapport.pdf.exe (double extension) : technique de camouflage du </a:t>
            </a:r>
            <a:r>
              <a:rPr dirty="0" err="1"/>
              <a:t>fichier</a:t>
            </a:r>
            <a:r>
              <a:rPr dirty="0"/>
              <a:t> </a:t>
            </a:r>
            <a:r>
              <a:rPr dirty="0" err="1"/>
              <a:t>piégé</a:t>
            </a:r>
            <a:r>
              <a:rPr dirty="0"/>
              <a:t>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BA0FC76-95C2-FF72-0A85-63D4AC9704F2}"/>
              </a:ext>
            </a:extLst>
          </p:cNvPr>
          <p:cNvSpPr/>
          <p:nvPr/>
        </p:nvSpPr>
        <p:spPr>
          <a:xfrm>
            <a:off x="4280963" y="5252931"/>
            <a:ext cx="1977947" cy="27156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cxnSp>
        <p:nvCxnSpPr>
          <p:cNvPr id="9" name="Connecteur droit avec flèche 8">
            <a:extLst>
              <a:ext uri="{FF2B5EF4-FFF2-40B4-BE49-F238E27FC236}">
                <a16:creationId xmlns:a16="http://schemas.microsoft.com/office/drawing/2014/main" id="{5C74EDB4-0572-23CA-C717-65249EBEA788}"/>
              </a:ext>
            </a:extLst>
          </p:cNvPr>
          <p:cNvCxnSpPr>
            <a:cxnSpLocks/>
          </p:cNvCxnSpPr>
          <p:nvPr/>
        </p:nvCxnSpPr>
        <p:spPr>
          <a:xfrm flipH="1" flipV="1">
            <a:off x="6096000" y="5450000"/>
            <a:ext cx="1361090" cy="2715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8395827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BBF5DA2-8323-ECE6-FCD6-6E5731D5BF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Indice d’exécution de Rapport.pdf.exe</a:t>
            </a:r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E7774719-6804-01EB-6638-D858D725F43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46111" y="2397596"/>
            <a:ext cx="6057900" cy="11811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643683" y="2150455"/>
            <a:ext cx="4150000" cy="1900000"/>
          </a:xfrm>
          <a:prstGeom prst="roundRect">
            <a:avLst/>
          </a:prstGeom>
          <a:solidFill>
            <a:srgbClr val="153A3D"/>
          </a:solidFill>
          <a:ln w="25400">
            <a:solidFill>
              <a:srgbClr val="B015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101600" rIns="127000" bIns="101600" rtlCol="0" anchor="ctr"/>
          <a:lstStyle/>
          <a:p>
            <a:pPr>
              <a:defRPr sz="1150">
                <a:solidFill>
                  <a:srgbClr val="FFFFFF"/>
                </a:solidFill>
              </a:defRPr>
            </a:pPr>
            <a:r>
              <a:rPr dirty="0" err="1"/>
              <a:t>Ces</a:t>
            </a:r>
            <a:r>
              <a:rPr dirty="0"/>
              <a:t> </a:t>
            </a:r>
            <a:r>
              <a:rPr dirty="0" err="1"/>
              <a:t>clés</a:t>
            </a:r>
            <a:r>
              <a:rPr dirty="0"/>
              <a:t> </a:t>
            </a:r>
            <a:r>
              <a:rPr dirty="0" err="1"/>
              <a:t>prouvent</a:t>
            </a:r>
            <a:r>
              <a:rPr dirty="0"/>
              <a:t> </a:t>
            </a:r>
            <a:r>
              <a:rPr dirty="0" err="1"/>
              <a:t>l'EXÉCUTION</a:t>
            </a:r>
            <a:r>
              <a:rPr dirty="0"/>
              <a:t> du </a:t>
            </a:r>
            <a:r>
              <a:rPr dirty="0" err="1"/>
              <a:t>fichier</a:t>
            </a:r>
            <a:r>
              <a:rPr dirty="0"/>
              <a:t>, pas </a:t>
            </a:r>
            <a:r>
              <a:rPr dirty="0" err="1"/>
              <a:t>seulement</a:t>
            </a:r>
            <a:r>
              <a:rPr dirty="0"/>
              <a:t> son </a:t>
            </a:r>
            <a:r>
              <a:rPr dirty="0" err="1"/>
              <a:t>téléchargement</a:t>
            </a:r>
            <a:r>
              <a:rPr dirty="0"/>
              <a:t>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8F34FBB-C147-83D6-21FC-5FC502940664}"/>
              </a:ext>
            </a:extLst>
          </p:cNvPr>
          <p:cNvSpPr/>
          <p:nvPr/>
        </p:nvSpPr>
        <p:spPr>
          <a:xfrm>
            <a:off x="2686087" y="2397596"/>
            <a:ext cx="4017924" cy="86586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cxnSp>
        <p:nvCxnSpPr>
          <p:cNvPr id="8" name="Connecteur droit avec flèche 7">
            <a:extLst>
              <a:ext uri="{FF2B5EF4-FFF2-40B4-BE49-F238E27FC236}">
                <a16:creationId xmlns:a16="http://schemas.microsoft.com/office/drawing/2014/main" id="{05C8458B-E25C-636C-29DA-5D680EAB455A}"/>
              </a:ext>
            </a:extLst>
          </p:cNvPr>
          <p:cNvCxnSpPr>
            <a:cxnSpLocks/>
            <a:endCxn id="4" idx="3"/>
          </p:cNvCxnSpPr>
          <p:nvPr/>
        </p:nvCxnSpPr>
        <p:spPr>
          <a:xfrm flipH="1" flipV="1">
            <a:off x="6704011" y="2830529"/>
            <a:ext cx="1052623" cy="13760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9179447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65AB38D-C11C-2410-9CBB-BDBC6D211C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000479"/>
          </a:xfrm>
        </p:spPr>
        <p:txBody>
          <a:bodyPr/>
          <a:lstStyle/>
          <a:p>
            <a:r>
              <a:rPr lang="fr-FR" sz="2800" dirty="0"/>
              <a:t>Paramètres réseau dans la configuration </a:t>
            </a:r>
            <a:r>
              <a:rPr lang="fr-FR" sz="2800" dirty="0" err="1"/>
              <a:t>pfSense</a:t>
            </a:r>
            <a:endParaRPr lang="fr-FR" sz="2800" dirty="0"/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B2AE158E-F849-52AC-64C2-7C76F4CB103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46111" y="2741000"/>
            <a:ext cx="7391760" cy="3157517"/>
          </a:xfrm>
          <a:prstGeom prst="rect">
            <a:avLst/>
          </a:prstGeom>
        </p:spPr>
      </p:pic>
      <p:pic>
        <p:nvPicPr>
          <p:cNvPr id="4" name="Image 3">
            <a:extLst>
              <a:ext uri="{FF2B5EF4-FFF2-40B4-BE49-F238E27FC236}">
                <a16:creationId xmlns:a16="http://schemas.microsoft.com/office/drawing/2014/main" id="{C38EB2EE-C25D-A277-94F0-E2401230F7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6111" y="1997086"/>
            <a:ext cx="4714875" cy="200025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250000" y="2850000"/>
            <a:ext cx="3100000" cy="2900000"/>
          </a:xfrm>
          <a:prstGeom prst="roundRect">
            <a:avLst/>
          </a:prstGeom>
          <a:solidFill>
            <a:srgbClr val="153A3D"/>
          </a:solidFill>
          <a:ln w="25400">
            <a:solidFill>
              <a:srgbClr val="B015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101600" rIns="127000" bIns="101600" rtlCol="0" anchor="ctr"/>
          <a:lstStyle/>
          <a:p>
            <a:pPr>
              <a:defRPr sz="1150">
                <a:solidFill>
                  <a:srgbClr val="FFFFFF"/>
                </a:solidFill>
              </a:defRPr>
            </a:pPr>
            <a:r>
              <a:rPr lang="fr-FR" dirty="0"/>
              <a:t>Host </a:t>
            </a:r>
            <a:r>
              <a:rPr lang="fr-FR" dirty="0" err="1"/>
              <a:t>Override</a:t>
            </a:r>
            <a:r>
              <a:rPr lang="fr-FR" dirty="0"/>
              <a:t> configuré par admin@10.0.1.20 : origine du détournement DNS.</a:t>
            </a:r>
          </a:p>
        </p:txBody>
      </p:sp>
      <p:cxnSp>
        <p:nvCxnSpPr>
          <p:cNvPr id="7" name="Connecteur droit avec flèche 6">
            <a:extLst>
              <a:ext uri="{FF2B5EF4-FFF2-40B4-BE49-F238E27FC236}">
                <a16:creationId xmlns:a16="http://schemas.microsoft.com/office/drawing/2014/main" id="{7783B7DF-D3CD-E3CC-C572-619F5CA93EAC}"/>
              </a:ext>
            </a:extLst>
          </p:cNvPr>
          <p:cNvCxnSpPr>
            <a:cxnSpLocks/>
          </p:cNvCxnSpPr>
          <p:nvPr/>
        </p:nvCxnSpPr>
        <p:spPr>
          <a:xfrm flipH="1">
            <a:off x="5580993" y="4461641"/>
            <a:ext cx="2648607" cy="48873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A4371965-7C00-4C80-CD57-2018D9AAA9EA}"/>
              </a:ext>
            </a:extLst>
          </p:cNvPr>
          <p:cNvSpPr/>
          <p:nvPr/>
        </p:nvSpPr>
        <p:spPr>
          <a:xfrm>
            <a:off x="4903075" y="4950371"/>
            <a:ext cx="851339" cy="25518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61304532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C83F83A-D496-1D76-FECF-48F4E0CE58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2800" dirty="0"/>
              <a:t>Reconstitution de l’infection</a:t>
            </a:r>
          </a:p>
        </p:txBody>
      </p:sp>
      <p:sp>
        <p:nvSpPr>
          <p:cNvPr id="3" name="Oval 2"/>
          <p:cNvSpPr/>
          <p:nvPr/>
        </p:nvSpPr>
        <p:spPr>
          <a:xfrm>
            <a:off x="1372088" y="2050000"/>
            <a:ext cx="560000" cy="560000"/>
          </a:xfrm>
          <a:prstGeom prst="ellipse">
            <a:avLst/>
          </a:prstGeom>
          <a:solidFill>
            <a:srgbClr val="B01513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6111" y="2790000"/>
            <a:ext cx="2011955" cy="1650000"/>
          </a:xfrm>
          <a:prstGeom prst="roundRect">
            <a:avLst/>
          </a:prstGeom>
          <a:solidFill>
            <a:srgbClr val="153A3D"/>
          </a:solidFill>
          <a:ln w="12700">
            <a:solidFill>
              <a:srgbClr val="B015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8900" tIns="101600" rIns="88900" bIns="101600" rtlCol="0" anchor="ctr"/>
          <a:lstStyle/>
          <a:p>
            <a:pPr algn="ctr">
              <a:spcAft>
                <a:spcPts val="600"/>
              </a:spcAft>
              <a:defRPr sz="1300" b="1">
                <a:solidFill>
                  <a:srgbClr val="FFFFFF"/>
                </a:solidFill>
              </a:defRPr>
            </a:pPr>
            <a:r>
              <a:t>Détournement DNS</a:t>
            </a:r>
          </a:p>
          <a:p>
            <a:pPr algn="ctr">
              <a:defRPr sz="1100">
                <a:solidFill>
                  <a:srgbClr val="FFFFFF"/>
                </a:solidFill>
              </a:defRPr>
            </a:pPr>
            <a:r>
              <a:t>Host Override configuré sur pfSense</a:t>
            </a:r>
          </a:p>
        </p:txBody>
      </p:sp>
      <p:sp>
        <p:nvSpPr>
          <p:cNvPr id="5" name="Oval 4"/>
          <p:cNvSpPr/>
          <p:nvPr/>
        </p:nvSpPr>
        <p:spPr>
          <a:xfrm>
            <a:off x="3594044" y="2050000"/>
            <a:ext cx="560000" cy="560000"/>
          </a:xfrm>
          <a:prstGeom prst="ellipse">
            <a:avLst/>
          </a:prstGeom>
          <a:solidFill>
            <a:srgbClr val="B01513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868066" y="2790000"/>
            <a:ext cx="2011955" cy="1650000"/>
          </a:xfrm>
          <a:prstGeom prst="roundRect">
            <a:avLst/>
          </a:prstGeom>
          <a:solidFill>
            <a:srgbClr val="153A3D"/>
          </a:solidFill>
          <a:ln w="12700">
            <a:solidFill>
              <a:srgbClr val="B015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8900" tIns="101600" rIns="88900" bIns="101600" rtlCol="0" anchor="ctr"/>
          <a:lstStyle/>
          <a:p>
            <a:pPr algn="ctr">
              <a:spcAft>
                <a:spcPts val="600"/>
              </a:spcAft>
              <a:defRPr sz="1300" b="1">
                <a:solidFill>
                  <a:srgbClr val="FFFFFF"/>
                </a:solidFill>
              </a:defRPr>
            </a:pPr>
            <a:r>
              <a:t>Redirection</a:t>
            </a:r>
          </a:p>
          <a:p>
            <a:pPr algn="ctr">
              <a:defRPr sz="1100">
                <a:solidFill>
                  <a:srgbClr val="FFFFFF"/>
                </a:solidFill>
              </a:defRPr>
            </a:pPr>
            <a:r>
              <a:t>www.intranet.fr → 10.10.0.132</a:t>
            </a:r>
          </a:p>
        </p:txBody>
      </p:sp>
      <p:sp>
        <p:nvSpPr>
          <p:cNvPr id="7" name="Oval 6"/>
          <p:cNvSpPr/>
          <p:nvPr/>
        </p:nvSpPr>
        <p:spPr>
          <a:xfrm>
            <a:off x="5816000" y="2050000"/>
            <a:ext cx="560000" cy="560000"/>
          </a:xfrm>
          <a:prstGeom prst="ellipse">
            <a:avLst/>
          </a:prstGeom>
          <a:solidFill>
            <a:srgbClr val="B01513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90022" y="2790000"/>
            <a:ext cx="2011955" cy="1650000"/>
          </a:xfrm>
          <a:prstGeom prst="roundRect">
            <a:avLst/>
          </a:prstGeom>
          <a:solidFill>
            <a:srgbClr val="153A3D"/>
          </a:solidFill>
          <a:ln w="12700">
            <a:solidFill>
              <a:srgbClr val="B015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8900" tIns="101600" rIns="88900" bIns="101600" rtlCol="0" anchor="ctr"/>
          <a:lstStyle/>
          <a:p>
            <a:pPr algn="ctr">
              <a:spcAft>
                <a:spcPts val="600"/>
              </a:spcAft>
              <a:defRPr sz="1300" b="1">
                <a:solidFill>
                  <a:srgbClr val="FFFFFF"/>
                </a:solidFill>
              </a:defRPr>
            </a:pPr>
            <a:r>
              <a:t>Téléchargement</a:t>
            </a:r>
          </a:p>
          <a:p>
            <a:pPr algn="ctr">
              <a:defRPr sz="1100">
                <a:solidFill>
                  <a:srgbClr val="FFFFFF"/>
                </a:solidFill>
              </a:defRPr>
            </a:pPr>
            <a:r>
              <a:t>Bob récupère un fichier qu'il croit légitime</a:t>
            </a:r>
          </a:p>
        </p:txBody>
      </p:sp>
      <p:sp>
        <p:nvSpPr>
          <p:cNvPr id="9" name="Oval 8"/>
          <p:cNvSpPr/>
          <p:nvPr/>
        </p:nvSpPr>
        <p:spPr>
          <a:xfrm>
            <a:off x="8037955" y="2050000"/>
            <a:ext cx="560000" cy="560000"/>
          </a:xfrm>
          <a:prstGeom prst="ellipse">
            <a:avLst/>
          </a:prstGeom>
          <a:solidFill>
            <a:srgbClr val="B01513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1977" y="2790000"/>
            <a:ext cx="2011955" cy="1650000"/>
          </a:xfrm>
          <a:prstGeom prst="roundRect">
            <a:avLst/>
          </a:prstGeom>
          <a:solidFill>
            <a:srgbClr val="153A3D"/>
          </a:solidFill>
          <a:ln w="12700">
            <a:solidFill>
              <a:srgbClr val="B015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8900" tIns="101600" rIns="88900" bIns="101600" rtlCol="0" anchor="ctr"/>
          <a:lstStyle/>
          <a:p>
            <a:pPr algn="ctr">
              <a:spcAft>
                <a:spcPts val="600"/>
              </a:spcAft>
              <a:defRPr sz="1300" b="1">
                <a:solidFill>
                  <a:srgbClr val="FFFFFF"/>
                </a:solidFill>
              </a:defRPr>
            </a:pPr>
            <a:r>
              <a:t>Exécution</a:t>
            </a:r>
          </a:p>
          <a:p>
            <a:pPr algn="ctr">
              <a:defRPr sz="1100">
                <a:solidFill>
                  <a:srgbClr val="FFFFFF"/>
                </a:solidFill>
              </a:defRPr>
            </a:pPr>
            <a:r>
              <a:t>Rapport.pdf.exe lancé par l'utilisateur</a:t>
            </a:r>
          </a:p>
        </p:txBody>
      </p:sp>
      <p:sp>
        <p:nvSpPr>
          <p:cNvPr id="11" name="Oval 10"/>
          <p:cNvSpPr/>
          <p:nvPr/>
        </p:nvSpPr>
        <p:spPr>
          <a:xfrm>
            <a:off x="10259911" y="2050000"/>
            <a:ext cx="560000" cy="560000"/>
          </a:xfrm>
          <a:prstGeom prst="ellipse">
            <a:avLst/>
          </a:prstGeom>
          <a:solidFill>
            <a:srgbClr val="B01513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533933" y="2790000"/>
            <a:ext cx="2011955" cy="1650000"/>
          </a:xfrm>
          <a:prstGeom prst="roundRect">
            <a:avLst/>
          </a:prstGeom>
          <a:solidFill>
            <a:srgbClr val="153A3D"/>
          </a:solidFill>
          <a:ln w="12700">
            <a:solidFill>
              <a:srgbClr val="B015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8900" tIns="101600" rIns="88900" bIns="101600" rtlCol="0" anchor="ctr"/>
          <a:lstStyle/>
          <a:p>
            <a:pPr algn="ctr">
              <a:spcAft>
                <a:spcPts val="600"/>
              </a:spcAft>
              <a:defRPr sz="1300" b="1">
                <a:solidFill>
                  <a:srgbClr val="FFFFFF"/>
                </a:solidFill>
              </a:defRPr>
            </a:pPr>
            <a:r>
              <a:t>Infection amorcée</a:t>
            </a:r>
          </a:p>
          <a:p>
            <a:pPr algn="ctr">
              <a:defRPr sz="1100">
                <a:solidFill>
                  <a:srgbClr val="FFFFFF"/>
                </a:solidFill>
              </a:defRPr>
            </a:pPr>
            <a:r>
              <a:t>Persistance et accès distant activés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932088" y="2330000"/>
            <a:ext cx="1661956" cy="0"/>
          </a:xfrm>
          <a:prstGeom prst="line">
            <a:avLst/>
          </a:prstGeom>
          <a:ln w="22225">
            <a:solidFill>
              <a:srgbClr val="FFFFF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4154044" y="2330000"/>
            <a:ext cx="1661956" cy="0"/>
          </a:xfrm>
          <a:prstGeom prst="line">
            <a:avLst/>
          </a:prstGeom>
          <a:ln w="22225">
            <a:solidFill>
              <a:srgbClr val="FFFFF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6376000" y="2330000"/>
            <a:ext cx="1661955" cy="0"/>
          </a:xfrm>
          <a:prstGeom prst="line">
            <a:avLst/>
          </a:prstGeom>
          <a:ln w="22225">
            <a:solidFill>
              <a:srgbClr val="FFFFF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8597955" y="2330000"/>
            <a:ext cx="1661956" cy="0"/>
          </a:xfrm>
          <a:prstGeom prst="line">
            <a:avLst/>
          </a:prstGeom>
          <a:ln w="22225">
            <a:solidFill>
              <a:srgbClr val="FFFFF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46111" y="4790000"/>
            <a:ext cx="10899778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1">
                <a:solidFill>
                  <a:srgbClr val="B01513"/>
                </a:solidFill>
              </a:defRPr>
            </a:pPr>
            <a:r>
              <a:t>Mécanisme identifié : téléchargement puis exécution d’un fichier piégé depuis l’intranet détourné par une altération DNS.</a:t>
            </a:r>
          </a:p>
        </p:txBody>
      </p:sp>
    </p:spTree>
    <p:extLst>
      <p:ext uri="{BB962C8B-B14F-4D97-AF65-F5344CB8AC3E}">
        <p14:creationId xmlns:p14="http://schemas.microsoft.com/office/powerpoint/2010/main" val="374842476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8BACF34-3B2B-18DE-EA4E-50EF53665E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Cartographie</a:t>
            </a:r>
            <a:r>
              <a:rPr dirty="0"/>
              <a:t> MITRE ATT&amp;CK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6111" y="1750000"/>
          <a:ext cx="10899778" cy="450677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9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9977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9375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Tactique</a:t>
                      </a:r>
                    </a:p>
                  </a:txBody>
                  <a:tcPr marL="76200" marR="76200" marT="38100" marB="38100" anchor="ctr">
                    <a:solidFill>
                      <a:srgbClr val="B0151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Technique (ID)</a:t>
                      </a:r>
                    </a:p>
                  </a:txBody>
                  <a:tcPr marL="76200" marR="76200" marT="38100" marB="38100" anchor="ctr">
                    <a:solidFill>
                      <a:srgbClr val="B0151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Preuve associée</a:t>
                      </a:r>
                    </a:p>
                  </a:txBody>
                  <a:tcPr marL="76200" marR="76200" marT="38100" marB="38100" anchor="ctr">
                    <a:solidFill>
                      <a:srgbClr val="B0151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375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</a:rPr>
                        <a:t>Compromission d'infrastructure</a:t>
                      </a:r>
                    </a:p>
                  </a:txBody>
                  <a:tcPr marL="76200" marR="76200" marT="38100" marB="38100" anchor="ctr">
                    <a:solidFill>
                      <a:srgbClr val="1E515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FFFFFF"/>
                          </a:solidFill>
                        </a:rPr>
                        <a:t>Compromise Infrastructure: DNS Server (T1584.002)</a:t>
                      </a:r>
                    </a:p>
                  </a:txBody>
                  <a:tcPr marL="76200" marR="76200" marT="38100" marB="38100" anchor="ctr">
                    <a:solidFill>
                      <a:srgbClr val="153A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FFFFFF"/>
                          </a:solidFill>
                        </a:rPr>
                        <a:t>Host Override configuré sur pfSense (accès initial au pare-feu hors périmètre de l'investigation)</a:t>
                      </a:r>
                    </a:p>
                  </a:txBody>
                  <a:tcPr marL="76200" marR="76200" marT="38100" marB="38100" anchor="ctr">
                    <a:solidFill>
                      <a:srgbClr val="153A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375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</a:rPr>
                        <a:t>Accès initial (Initial Access)</a:t>
                      </a:r>
                    </a:p>
                  </a:txBody>
                  <a:tcPr marL="76200" marR="76200" marT="38100" marB="38100" anchor="ctr">
                    <a:solidFill>
                      <a:srgbClr val="1E515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FFFFFF"/>
                          </a:solidFill>
                        </a:rPr>
                        <a:t>Technique non attribuée dans les artefacts</a:t>
                      </a:r>
                    </a:p>
                  </a:txBody>
                  <a:tcPr marL="76200" marR="76200" marT="38100" marB="38100" anchor="ctr">
                    <a:solidFill>
                      <a:srgbClr val="153A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FFFFFF"/>
                          </a:solidFill>
                        </a:rPr>
                        <a:t>Rapport.pdf.exe proposé via l’intranet détourné ; aucun artefact de phishing n’est fourni</a:t>
                      </a:r>
                    </a:p>
                  </a:txBody>
                  <a:tcPr marL="76200" marR="76200" marT="38100" marB="38100" anchor="ctr">
                    <a:solidFill>
                      <a:srgbClr val="153A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375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</a:rPr>
                        <a:t>Exécution (Execution)</a:t>
                      </a:r>
                    </a:p>
                  </a:txBody>
                  <a:tcPr marL="76200" marR="76200" marT="38100" marB="38100" anchor="ctr">
                    <a:solidFill>
                      <a:srgbClr val="1E515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FFFFFF"/>
                          </a:solidFill>
                        </a:rPr>
                        <a:t>User Execution: Malicious File (T1204.002)</a:t>
                      </a:r>
                    </a:p>
                  </a:txBody>
                  <a:tcPr marL="76200" marR="76200" marT="38100" marB="38100" anchor="ctr">
                    <a:solidFill>
                      <a:srgbClr val="153A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FFFFFF"/>
                          </a:solidFill>
                        </a:rPr>
                        <a:t>Exécution du fichier par Bob Newman</a:t>
                      </a:r>
                    </a:p>
                  </a:txBody>
                  <a:tcPr marL="76200" marR="76200" marT="38100" marB="38100" anchor="ctr">
                    <a:solidFill>
                      <a:srgbClr val="153A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375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</a:rPr>
                        <a:t>Persistance (Persistence)</a:t>
                      </a:r>
                    </a:p>
                  </a:txBody>
                  <a:tcPr marL="76200" marR="76200" marT="38100" marB="38100" anchor="ctr">
                    <a:solidFill>
                      <a:srgbClr val="1E515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FFFFFF"/>
                          </a:solidFill>
                        </a:rPr>
                        <a:t>Registry Run Keys / RunOnce (T1547.001)</a:t>
                      </a:r>
                    </a:p>
                  </a:txBody>
                  <a:tcPr marL="76200" marR="76200" marT="38100" marB="38100" anchor="ctr">
                    <a:solidFill>
                      <a:srgbClr val="153A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FFFFFF"/>
                          </a:solidFill>
                        </a:rPr>
                        <a:t>Clé RunOnce « updater » pointant vers updater.exe</a:t>
                      </a:r>
                    </a:p>
                  </a:txBody>
                  <a:tcPr marL="76200" marR="76200" marT="38100" marB="38100" anchor="ctr">
                    <a:solidFill>
                      <a:srgbClr val="153A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375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</a:rPr>
                        <a:t>Évasion de défense (Defense Evasion)</a:t>
                      </a:r>
                    </a:p>
                  </a:txBody>
                  <a:tcPr marL="76200" marR="76200" marT="38100" marB="38100" anchor="ctr">
                    <a:solidFill>
                      <a:srgbClr val="1E515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FFFFFF"/>
                          </a:solidFill>
                        </a:rPr>
                        <a:t>Masquerading (T1036.005)</a:t>
                      </a:r>
                    </a:p>
                  </a:txBody>
                  <a:tcPr marL="76200" marR="76200" marT="38100" marB="38100" anchor="ctr">
                    <a:solidFill>
                      <a:srgbClr val="153A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FFFFFF"/>
                          </a:solidFill>
                        </a:rPr>
                        <a:t>Nom de fichier imitant un document légitime (Rapport.pdf.exe)</a:t>
                      </a:r>
                    </a:p>
                  </a:txBody>
                  <a:tcPr marL="76200" marR="76200" marT="38100" marB="38100" anchor="ctr">
                    <a:solidFill>
                      <a:srgbClr val="153A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9375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</a:rPr>
                        <a:t>Commande et contrôle (C2)</a:t>
                      </a:r>
                    </a:p>
                  </a:txBody>
                  <a:tcPr marL="76200" marR="76200" marT="38100" marB="38100" anchor="ctr">
                    <a:solidFill>
                      <a:srgbClr val="1E515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FFFFFF"/>
                          </a:solidFill>
                        </a:rPr>
                        <a:t>Remote Access Software / Non-Standard Port (T1219 / T1571)</a:t>
                      </a:r>
                    </a:p>
                  </a:txBody>
                  <a:tcPr marL="76200" marR="76200" marT="38100" marB="38100" anchor="ctr">
                    <a:solidFill>
                      <a:srgbClr val="153A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FFFFFF"/>
                          </a:solidFill>
                        </a:rPr>
                        <a:t>Ncat en écoute sur le port TCP/42890</a:t>
                      </a:r>
                    </a:p>
                  </a:txBody>
                  <a:tcPr marL="76200" marR="76200" marT="38100" marB="38100" anchor="ctr">
                    <a:solidFill>
                      <a:srgbClr val="153A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76200" marR="76200" marT="38100" marB="38100" anchor="ctr">
                    <a:solidFill>
                      <a:srgbClr val="1E515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dirty="0"/>
                    </a:p>
                  </a:txBody>
                  <a:tcPr marL="76200" marR="76200" marT="38100" marB="38100" anchor="ctr">
                    <a:solidFill>
                      <a:srgbClr val="153A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dirty="0"/>
                    </a:p>
                  </a:txBody>
                  <a:tcPr marL="76200" marR="76200" marT="38100" marB="38100" anchor="ctr">
                    <a:solidFill>
                      <a:srgbClr val="153A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970468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Indicateurs de compromission (IOC)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6111" y="1750000"/>
          <a:ext cx="10899778" cy="405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9977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000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Type d'indicateur</a:t>
                      </a:r>
                    </a:p>
                  </a:txBody>
                  <a:tcPr marL="60000" marR="60000" marT="25000" marB="25000" anchor="ctr">
                    <a:solidFill>
                      <a:srgbClr val="B0151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Valeur</a:t>
                      </a:r>
                    </a:p>
                  </a:txBody>
                  <a:tcPr marL="60000" marR="60000" marT="25000" marB="25000" anchor="ctr">
                    <a:solidFill>
                      <a:srgbClr val="B0151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Contexte</a:t>
                      </a:r>
                    </a:p>
                  </a:txBody>
                  <a:tcPr marL="60000" marR="60000" marT="25000" marB="25000" anchor="ctr">
                    <a:solidFill>
                      <a:srgbClr val="B0151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000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</a:rPr>
                        <a:t>IP infrastructure attaquant</a:t>
                      </a:r>
                    </a:p>
                  </a:txBody>
                  <a:tcPr marL="60000" marR="60000" marT="25000" marB="25000" anchor="ctr">
                    <a:solidFill>
                      <a:srgbClr val="1E515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FFFFFF"/>
                          </a:solidFill>
                          <a:latin typeface="Consolas"/>
                        </a:rPr>
                        <a:t>10.10.0.132</a:t>
                      </a:r>
                    </a:p>
                  </a:txBody>
                  <a:tcPr marL="60000" marR="60000" marT="25000" marB="25000" anchor="ctr">
                    <a:solidFill>
                      <a:srgbClr val="153A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FFFFFF"/>
                          </a:solidFill>
                        </a:rPr>
                        <a:t>Héberge le faux intranet et le fichier piégé</a:t>
                      </a:r>
                    </a:p>
                  </a:txBody>
                  <a:tcPr marL="60000" marR="60000" marT="25000" marB="25000" anchor="ctr">
                    <a:solidFill>
                      <a:srgbClr val="153A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000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</a:rPr>
                        <a:t>Domaine détourné (DNS)</a:t>
                      </a:r>
                    </a:p>
                  </a:txBody>
                  <a:tcPr marL="60000" marR="60000" marT="25000" marB="25000" anchor="ctr">
                    <a:solidFill>
                      <a:srgbClr val="1E515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FFFFFF"/>
                          </a:solidFill>
                          <a:latin typeface="Consolas"/>
                        </a:rPr>
                        <a:t>www.intranet.fr -&gt; 10.10.0.132</a:t>
                      </a:r>
                    </a:p>
                  </a:txBody>
                  <a:tcPr marL="60000" marR="60000" marT="25000" marB="25000" anchor="ctr">
                    <a:solidFill>
                      <a:srgbClr val="153A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FFFFFF"/>
                          </a:solidFill>
                        </a:rPr>
                        <a:t>Host Override configuré sur pfSense</a:t>
                      </a:r>
                    </a:p>
                  </a:txBody>
                  <a:tcPr marL="60000" marR="60000" marT="25000" marB="25000" anchor="ctr">
                    <a:solidFill>
                      <a:srgbClr val="153A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000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</a:rPr>
                        <a:t>Compte à l'origine du détournement</a:t>
                      </a:r>
                    </a:p>
                  </a:txBody>
                  <a:tcPr marL="60000" marR="60000" marT="25000" marB="25000" anchor="ctr">
                    <a:solidFill>
                      <a:srgbClr val="1E515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FFFFFF"/>
                          </a:solidFill>
                          <a:latin typeface="Consolas"/>
                        </a:rPr>
                        <a:t>admin@10.0.1.20</a:t>
                      </a:r>
                    </a:p>
                  </a:txBody>
                  <a:tcPr marL="60000" marR="60000" marT="25000" marB="25000" anchor="ctr">
                    <a:solidFill>
                      <a:srgbClr val="153A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FFFFFF"/>
                          </a:solidFill>
                        </a:rPr>
                        <a:t>Auteur de la modification DNS sur pfSense</a:t>
                      </a:r>
                    </a:p>
                  </a:txBody>
                  <a:tcPr marL="60000" marR="60000" marT="25000" marB="25000" anchor="ctr">
                    <a:solidFill>
                      <a:srgbClr val="153A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000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</a:rPr>
                        <a:t>Fichier leurre (accès initial)</a:t>
                      </a:r>
                    </a:p>
                  </a:txBody>
                  <a:tcPr marL="60000" marR="60000" marT="25000" marB="25000" anchor="ctr">
                    <a:solidFill>
                      <a:srgbClr val="1E515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FFFFFF"/>
                          </a:solidFill>
                          <a:latin typeface="Consolas"/>
                        </a:rPr>
                        <a:t>Rapport.pdf.exe</a:t>
                      </a:r>
                    </a:p>
                  </a:txBody>
                  <a:tcPr marL="60000" marR="60000" marT="25000" marB="25000" anchor="ctr">
                    <a:solidFill>
                      <a:srgbClr val="153A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FFFFFF"/>
                          </a:solidFill>
                        </a:rPr>
                        <a:t>...\Downloads\ - double extension, camouflage</a:t>
                      </a:r>
                    </a:p>
                  </a:txBody>
                  <a:tcPr marL="60000" marR="60000" marT="25000" marB="25000" anchor="ctr">
                    <a:solidFill>
                      <a:srgbClr val="153A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000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</a:rPr>
                        <a:t>Fichier de persistance</a:t>
                      </a:r>
                    </a:p>
                  </a:txBody>
                  <a:tcPr marL="60000" marR="60000" marT="25000" marB="25000" anchor="ctr">
                    <a:solidFill>
                      <a:srgbClr val="1E515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FFFFFF"/>
                          </a:solidFill>
                          <a:latin typeface="Consolas"/>
                        </a:rPr>
                        <a:t>updater.exe</a:t>
                      </a:r>
                    </a:p>
                  </a:txBody>
                  <a:tcPr marL="60000" marR="60000" marT="25000" marB="25000" anchor="ctr">
                    <a:solidFill>
                      <a:srgbClr val="153A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FFFFFF"/>
                          </a:solidFill>
                        </a:rPr>
                        <a:t>...\AppData\Roaming\ - lance ncat.exe au démarrage</a:t>
                      </a:r>
                    </a:p>
                  </a:txBody>
                  <a:tcPr marL="60000" marR="60000" marT="25000" marB="25000" anchor="ctr">
                    <a:solidFill>
                      <a:srgbClr val="153A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000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</a:rPr>
                        <a:t>Clé de registre (persistance)</a:t>
                      </a:r>
                    </a:p>
                  </a:txBody>
                  <a:tcPr marL="60000" marR="60000" marT="25000" marB="25000" anchor="ctr">
                    <a:solidFill>
                      <a:srgbClr val="1E515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FFFFFF"/>
                          </a:solidFill>
                          <a:latin typeface="Consolas"/>
                        </a:rPr>
                        <a:t>HKCU\...\CurrentVersion\RunOnce\Updater</a:t>
                      </a:r>
                    </a:p>
                  </a:txBody>
                  <a:tcPr marL="60000" marR="60000" marT="25000" marB="25000" anchor="ctr">
                    <a:solidFill>
                      <a:srgbClr val="153A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FFFFFF"/>
                          </a:solidFill>
                        </a:rPr>
                        <a:t>Auto-suppression après exécution</a:t>
                      </a:r>
                    </a:p>
                  </a:txBody>
                  <a:tcPr marL="60000" marR="60000" marT="25000" marB="25000" anchor="ctr">
                    <a:solidFill>
                      <a:srgbClr val="153A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000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</a:rPr>
                        <a:t>Outil C2 / accès distant</a:t>
                      </a:r>
                    </a:p>
                  </a:txBody>
                  <a:tcPr marL="60000" marR="60000" marT="25000" marB="25000" anchor="ctr">
                    <a:solidFill>
                      <a:srgbClr val="1E515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FFFFFF"/>
                          </a:solidFill>
                          <a:latin typeface="Consolas"/>
                        </a:rPr>
                        <a:t>ncat.exe - TCP/42890 (0.0.0.0)</a:t>
                      </a:r>
                    </a:p>
                  </a:txBody>
                  <a:tcPr marL="60000" marR="60000" marT="25000" marB="25000" anchor="ctr">
                    <a:solidFill>
                      <a:srgbClr val="153A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FFFFFF"/>
                          </a:solidFill>
                        </a:rPr>
                        <a:t>Issu de l'installation Nmap présente sur le poste</a:t>
                      </a:r>
                    </a:p>
                  </a:txBody>
                  <a:tcPr marL="60000" marR="60000" marT="25000" marB="25000" anchor="ctr">
                    <a:solidFill>
                      <a:srgbClr val="153A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000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</a:rPr>
                        <a:t>Compte compromis</a:t>
                      </a:r>
                    </a:p>
                  </a:txBody>
                  <a:tcPr marL="60000" marR="60000" marT="25000" marB="25000" anchor="ctr">
                    <a:solidFill>
                      <a:srgbClr val="1E515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FFFFFF"/>
                          </a:solidFill>
                        </a:rPr>
                        <a:t>bob_newman</a:t>
                      </a:r>
                    </a:p>
                  </a:txBody>
                  <a:tcPr marL="60000" marR="60000" marT="25000" marB="25000" anchor="ctr">
                    <a:solidFill>
                      <a:srgbClr val="153A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dirty="0" err="1">
                          <a:solidFill>
                            <a:srgbClr val="FFFFFF"/>
                          </a:solidFill>
                        </a:rPr>
                        <a:t>Administrateur</a:t>
                      </a:r>
                      <a:r>
                        <a:rPr sz="950" b="0" dirty="0">
                          <a:solidFill>
                            <a:srgbClr val="FFFFFF"/>
                          </a:solidFill>
                        </a:rPr>
                        <a:t> du </a:t>
                      </a:r>
                      <a:r>
                        <a:rPr sz="950" b="0" dirty="0" err="1">
                          <a:solidFill>
                            <a:srgbClr val="FFFFFF"/>
                          </a:solidFill>
                        </a:rPr>
                        <a:t>domaine</a:t>
                      </a:r>
                      <a:r>
                        <a:rPr sz="950" b="0" dirty="0">
                          <a:solidFill>
                            <a:srgbClr val="FFFFFF"/>
                          </a:solidFill>
                        </a:rPr>
                        <a:t> </a:t>
                      </a:r>
                      <a:r>
                        <a:rPr sz="950" b="0" dirty="0" err="1">
                          <a:solidFill>
                            <a:srgbClr val="FFFFFF"/>
                          </a:solidFill>
                        </a:rPr>
                        <a:t>patissier.local</a:t>
                      </a:r>
                      <a:endParaRPr sz="950" b="0" dirty="0">
                        <a:solidFill>
                          <a:srgbClr val="FFFFFF"/>
                        </a:solidFill>
                      </a:endParaRPr>
                    </a:p>
                  </a:txBody>
                  <a:tcPr marL="60000" marR="60000" marT="25000" marB="25000" anchor="ctr">
                    <a:solidFill>
                      <a:srgbClr val="153A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D2DDA94-2DE6-B7F5-7381-BC6BA8A62B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Chronologie globale de l'attaque</a:t>
            </a:r>
          </a:p>
        </p:txBody>
      </p:sp>
      <p:sp>
        <p:nvSpPr>
          <p:cNvPr id="3" name="Oval 2"/>
          <p:cNvSpPr/>
          <p:nvPr/>
        </p:nvSpPr>
        <p:spPr>
          <a:xfrm>
            <a:off x="1026833" y="2050000"/>
            <a:ext cx="520000" cy="520000"/>
          </a:xfrm>
          <a:prstGeom prst="ellipse">
            <a:avLst/>
          </a:prstGeom>
          <a:solidFill>
            <a:srgbClr val="E6B729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00000" y="2740000"/>
            <a:ext cx="1773666" cy="1750000"/>
          </a:xfrm>
          <a:prstGeom prst="roundRect">
            <a:avLst/>
          </a:prstGeom>
          <a:solidFill>
            <a:srgbClr val="153A3D"/>
          </a:solidFill>
          <a:ln w="12700">
            <a:solidFill>
              <a:srgbClr val="E6B7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76200" rIns="63500" bIns="76200" rtlCol="0" anchor="ctr"/>
          <a:lstStyle/>
          <a:p>
            <a:pPr algn="ctr">
              <a:spcAft>
                <a:spcPts val="500"/>
              </a:spcAft>
              <a:defRPr sz="1200" b="1">
                <a:solidFill>
                  <a:srgbClr val="FFFFFF"/>
                </a:solidFill>
              </a:defRPr>
            </a:pPr>
            <a:r>
              <a:t>Détournement DNS</a:t>
            </a:r>
          </a:p>
          <a:p>
            <a:pPr algn="ctr">
              <a:defRPr sz="1000">
                <a:solidFill>
                  <a:srgbClr val="FFFFFF"/>
                </a:solidFill>
              </a:defRPr>
            </a:pPr>
            <a:r>
              <a:t>Host Override configuré sur pfSense</a:t>
            </a:r>
          </a:p>
        </p:txBody>
      </p:sp>
      <p:sp>
        <p:nvSpPr>
          <p:cNvPr id="5" name="Oval 4"/>
          <p:cNvSpPr/>
          <p:nvPr/>
        </p:nvSpPr>
        <p:spPr>
          <a:xfrm>
            <a:off x="2950500" y="2050000"/>
            <a:ext cx="520000" cy="520000"/>
          </a:xfrm>
          <a:prstGeom prst="ellipse">
            <a:avLst/>
          </a:prstGeom>
          <a:solidFill>
            <a:srgbClr val="E6B729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323666" y="2740000"/>
            <a:ext cx="1773666" cy="1750000"/>
          </a:xfrm>
          <a:prstGeom prst="roundRect">
            <a:avLst/>
          </a:prstGeom>
          <a:solidFill>
            <a:srgbClr val="153A3D"/>
          </a:solidFill>
          <a:ln w="12700">
            <a:solidFill>
              <a:srgbClr val="E6B7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76200" rIns="63500" bIns="76200" rtlCol="0" anchor="ctr"/>
          <a:lstStyle/>
          <a:p>
            <a:pPr algn="ctr">
              <a:spcAft>
                <a:spcPts val="500"/>
              </a:spcAft>
              <a:defRPr sz="1200" b="1">
                <a:solidFill>
                  <a:srgbClr val="FFFFFF"/>
                </a:solidFill>
              </a:defRPr>
            </a:pPr>
            <a:r>
              <a:t>Livraison du leurre</a:t>
            </a:r>
          </a:p>
          <a:p>
            <a:pPr algn="ctr">
              <a:defRPr sz="1000">
                <a:solidFill>
                  <a:srgbClr val="FFFFFF"/>
                </a:solidFill>
              </a:defRPr>
            </a:pPr>
            <a:r>
              <a:t>Bob accède à l'intranet falsifié</a:t>
            </a:r>
          </a:p>
        </p:txBody>
      </p:sp>
      <p:sp>
        <p:nvSpPr>
          <p:cNvPr id="7" name="Oval 6"/>
          <p:cNvSpPr/>
          <p:nvPr/>
        </p:nvSpPr>
        <p:spPr>
          <a:xfrm>
            <a:off x="4874166" y="2050000"/>
            <a:ext cx="520000" cy="520000"/>
          </a:xfrm>
          <a:prstGeom prst="ellipse">
            <a:avLst/>
          </a:prstGeom>
          <a:solidFill>
            <a:srgbClr val="E6B729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47333" y="2740000"/>
            <a:ext cx="1773666" cy="1750000"/>
          </a:xfrm>
          <a:prstGeom prst="roundRect">
            <a:avLst/>
          </a:prstGeom>
          <a:solidFill>
            <a:srgbClr val="153A3D"/>
          </a:solidFill>
          <a:ln w="12700">
            <a:solidFill>
              <a:srgbClr val="E6B7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76200" rIns="63500" bIns="76200" rtlCol="0" anchor="ctr"/>
          <a:lstStyle/>
          <a:p>
            <a:pPr algn="ctr">
              <a:spcAft>
                <a:spcPts val="500"/>
              </a:spcAft>
              <a:defRPr sz="1200" b="1">
                <a:solidFill>
                  <a:srgbClr val="FFFFFF"/>
                </a:solidFill>
              </a:defRPr>
            </a:pPr>
            <a:r>
              <a:t>Exécution initiale</a:t>
            </a:r>
          </a:p>
          <a:p>
            <a:pPr algn="ctr">
              <a:defRPr sz="1000">
                <a:solidFill>
                  <a:srgbClr val="FFFFFF"/>
                </a:solidFill>
              </a:defRPr>
            </a:pPr>
            <a:r>
              <a:t>Rapport.pdf.exe lancé par l'utilisateur</a:t>
            </a:r>
          </a:p>
        </p:txBody>
      </p:sp>
      <p:sp>
        <p:nvSpPr>
          <p:cNvPr id="9" name="Oval 8"/>
          <p:cNvSpPr/>
          <p:nvPr/>
        </p:nvSpPr>
        <p:spPr>
          <a:xfrm>
            <a:off x="6797833" y="2050000"/>
            <a:ext cx="520000" cy="520000"/>
          </a:xfrm>
          <a:prstGeom prst="ellipse">
            <a:avLst/>
          </a:prstGeom>
          <a:solidFill>
            <a:srgbClr val="E6B729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1000" y="2740000"/>
            <a:ext cx="1773666" cy="1750000"/>
          </a:xfrm>
          <a:prstGeom prst="roundRect">
            <a:avLst/>
          </a:prstGeom>
          <a:solidFill>
            <a:srgbClr val="153A3D"/>
          </a:solidFill>
          <a:ln w="12700">
            <a:solidFill>
              <a:srgbClr val="E6B7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76200" rIns="63500" bIns="76200" rtlCol="0" anchor="ctr"/>
          <a:lstStyle/>
          <a:p>
            <a:pPr algn="ctr">
              <a:spcAft>
                <a:spcPts val="500"/>
              </a:spcAft>
              <a:defRPr sz="1200" b="1">
                <a:solidFill>
                  <a:srgbClr val="FFFFFF"/>
                </a:solidFill>
              </a:defRPr>
            </a:pPr>
            <a:r>
              <a:t>Relance</a:t>
            </a:r>
          </a:p>
          <a:p>
            <a:pPr algn="ctr">
              <a:defRPr sz="1000">
                <a:solidFill>
                  <a:srgbClr val="FFFFFF"/>
                </a:solidFill>
              </a:defRPr>
            </a:pPr>
            <a:r>
              <a:t>Clé RunOnce déployée (updater.exe)</a:t>
            </a:r>
          </a:p>
        </p:txBody>
      </p:sp>
      <p:sp>
        <p:nvSpPr>
          <p:cNvPr id="11" name="Oval 10"/>
          <p:cNvSpPr/>
          <p:nvPr/>
        </p:nvSpPr>
        <p:spPr>
          <a:xfrm>
            <a:off x="8721500" y="2050000"/>
            <a:ext cx="520000" cy="520000"/>
          </a:xfrm>
          <a:prstGeom prst="ellipse">
            <a:avLst/>
          </a:prstGeom>
          <a:solidFill>
            <a:srgbClr val="E6B729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4666" y="2740000"/>
            <a:ext cx="1773666" cy="1750000"/>
          </a:xfrm>
          <a:prstGeom prst="roundRect">
            <a:avLst/>
          </a:prstGeom>
          <a:solidFill>
            <a:srgbClr val="153A3D"/>
          </a:solidFill>
          <a:ln w="12700">
            <a:solidFill>
              <a:srgbClr val="E6B7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76200" rIns="63500" bIns="76200" rtlCol="0" anchor="ctr"/>
          <a:lstStyle/>
          <a:p>
            <a:pPr algn="ctr">
              <a:spcAft>
                <a:spcPts val="500"/>
              </a:spcAft>
              <a:defRPr sz="1200" b="1">
                <a:solidFill>
                  <a:srgbClr val="FFFFFF"/>
                </a:solidFill>
              </a:defRPr>
            </a:pPr>
            <a:r>
              <a:t>Accès distant</a:t>
            </a:r>
          </a:p>
          <a:p>
            <a:pPr algn="ctr">
              <a:defRPr sz="1000">
                <a:solidFill>
                  <a:srgbClr val="FFFFFF"/>
                </a:solidFill>
              </a:defRPr>
            </a:pPr>
            <a:r>
              <a:t>Ncat en écoute sur le port TCP/42890</a:t>
            </a:r>
          </a:p>
        </p:txBody>
      </p:sp>
      <p:sp>
        <p:nvSpPr>
          <p:cNvPr id="13" name="Oval 12"/>
          <p:cNvSpPr/>
          <p:nvPr/>
        </p:nvSpPr>
        <p:spPr>
          <a:xfrm>
            <a:off x="10645166" y="2050000"/>
            <a:ext cx="520000" cy="520000"/>
          </a:xfrm>
          <a:prstGeom prst="ellipse">
            <a:avLst/>
          </a:prstGeom>
          <a:solidFill>
            <a:srgbClr val="E6B729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018333" y="2740000"/>
            <a:ext cx="1773666" cy="1750000"/>
          </a:xfrm>
          <a:prstGeom prst="roundRect">
            <a:avLst/>
          </a:prstGeom>
          <a:solidFill>
            <a:srgbClr val="153A3D"/>
          </a:solidFill>
          <a:ln w="12700">
            <a:solidFill>
              <a:srgbClr val="E6B7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76200" rIns="63500" bIns="76200" rtlCol="0" anchor="ctr"/>
          <a:lstStyle/>
          <a:p>
            <a:pPr algn="ctr">
              <a:spcAft>
                <a:spcPts val="500"/>
              </a:spcAft>
              <a:defRPr sz="1200" b="1">
                <a:solidFill>
                  <a:srgbClr val="FFFFFF"/>
                </a:solidFill>
              </a:defRPr>
            </a:pPr>
            <a:r>
              <a:t>Poste admin compromis</a:t>
            </a:r>
          </a:p>
          <a:p>
            <a:pPr algn="ctr">
              <a:defRPr sz="1000">
                <a:solidFill>
                  <a:srgbClr val="FFFFFF"/>
                </a:solidFill>
              </a:defRPr>
            </a:pPr>
            <a:r>
              <a:t>Risque élevé pour patissier.local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546833" y="2310000"/>
            <a:ext cx="1403667" cy="0"/>
          </a:xfrm>
          <a:prstGeom prst="line">
            <a:avLst/>
          </a:prstGeom>
          <a:ln w="22225">
            <a:solidFill>
              <a:srgbClr val="FFFFF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3470500" y="2310000"/>
            <a:ext cx="1403666" cy="0"/>
          </a:xfrm>
          <a:prstGeom prst="line">
            <a:avLst/>
          </a:prstGeom>
          <a:ln w="22225">
            <a:solidFill>
              <a:srgbClr val="FFFFF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5394166" y="2310000"/>
            <a:ext cx="1403667" cy="0"/>
          </a:xfrm>
          <a:prstGeom prst="line">
            <a:avLst/>
          </a:prstGeom>
          <a:ln w="22225">
            <a:solidFill>
              <a:srgbClr val="FFFFF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7317833" y="2310000"/>
            <a:ext cx="1403667" cy="0"/>
          </a:xfrm>
          <a:prstGeom prst="line">
            <a:avLst/>
          </a:prstGeom>
          <a:ln w="22225">
            <a:solidFill>
              <a:srgbClr val="FFFFF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9241500" y="2310000"/>
            <a:ext cx="1403666" cy="0"/>
          </a:xfrm>
          <a:prstGeom prst="line">
            <a:avLst/>
          </a:prstGeom>
          <a:ln w="22225">
            <a:solidFill>
              <a:srgbClr val="FFFFF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46111" y="4840000"/>
            <a:ext cx="10899778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 i="1">
                <a:solidFill>
                  <a:srgbClr val="E6B729"/>
                </a:solidFill>
              </a:defRPr>
            </a:pPr>
            <a:r>
              <a:rPr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9061559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402AFBE-FDDC-D36B-D83E-93D8E92492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3312" y="1950000"/>
            <a:ext cx="4350000" cy="30623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B01513"/>
                </a:solidFill>
              </a:defRPr>
            </a:pPr>
            <a:r>
              <a:rPr dirty="0" err="1"/>
              <a:t>Synthèse</a:t>
            </a:r>
            <a:r>
              <a:rPr dirty="0"/>
              <a:t> de </a:t>
            </a:r>
            <a:r>
              <a:rPr dirty="0" err="1"/>
              <a:t>l'investigation</a:t>
            </a:r>
            <a:endParaRPr dirty="0"/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rPr dirty="0" err="1"/>
              <a:t>Détournement</a:t>
            </a:r>
            <a:r>
              <a:rPr dirty="0"/>
              <a:t> DNS (</a:t>
            </a:r>
            <a:r>
              <a:rPr dirty="0" err="1"/>
              <a:t>pfSense</a:t>
            </a:r>
            <a:r>
              <a:rPr dirty="0"/>
              <a:t>) </a:t>
            </a:r>
            <a:r>
              <a:rPr dirty="0" err="1"/>
              <a:t>redirigeant</a:t>
            </a:r>
            <a:r>
              <a:rPr dirty="0"/>
              <a:t> </a:t>
            </a:r>
            <a:r>
              <a:rPr dirty="0" err="1"/>
              <a:t>l'intranet</a:t>
            </a:r>
            <a:r>
              <a:rPr dirty="0"/>
              <a:t> vers </a:t>
            </a:r>
            <a:r>
              <a:rPr dirty="0" err="1"/>
              <a:t>l'attaquant</a:t>
            </a:r>
            <a:endParaRPr dirty="0"/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rPr dirty="0" err="1"/>
              <a:t>Exécution</a:t>
            </a:r>
            <a:r>
              <a:rPr dirty="0"/>
              <a:t> du </a:t>
            </a:r>
            <a:r>
              <a:rPr dirty="0" err="1"/>
              <a:t>fichier</a:t>
            </a:r>
            <a:r>
              <a:rPr dirty="0"/>
              <a:t> </a:t>
            </a:r>
            <a:r>
              <a:rPr dirty="0" err="1"/>
              <a:t>piégé</a:t>
            </a:r>
            <a:r>
              <a:rPr dirty="0"/>
              <a:t> Rapport.pdf.exe par </a:t>
            </a:r>
            <a:r>
              <a:rPr dirty="0" err="1"/>
              <a:t>l'utilisateur</a:t>
            </a:r>
            <a:endParaRPr dirty="0"/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rPr lang="fr-FR" sz="1400" dirty="0">
                <a:solidFill>
                  <a:srgbClr val="FFFFFF"/>
                </a:solidFill>
              </a:rPr>
              <a:t>Persistance assurée par la clé </a:t>
            </a:r>
            <a:r>
              <a:rPr lang="fr-FR" sz="1400" dirty="0" err="1">
                <a:solidFill>
                  <a:srgbClr val="FFFFFF"/>
                </a:solidFill>
              </a:rPr>
              <a:t>RunOnce</a:t>
            </a:r>
            <a:r>
              <a:rPr lang="fr-FR" sz="1400" dirty="0">
                <a:solidFill>
                  <a:srgbClr val="FFFFFF"/>
                </a:solidFill>
              </a:rPr>
              <a:t> ‘Updater ’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rPr dirty="0"/>
              <a:t>Canal </a:t>
            </a:r>
            <a:r>
              <a:rPr dirty="0" err="1"/>
              <a:t>d’accès</a:t>
            </a:r>
            <a:r>
              <a:rPr dirty="0"/>
              <a:t> distant disponible via </a:t>
            </a:r>
            <a:r>
              <a:rPr dirty="0" err="1"/>
              <a:t>Ncat</a:t>
            </a:r>
            <a:r>
              <a:rPr dirty="0"/>
              <a:t> sur le port TCP/42890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rPr dirty="0"/>
              <a:t>Poste </a:t>
            </a:r>
            <a:r>
              <a:rPr dirty="0" err="1"/>
              <a:t>administrateur</a:t>
            </a:r>
            <a:r>
              <a:rPr dirty="0"/>
              <a:t> </a:t>
            </a:r>
            <a:r>
              <a:rPr dirty="0" err="1"/>
              <a:t>compromis</a:t>
            </a:r>
            <a:r>
              <a:rPr dirty="0"/>
              <a:t> ; </a:t>
            </a:r>
            <a:r>
              <a:rPr dirty="0" err="1"/>
              <a:t>domaine</a:t>
            </a:r>
            <a:r>
              <a:rPr dirty="0"/>
              <a:t> </a:t>
            </a:r>
            <a:r>
              <a:rPr dirty="0" err="1"/>
              <a:t>patissier.local</a:t>
            </a:r>
            <a:r>
              <a:rPr dirty="0"/>
              <a:t> exposé à un </a:t>
            </a:r>
            <a:r>
              <a:rPr dirty="0" err="1"/>
              <a:t>risque</a:t>
            </a:r>
            <a:r>
              <a:rPr dirty="0"/>
              <a:t> </a:t>
            </a:r>
            <a:r>
              <a:rPr dirty="0" err="1"/>
              <a:t>élevé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5753312" y="1950000"/>
            <a:ext cx="4650000" cy="4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6AAC90"/>
                </a:solidFill>
              </a:defRPr>
            </a:pPr>
            <a:r>
              <a:t>Recommandations principales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Isoler immédiatement le poste compromis du réseau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Supprimer la valeur RunOnce malveillante et les exécutables associés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Bloquer l’IP 10.10.0.132 et le port TCP/42890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Supprimer le Host Override malveillant sur pfSense et vérifier les modifications DNS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Renforcer la surveillance et sensibiliser les utilisateurs</a:t>
            </a:r>
          </a:p>
        </p:txBody>
      </p:sp>
    </p:spTree>
    <p:extLst>
      <p:ext uri="{BB962C8B-B14F-4D97-AF65-F5344CB8AC3E}">
        <p14:creationId xmlns:p14="http://schemas.microsoft.com/office/powerpoint/2010/main" val="109716891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B6493B6-AE5C-E842-30FB-88298F74A7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1C3B737-1B2A-98D2-6BDB-DDD427310D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FR" sz="4000" dirty="0"/>
              <a:t>MERCI POUR VOTRE ATTENTION</a:t>
            </a:r>
          </a:p>
        </p:txBody>
      </p:sp>
    </p:spTree>
    <p:extLst>
      <p:ext uri="{BB962C8B-B14F-4D97-AF65-F5344CB8AC3E}">
        <p14:creationId xmlns:p14="http://schemas.microsoft.com/office/powerpoint/2010/main" val="262216527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7860</TotalTime>
  <Words>1815</Words>
  <Application>Microsoft Office PowerPoint</Application>
  <PresentationFormat>Grand écran</PresentationFormat>
  <Paragraphs>269</Paragraphs>
  <Slides>29</Slides>
  <Notes>12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29</vt:i4>
      </vt:variant>
    </vt:vector>
  </HeadingPairs>
  <TitlesOfParts>
    <vt:vector size="36" baseType="lpstr">
      <vt:lpstr>Aptos</vt:lpstr>
      <vt:lpstr>Arial</vt:lpstr>
      <vt:lpstr>Calibri</vt:lpstr>
      <vt:lpstr>Century Gothic</vt:lpstr>
      <vt:lpstr>Consolas</vt:lpstr>
      <vt:lpstr>Wingdings 3</vt:lpstr>
      <vt:lpstr>Ion</vt:lpstr>
      <vt:lpstr>Présentation PowerPoint</vt:lpstr>
      <vt:lpstr>SOMMAIRE</vt:lpstr>
      <vt:lpstr>Présentation de l’entreprise</vt:lpstr>
      <vt:lpstr>Contexte</vt:lpstr>
      <vt:lpstr>Méthodologie</vt:lpstr>
      <vt:lpstr>Schema global du projet</vt:lpstr>
      <vt:lpstr>Présentation PowerPoint</vt:lpstr>
      <vt:lpstr>Les artefacts à analyser</vt:lpstr>
      <vt:lpstr>Transfert des artefacts vers la machine d’analyse Kali Linux</vt:lpstr>
      <vt:lpstr>Montage et accès au dossier partagé sous Kali Linux</vt:lpstr>
      <vt:lpstr>Vérification de l’intégrité des artefacts</vt:lpstr>
      <vt:lpstr>Recherche des processus</vt:lpstr>
      <vt:lpstr>Relations parent-enfant entre les processus</vt:lpstr>
      <vt:lpstr> </vt:lpstr>
      <vt:lpstr>Vérifier que le pare-feu autorise Ncat</vt:lpstr>
      <vt:lpstr>Reconstitution de l’accès distant</vt:lpstr>
      <vt:lpstr>Présentation PowerPoint</vt:lpstr>
      <vt:lpstr>Recherche du mécanisme de persistance</vt:lpstr>
      <vt:lpstr>Reconstitution de la persistance de l’incident</vt:lpstr>
      <vt:lpstr>Présentation PowerPoint</vt:lpstr>
      <vt:lpstr>Recherche du fichier malveillant</vt:lpstr>
      <vt:lpstr>Indice d’exécution de Rapport.pdf.exe</vt:lpstr>
      <vt:lpstr>Paramètres réseau dans la configuration pfSense</vt:lpstr>
      <vt:lpstr>Reconstitution de l’infection</vt:lpstr>
      <vt:lpstr>Cartographie MITRE ATT&amp;CK</vt:lpstr>
      <vt:lpstr>Indicateurs de compromission (IOC)</vt:lpstr>
      <vt:lpstr>Chronologie globale de l'attaque</vt:lpstr>
      <vt:lpstr>Conclusion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Cedric Dezszer</dc:creator>
  <cp:lastModifiedBy>Cedric Dezszer</cp:lastModifiedBy>
  <cp:revision>212</cp:revision>
  <dcterms:created xsi:type="dcterms:W3CDTF">2026-07-15T13:44:27Z</dcterms:created>
  <dcterms:modified xsi:type="dcterms:W3CDTF">2026-10-02T12:59:42Z</dcterms:modified>
</cp:coreProperties>
</file>