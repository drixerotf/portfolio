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4" r:id="rId1"/>
  </p:sldMasterIdLst>
  <p:notesMasterIdLst>
    <p:notesMasterId r:id="rId32"/>
  </p:notesMasterIdLst>
  <p:sldIdLst>
    <p:sldId id="256" r:id="rId2"/>
    <p:sldId id="333" r:id="rId3"/>
    <p:sldId id="325" r:id="rId4"/>
    <p:sldId id="327" r:id="rId5"/>
    <p:sldId id="328" r:id="rId6"/>
    <p:sldId id="313" r:id="rId7"/>
    <p:sldId id="331" r:id="rId8"/>
    <p:sldId id="302" r:id="rId9"/>
    <p:sldId id="314" r:id="rId10"/>
    <p:sldId id="312" r:id="rId11"/>
    <p:sldId id="315" r:id="rId12"/>
    <p:sldId id="307" r:id="rId13"/>
    <p:sldId id="316" r:id="rId14"/>
    <p:sldId id="287" r:id="rId15"/>
    <p:sldId id="305" r:id="rId16"/>
    <p:sldId id="324" r:id="rId17"/>
    <p:sldId id="306" r:id="rId18"/>
    <p:sldId id="309" r:id="rId19"/>
    <p:sldId id="319" r:id="rId20"/>
    <p:sldId id="323" r:id="rId21"/>
    <p:sldId id="317" r:id="rId22"/>
    <p:sldId id="318" r:id="rId23"/>
    <p:sldId id="320" r:id="rId24"/>
    <p:sldId id="310" r:id="rId25"/>
    <p:sldId id="311" r:id="rId26"/>
    <p:sldId id="329" r:id="rId27"/>
    <p:sldId id="337" r:id="rId28"/>
    <p:sldId id="330" r:id="rId29"/>
    <p:sldId id="321" r:id="rId30"/>
    <p:sldId id="32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82778-74A5-4BD9-B0CD-5E91220712C8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0521DF-95D5-442D-8E62-01B2C8362C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035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CLE : expliquer que le dossier partagé VMware ('Partage') permet de transférer les preuves de la machine hôte vers la VM Kali SANS les modifier (intégrité de la preuve — principe de base en forensic). Chemin hôte : C:\Users\Cedric\Desktop\Partage.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POINT CLE : </a:t>
            </a:r>
            <a:r>
              <a:rPr dirty="0" err="1"/>
              <a:t>détailler</a:t>
            </a:r>
            <a:r>
              <a:rPr dirty="0"/>
              <a:t> les </a:t>
            </a:r>
            <a:r>
              <a:rPr dirty="0" err="1"/>
              <a:t>commandes</a:t>
            </a:r>
            <a:r>
              <a:rPr dirty="0"/>
              <a:t> dans </a:t>
            </a:r>
            <a:r>
              <a:rPr dirty="0" err="1"/>
              <a:t>l'ordre</a:t>
            </a:r>
            <a:r>
              <a:rPr dirty="0"/>
              <a:t> : </a:t>
            </a:r>
          </a:p>
          <a:p>
            <a:r>
              <a:rPr dirty="0"/>
              <a:t>1) </a:t>
            </a:r>
            <a:r>
              <a:rPr dirty="0" err="1"/>
              <a:t>vmware-hgfsclient</a:t>
            </a:r>
            <a:r>
              <a:rPr dirty="0"/>
              <a:t> → </a:t>
            </a:r>
            <a:r>
              <a:rPr dirty="0" err="1"/>
              <a:t>vérifie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VMware </a:t>
            </a:r>
            <a:r>
              <a:rPr dirty="0" err="1"/>
              <a:t>détecte</a:t>
            </a:r>
            <a:r>
              <a:rPr dirty="0"/>
              <a:t> le partage</a:t>
            </a:r>
          </a:p>
          <a:p>
            <a:r>
              <a:rPr dirty="0"/>
              <a:t>2) </a:t>
            </a:r>
            <a:r>
              <a:rPr dirty="0" err="1"/>
              <a:t>mkdir</a:t>
            </a:r>
            <a:r>
              <a:rPr dirty="0"/>
              <a:t> -p /</a:t>
            </a:r>
            <a:r>
              <a:rPr dirty="0" err="1"/>
              <a:t>mnt</a:t>
            </a:r>
            <a:r>
              <a:rPr dirty="0"/>
              <a:t>/</a:t>
            </a:r>
            <a:r>
              <a:rPr dirty="0" err="1"/>
              <a:t>hgfs</a:t>
            </a:r>
            <a:r>
              <a:rPr dirty="0"/>
              <a:t> → </a:t>
            </a:r>
            <a:r>
              <a:rPr dirty="0" err="1"/>
              <a:t>crée</a:t>
            </a:r>
            <a:r>
              <a:rPr dirty="0"/>
              <a:t> le point de montage</a:t>
            </a:r>
          </a:p>
          <a:p>
            <a:r>
              <a:rPr dirty="0"/>
              <a:t>3) </a:t>
            </a:r>
            <a:r>
              <a:rPr dirty="0" err="1"/>
              <a:t>vmhgfs</a:t>
            </a:r>
            <a:r>
              <a:rPr dirty="0"/>
              <a:t>-fuse .host:/ /</a:t>
            </a:r>
            <a:r>
              <a:rPr dirty="0" err="1"/>
              <a:t>mnt</a:t>
            </a:r>
            <a:r>
              <a:rPr dirty="0"/>
              <a:t>/</a:t>
            </a:r>
            <a:r>
              <a:rPr dirty="0" err="1"/>
              <a:t>hgfs</a:t>
            </a:r>
            <a:r>
              <a:rPr dirty="0"/>
              <a:t> -o </a:t>
            </a:r>
            <a:r>
              <a:rPr dirty="0" err="1"/>
              <a:t>allow_other</a:t>
            </a:r>
            <a:r>
              <a:rPr dirty="0"/>
              <a:t> → monte le partage</a:t>
            </a:r>
          </a:p>
          <a:p>
            <a:r>
              <a:rPr dirty="0"/>
              <a:t>4) cd vers Artefacts/files </a:t>
            </a:r>
            <a:r>
              <a:rPr dirty="0" err="1"/>
              <a:t>puis</a:t>
            </a:r>
            <a:r>
              <a:rPr dirty="0"/>
              <a:t> ls -</a:t>
            </a:r>
            <a:r>
              <a:rPr dirty="0" err="1"/>
              <a:t>lah</a:t>
            </a:r>
            <a:endParaRPr dirty="0"/>
          </a:p>
          <a:p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étape est </a:t>
            </a:r>
            <a:r>
              <a:rPr dirty="0" err="1"/>
              <a:t>tracée</a:t>
            </a:r>
            <a:r>
              <a:rPr dirty="0"/>
              <a:t> = rigueur </a:t>
            </a:r>
            <a:r>
              <a:rPr dirty="0" err="1"/>
              <a:t>méthodologique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CLE : commande 'rg "5132" open_ports.txt'. Résultat : le PID 5132 (ncat.exe) écoute en LISTENING sur le port TCP 42890, sur toutes les interfaces (0.0.0.0). C'est le port utilisé par l'attaquant pour se connecter à distance au poste de Bob.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521DF-95D5-442D-8E62-01B2C8362CC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898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CLE : montrer l'historique des téléchargements de Bob. On y trouve Rapport.pdf.exe dans C:\Users\bob_newman\Downloads, à côté d'autres téléchargements (nmap-7.93-setup, un faux 'Firefox Installer'). Insister sur le nom trompeur à double extension '.pdf.exe' : c'est la technique de camouflage utilisée pour tromper Bob.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920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011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941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890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89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812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512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367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914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039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3644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652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08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707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2118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7040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10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5D4E29-848B-43B4-8C89-3D2976CD959E}" type="datetimeFigureOut">
              <a:rPr lang="fr-FR" smtClean="0"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1699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  <p:sldLayoutId id="2147484037" r:id="rId13"/>
    <p:sldLayoutId id="2147484038" r:id="rId14"/>
    <p:sldLayoutId id="2147484039" r:id="rId15"/>
    <p:sldLayoutId id="2147484040" r:id="rId16"/>
    <p:sldLayoutId id="214748404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3A73EDC-8D25-A7AE-76C5-68D1FA1F7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46" y="2621694"/>
            <a:ext cx="10763989" cy="988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8000"/>
              </a:lnSpc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compromission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poste Windows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28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C2F0CB-6DD6-AA20-DF1A-697A3AA80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09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60A6FF2-6B72-0130-E419-FE918A5909E2}"/>
              </a:ext>
            </a:extLst>
          </p:cNvPr>
          <p:cNvSpPr txBox="1"/>
          <p:nvPr/>
        </p:nvSpPr>
        <p:spPr>
          <a:xfrm>
            <a:off x="6914637" y="1156095"/>
            <a:ext cx="2561303" cy="400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+mj-lt"/>
                <a:cs typeface="Calibri" panose="020F0502020204030204" pitchFamily="34" charset="0"/>
              </a:rPr>
              <a:t>Liora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81DE9D3-67B7-647B-4927-44B8E48C8EAE}"/>
              </a:ext>
            </a:extLst>
          </p:cNvPr>
          <p:cNvSpPr txBox="1"/>
          <p:nvPr/>
        </p:nvSpPr>
        <p:spPr>
          <a:xfrm>
            <a:off x="82282" y="244459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Douali</a:t>
            </a:r>
            <a:r>
              <a:rPr lang="fr-FR" dirty="0"/>
              <a:t> Cedric</a:t>
            </a:r>
          </a:p>
          <a:p>
            <a:r>
              <a:rPr lang="fr-FR" dirty="0"/>
              <a:t>2025-2026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7C8CF6-A941-420F-860F-A4CECC180A10}"/>
              </a:ext>
            </a:extLst>
          </p:cNvPr>
          <p:cNvSpPr txBox="1"/>
          <p:nvPr/>
        </p:nvSpPr>
        <p:spPr>
          <a:xfrm>
            <a:off x="798746" y="4263863"/>
            <a:ext cx="76195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</a:t>
            </a:r>
            <a:r>
              <a:rPr lang="en-US" sz="15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Pâtissier — Compromission de </a:t>
            </a: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l'Active</a:t>
            </a:r>
            <a:r>
              <a:rPr lang="en-US" sz="15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Directory via </a:t>
            </a: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5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</a:t>
            </a: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d'administration</a:t>
            </a:r>
            <a:endParaRPr lang="en-US" sz="15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3C2757B-7B7D-5B32-308F-3D46DE0107AA}"/>
              </a:ext>
            </a:extLst>
          </p:cNvPr>
          <p:cNvSpPr txBox="1"/>
          <p:nvPr/>
        </p:nvSpPr>
        <p:spPr>
          <a:xfrm>
            <a:off x="798746" y="5109011"/>
            <a:ext cx="6098458" cy="1147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</a:t>
            </a: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3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diplome</a:t>
            </a: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
</a:t>
            </a: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n-US" sz="13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étudiée</a:t>
            </a: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DESKTOP-E3LJDVT (10.0.1.3) — poste de Bob Newman
</a:t>
            </a:r>
            <a:r>
              <a:rPr lang="en-US" sz="13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bob_newman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: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patissier.local</a:t>
            </a:r>
            <a:endParaRPr lang="en-US" sz="1300" dirty="0"/>
          </a:p>
        </p:txBody>
      </p:sp>
      <p:pic>
        <p:nvPicPr>
          <p:cNvPr id="15" name="Image 14" descr="Employés de Liora, lieu, anciens employés | LinkedIn">
            <a:extLst>
              <a:ext uri="{FF2B5EF4-FFF2-40B4-BE49-F238E27FC236}">
                <a16:creationId xmlns:a16="http://schemas.microsoft.com/office/drawing/2014/main" id="{5FB19A64-1FCD-6324-7C62-2A8E6FD56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671" y="26507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4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E5F026-1778-7C83-8D51-C9FA7FDCA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fr-FR">
                <a:solidFill>
                  <a:schemeClr val="bg2"/>
                </a:solidFill>
              </a:rPr>
              <a:t>SOMMAIRE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1BA6CC24-B9A9-FCB4-AB10-C3DD48971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600" dirty="0"/>
              <a:t>Présentation de l'entreprise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Durée du projet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Contexte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Méthodologie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Cartographie du réseau Pâtissier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Schéma global du projet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Partie 1 — Identifier l'accès à distance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Partie 2 — Déterminer le mécanisme de persistance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Partie 3 — Reconstitution de l'infection initiale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Cartographie MITRE ATT&amp;CK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Chronologie globale de l'attaque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Conclusion</a:t>
            </a:r>
          </a:p>
          <a:p>
            <a:pPr>
              <a:lnSpc>
                <a:spcPct val="90000"/>
              </a:lnSpc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  <a:p>
            <a:pPr marL="0" indent="0">
              <a:lnSpc>
                <a:spcPct val="90000"/>
              </a:lnSpc>
              <a:buNone/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87476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Presentation de </a:t>
            </a:r>
            <a:r>
              <a:rPr lang="fr-FR" dirty="0"/>
              <a:t>l’entreprise</a:t>
            </a:r>
            <a:endParaRPr dirty="0"/>
          </a:p>
        </p:txBody>
      </p:sp>
      <p:pic>
        <p:nvPicPr>
          <p:cNvPr id="4" name="Espace réservé du contenu 3" descr="Vitrine Pâtisserie | Innovation, élégance et fraîcheur | Someva">
            <a:extLst>
              <a:ext uri="{FF2B5EF4-FFF2-40B4-BE49-F238E27FC236}">
                <a16:creationId xmlns:a16="http://schemas.microsoft.com/office/drawing/2014/main" id="{4E7A807F-FEFF-A956-E0E0-2422091EC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401" y="1638300"/>
            <a:ext cx="4023360" cy="2667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F69C061-41E6-1F72-2C22-5C454862B922}"/>
              </a:ext>
            </a:extLst>
          </p:cNvPr>
          <p:cNvSpPr txBox="1"/>
          <p:nvPr/>
        </p:nvSpPr>
        <p:spPr>
          <a:xfrm>
            <a:off x="4829905" y="1638300"/>
            <a:ext cx="5589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1- Pâtissier : entreprise artisanale multi-boutiques,   disposant d'un site de production et d'une activité de vente en ligne en croissance</a:t>
            </a: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CB8A38-0627-4C94-EE90-8CED466D20F7}"/>
              </a:ext>
            </a:extLst>
          </p:cNvPr>
          <p:cNvSpPr txBox="1"/>
          <p:nvPr/>
        </p:nvSpPr>
        <p:spPr>
          <a:xfrm>
            <a:off x="4829905" y="2838629"/>
            <a:ext cx="5633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2- Système d'information structuré autour d'un domaine Active Directory (</a:t>
            </a:r>
            <a:r>
              <a:rPr lang="fr-FR" dirty="0" err="1"/>
              <a:t>patissier.local</a:t>
            </a:r>
            <a:r>
              <a:rPr lang="fr-FR" dirty="0"/>
              <a:t>) et d'une infrastructure Windows classique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7562B3D-FB28-4905-2BF6-CABA698E588F}"/>
              </a:ext>
            </a:extLst>
          </p:cNvPr>
          <p:cNvSpPr txBox="1"/>
          <p:nvPr/>
        </p:nvSpPr>
        <p:spPr>
          <a:xfrm>
            <a:off x="4829905" y="4003394"/>
            <a:ext cx="57004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3- Postes de travail administrés à distance, dont celui de Bob Newman, administrateur du domaine</a:t>
            </a:r>
          </a:p>
          <a:p>
            <a:endParaRPr lang="fr-FR" dirty="0"/>
          </a:p>
          <a:p>
            <a:r>
              <a:rPr lang="fr-FR" dirty="0"/>
              <a:t>4- Intranet d'entreprise accessible au personnel pour la gestion des commandes et des documents internes.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Durée </a:t>
            </a:r>
            <a:r>
              <a:rPr dirty="0"/>
              <a:t>du </a:t>
            </a:r>
            <a:r>
              <a:rPr dirty="0" err="1"/>
              <a:t>projet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680919"/>
              </p:ext>
            </p:extLst>
          </p:nvPr>
        </p:nvGraphicFramePr>
        <p:xfrm>
          <a:off x="1103312" y="2050000"/>
          <a:ext cx="9985376" cy="2833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5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66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</a:rPr>
                        <a:t>Poste</a:t>
                      </a:r>
                    </a:p>
                  </a:txBody>
                  <a:tcPr marL="101600" marT="50800" marB="508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Charge estimée</a:t>
                      </a:r>
                    </a:p>
                  </a:txBody>
                  <a:tcPr marL="101600" marT="50800" marB="50800" anchor="ctr">
                    <a:solidFill>
                      <a:srgbClr val="B01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</a:rPr>
                        <a:t>Collecte et acquisition des artefacts</a:t>
                      </a:r>
                    </a:p>
                  </a:txBody>
                  <a:tcPr marL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1 jour</a:t>
                      </a:r>
                    </a:p>
                  </a:txBody>
                  <a:tcPr marL="101600" marT="50800" marB="508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</a:rPr>
                        <a:t>Analyse forensic (processus, registre, réseau, pare-feu)</a:t>
                      </a:r>
                    </a:p>
                  </a:txBody>
                  <a:tcPr marL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3 jours</a:t>
                      </a:r>
                    </a:p>
                  </a:txBody>
                  <a:tcPr marL="101600" marT="50800" marB="508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</a:rPr>
                        <a:t>Corrélation et reconstruction de la chronologie</a:t>
                      </a:r>
                    </a:p>
                  </a:txBody>
                  <a:tcPr marL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1,5 jour</a:t>
                      </a:r>
                    </a:p>
                  </a:txBody>
                  <a:tcPr marL="101600" marT="50800" marB="508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</a:rPr>
                        <a:t>Rédaction du rapport et des recommandations</a:t>
                      </a:r>
                    </a:p>
                  </a:txBody>
                  <a:tcPr marL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FFFFFF"/>
                          </a:solidFill>
                        </a:rPr>
                        <a:t>1 jour</a:t>
                      </a:r>
                    </a:p>
                  </a:txBody>
                  <a:tcPr marL="101600" marT="50800" marB="508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FD93E-6E51-D3C2-5CE4-1B1A6B4F4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defRPr sz="1700" b="0">
                <a:solidFill>
                  <a:srgbClr val="FFFFFF"/>
                </a:solidFill>
              </a:defRPr>
            </a:pPr>
            <a:r>
              <a:t>L'entreprise Pâtissier a détecté une activité réseau anormale associée au poste de son administrateur système</a:t>
            </a:r>
            <a:endParaRPr lang="fr-FR"/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Ce poste dispose de privilèges élevés sur le domaine Active Directory patissier.local, ce qui en fait une cible à fort impact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Une compromission de ce poste expose l'ensemble de l'infrastructure à un risque de mouvement latéral et de prise de contrôle du domaine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La mission a été déclenchée en réponse à incident (RI) afin de confirmer, qualifier et documenter la compromission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Cette analyse suit une démarche forensic classique : collecte, analyse, corrélation, restitution</a:t>
            </a:r>
          </a:p>
        </p:txBody>
      </p:sp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FD93E-6E51-D3C2-5CE4-1B1A6B4F4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Collecte</a:t>
            </a:r>
            <a:r>
              <a:rPr dirty="0"/>
              <a:t> des artefacts sur la machine compromise :  </a:t>
            </a:r>
            <a:r>
              <a:rPr dirty="0" err="1"/>
              <a:t>registre</a:t>
            </a:r>
            <a:r>
              <a:rPr dirty="0"/>
              <a:t>, </a:t>
            </a:r>
            <a:r>
              <a:rPr lang="fr-FR" dirty="0"/>
              <a:t>configuration réseau, port, liste des processus</a:t>
            </a:r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Transfert</a:t>
            </a:r>
            <a:r>
              <a:rPr dirty="0"/>
              <a:t> </a:t>
            </a:r>
            <a:r>
              <a:rPr dirty="0" err="1"/>
              <a:t>sécurisé</a:t>
            </a:r>
            <a:r>
              <a:rPr dirty="0"/>
              <a:t> des </a:t>
            </a:r>
            <a:r>
              <a:rPr dirty="0" err="1"/>
              <a:t>preuves</a:t>
            </a:r>
            <a:r>
              <a:rPr dirty="0"/>
              <a:t> vers </a:t>
            </a:r>
            <a:r>
              <a:rPr dirty="0" err="1"/>
              <a:t>l'environnement</a:t>
            </a:r>
            <a:r>
              <a:rPr dirty="0"/>
              <a:t> </a:t>
            </a:r>
            <a:r>
              <a:rPr dirty="0" err="1"/>
              <a:t>d'analyse</a:t>
            </a:r>
            <a:r>
              <a:rPr dirty="0"/>
              <a:t> forensic (VM Kali Linux) via un dossier </a:t>
            </a:r>
            <a:r>
              <a:rPr dirty="0" err="1"/>
              <a:t>partagé</a:t>
            </a:r>
            <a:r>
              <a:rPr dirty="0"/>
              <a:t> </a:t>
            </a:r>
            <a:r>
              <a:rPr dirty="0" err="1"/>
              <a:t>dédié</a:t>
            </a:r>
            <a:endParaRPr dirty="0"/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Analyse</a:t>
            </a:r>
            <a:r>
              <a:rPr dirty="0"/>
              <a:t> des artefacts : processus </a:t>
            </a:r>
            <a:r>
              <a:rPr dirty="0" err="1"/>
              <a:t>actifs</a:t>
            </a:r>
            <a:r>
              <a:rPr dirty="0"/>
              <a:t>, </a:t>
            </a:r>
            <a:r>
              <a:rPr dirty="0" err="1"/>
              <a:t>connexions</a:t>
            </a:r>
            <a:r>
              <a:rPr dirty="0"/>
              <a:t> réseau, </a:t>
            </a:r>
            <a:r>
              <a:rPr dirty="0" err="1"/>
              <a:t>clés</a:t>
            </a:r>
            <a:r>
              <a:rPr dirty="0"/>
              <a:t> de </a:t>
            </a:r>
            <a:r>
              <a:rPr dirty="0" err="1"/>
              <a:t>registre</a:t>
            </a:r>
            <a:r>
              <a:rPr dirty="0"/>
              <a:t>, </a:t>
            </a:r>
            <a:r>
              <a:rPr dirty="0" err="1"/>
              <a:t>journaux</a:t>
            </a:r>
            <a:r>
              <a:rPr dirty="0"/>
              <a:t> </a:t>
            </a:r>
            <a:r>
              <a:rPr dirty="0" err="1"/>
              <a:t>système</a:t>
            </a:r>
            <a:r>
              <a:rPr dirty="0"/>
              <a:t> et pare-feu</a:t>
            </a:r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Corrélation</a:t>
            </a:r>
            <a:r>
              <a:rPr dirty="0"/>
              <a:t> des indices </a:t>
            </a:r>
            <a:r>
              <a:rPr dirty="0" err="1"/>
              <a:t>collectés</a:t>
            </a:r>
            <a:r>
              <a:rPr dirty="0"/>
              <a:t> </a:t>
            </a:r>
            <a:r>
              <a:rPr dirty="0" err="1"/>
              <a:t>afin</a:t>
            </a:r>
            <a:r>
              <a:rPr dirty="0"/>
              <a:t> de </a:t>
            </a:r>
            <a:r>
              <a:rPr dirty="0" err="1"/>
              <a:t>reconstituer</a:t>
            </a:r>
            <a:r>
              <a:rPr dirty="0"/>
              <a:t> la </a:t>
            </a:r>
            <a:r>
              <a:rPr dirty="0" err="1"/>
              <a:t>chronologie</a:t>
            </a:r>
            <a:r>
              <a:rPr dirty="0"/>
              <a:t> </a:t>
            </a:r>
            <a:r>
              <a:rPr dirty="0" err="1"/>
              <a:t>précise</a:t>
            </a:r>
            <a:r>
              <a:rPr dirty="0"/>
              <a:t> de </a:t>
            </a:r>
            <a:r>
              <a:rPr dirty="0" err="1"/>
              <a:t>l'attaque</a:t>
            </a:r>
            <a:endParaRPr dirty="0"/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Rédaction</a:t>
            </a:r>
            <a:r>
              <a:rPr dirty="0"/>
              <a:t> du rapport </a:t>
            </a:r>
            <a:r>
              <a:rPr dirty="0" err="1"/>
              <a:t>d'investigation</a:t>
            </a:r>
            <a:r>
              <a:rPr dirty="0"/>
              <a:t> et formulation des </a:t>
            </a:r>
            <a:r>
              <a:rPr dirty="0" err="1"/>
              <a:t>recommandations</a:t>
            </a:r>
            <a:r>
              <a:rPr dirty="0"/>
              <a:t> de </a:t>
            </a:r>
            <a:r>
              <a:rPr dirty="0" err="1"/>
              <a:t>remédiation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 err="1"/>
              <a:t>Schéma</a:t>
            </a:r>
            <a:r>
              <a:rPr sz="3600" dirty="0"/>
              <a:t> global du </a:t>
            </a:r>
            <a:r>
              <a:rPr sz="3600" dirty="0" err="1"/>
              <a:t>projet</a:t>
            </a:r>
            <a:endParaRPr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2825000" y="1308000"/>
            <a:ext cx="2985864" cy="1432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rPr dirty="0" err="1"/>
              <a:t>pfSense</a:t>
            </a:r>
            <a:r>
              <a:rPr dirty="0"/>
              <a:t> — </a:t>
            </a:r>
            <a:r>
              <a:rPr dirty="0" err="1"/>
              <a:t>Routeur</a:t>
            </a:r>
            <a:r>
              <a:rPr dirty="0"/>
              <a:t> / DNS / FW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E6B729"/>
                </a:solidFill>
              </a:defRPr>
            </a:pPr>
            <a:r>
              <a:rPr dirty="0"/>
              <a:t>www.intranet.fr  →  10.10.0.132</a:t>
            </a:r>
            <a:endParaRPr lang="fr-FR" dirty="0"/>
          </a:p>
          <a:p>
            <a:pPr algn="ctr">
              <a:spcAft>
                <a:spcPts val="200"/>
              </a:spcAft>
              <a:defRPr sz="1100" b="0">
                <a:solidFill>
                  <a:srgbClr val="E6B729"/>
                </a:solidFill>
              </a:defRPr>
            </a:pP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2505000" y="153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5000" y="2750000"/>
            <a:ext cx="0" cy="25000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5000" y="2760000"/>
            <a:ext cx="1800000" cy="24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 i="1">
                <a:solidFill>
                  <a:srgbClr val="FFFFFF"/>
                </a:solidFill>
              </a:defRPr>
            </a:pPr>
            <a:r>
              <a:t>réseau 10.0.1.0/24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000" y="3299999"/>
            <a:ext cx="2449997" cy="1704749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Serveur de l'attaquant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E6B729"/>
                </a:solidFill>
              </a:defRPr>
            </a:pPr>
            <a:r>
              <a:t>10.10.0.132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Faux intranet / fichier piégé</a:t>
            </a:r>
          </a:p>
        </p:txBody>
      </p:sp>
      <p:sp>
        <p:nvSpPr>
          <p:cNvPr id="8" name="Oval 7"/>
          <p:cNvSpPr/>
          <p:nvPr/>
        </p:nvSpPr>
        <p:spPr>
          <a:xfrm>
            <a:off x="330000" y="298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0000" y="3150000"/>
            <a:ext cx="3300000" cy="1793072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rPr dirty="0"/>
              <a:t>Poste de Bob — Windows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rPr dirty="0"/>
              <a:t>DESKTOP-E3LJDVT — 10.0.1.3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B729"/>
                </a:solidFill>
              </a:defRPr>
            </a:pPr>
            <a:r>
              <a:rPr dirty="0"/>
              <a:t>updater.exe  →  ncat.exe (TCP 42890)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B729"/>
                </a:solidFill>
              </a:defRPr>
            </a:pPr>
            <a:r>
              <a:rPr dirty="0"/>
              <a:t>Registry Run/</a:t>
            </a:r>
            <a:r>
              <a:rPr dirty="0" err="1"/>
              <a:t>RunOnce</a:t>
            </a:r>
            <a:r>
              <a:rPr dirty="0"/>
              <a:t> = </a:t>
            </a:r>
            <a:r>
              <a:rPr dirty="0" err="1"/>
              <a:t>persistance</a:t>
            </a:r>
            <a:endParaRPr lang="fr-FR" dirty="0"/>
          </a:p>
        </p:txBody>
      </p:sp>
      <p:sp>
        <p:nvSpPr>
          <p:cNvPr id="10" name="Oval 9"/>
          <p:cNvSpPr/>
          <p:nvPr/>
        </p:nvSpPr>
        <p:spPr>
          <a:xfrm>
            <a:off x="7730000" y="298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75000" y="3000000"/>
            <a:ext cx="2450000" cy="30000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4325000" y="3000000"/>
            <a:ext cx="2449996" cy="169999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0000" y="4075000"/>
            <a:ext cx="1650000" cy="0"/>
          </a:xfrm>
          <a:prstGeom prst="line">
            <a:avLst/>
          </a:prstGeom>
          <a:ln w="25400">
            <a:solidFill>
              <a:srgbClr val="B0151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775000" y="3365000"/>
            <a:ext cx="300000" cy="300000"/>
          </a:xfrm>
          <a:prstGeom prst="ellipse">
            <a:avLst/>
          </a:prstGeom>
          <a:solidFill>
            <a:srgbClr val="B0151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0000" y="3695000"/>
            <a:ext cx="1570000" cy="38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 i="1">
                <a:solidFill>
                  <a:srgbClr val="B01513"/>
                </a:solidFill>
              </a:defRPr>
            </a:pPr>
            <a:r>
              <a:t>téléchargement du fichier piégé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000" y="4850000"/>
            <a:ext cx="0" cy="700000"/>
          </a:xfrm>
          <a:prstGeom prst="line">
            <a:avLst/>
          </a:prstGeom>
          <a:ln w="25400">
            <a:solidFill>
              <a:srgbClr val="6AAC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74996" y="5113923"/>
            <a:ext cx="3700000" cy="24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 i="1">
                <a:solidFill>
                  <a:srgbClr val="6AAC90"/>
                </a:solidFill>
              </a:defRPr>
            </a:pPr>
            <a:r>
              <a:rPr dirty="0"/>
              <a:t>artefacts (</a:t>
            </a:r>
            <a:r>
              <a:rPr dirty="0" err="1"/>
              <a:t>mémoire</a:t>
            </a:r>
            <a:r>
              <a:rPr dirty="0"/>
              <a:t>, </a:t>
            </a:r>
            <a:r>
              <a:rPr dirty="0" err="1"/>
              <a:t>disque</a:t>
            </a:r>
            <a:r>
              <a:rPr dirty="0"/>
              <a:t>, </a:t>
            </a:r>
            <a:r>
              <a:rPr dirty="0" err="1"/>
              <a:t>registre</a:t>
            </a:r>
            <a:r>
              <a:rPr dirty="0"/>
              <a:t>, réseau)</a:t>
            </a:r>
          </a:p>
        </p:txBody>
      </p:sp>
      <p:sp>
        <p:nvSpPr>
          <p:cNvPr id="18" name="Oval 17"/>
          <p:cNvSpPr/>
          <p:nvPr/>
        </p:nvSpPr>
        <p:spPr>
          <a:xfrm>
            <a:off x="6250000" y="5080000"/>
            <a:ext cx="300000" cy="300000"/>
          </a:xfrm>
          <a:prstGeom prst="ellipse">
            <a:avLst/>
          </a:prstGeom>
          <a:solidFill>
            <a:srgbClr val="6AAC9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0000" y="5550000"/>
            <a:ext cx="3300000" cy="11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rPr dirty="0"/>
              <a:t>Kali Linux — </a:t>
            </a:r>
            <a:r>
              <a:rPr dirty="0" err="1"/>
              <a:t>Analyse</a:t>
            </a:r>
            <a:r>
              <a:rPr dirty="0"/>
              <a:t> forensic</a:t>
            </a:r>
            <a:endParaRPr lang="fr-FR" dirty="0"/>
          </a:p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rPr lang="fr-FR" dirty="0" err="1"/>
              <a:t>Commande:Rg</a:t>
            </a:r>
            <a:r>
              <a:rPr lang="fr-FR" dirty="0"/>
              <a:t> </a:t>
            </a:r>
          </a:p>
        </p:txBody>
      </p:sp>
      <p:sp>
        <p:nvSpPr>
          <p:cNvPr id="20" name="Oval 19"/>
          <p:cNvSpPr/>
          <p:nvPr/>
        </p:nvSpPr>
        <p:spPr>
          <a:xfrm>
            <a:off x="4430000" y="523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0000" y="1850000"/>
            <a:ext cx="3100000" cy="4750000"/>
          </a:xfrm>
          <a:prstGeom prst="roundRect">
            <a:avLst/>
          </a:prstGeom>
          <a:solidFill>
            <a:srgbClr val="112E3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27000" bIns="12700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E6B729"/>
                </a:solidFill>
              </a:defRPr>
            </a:pPr>
            <a:r>
              <a:t>Légende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E6B729"/>
                </a:solidFill>
              </a:rPr>
              <a:t>1.  </a:t>
            </a:r>
            <a:r>
              <a:rPr sz="1000">
                <a:solidFill>
                  <a:srgbClr val="FFFFFF"/>
                </a:solidFill>
              </a:rPr>
              <a:t>Détournement DNS sur pfSense : www.intranet.fr est redirigé vers le serveur de l'attaquant.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E6B729"/>
                </a:solidFill>
              </a:rPr>
              <a:t>2.  </a:t>
            </a:r>
            <a:r>
              <a:rPr sz="1000">
                <a:solidFill>
                  <a:srgbClr val="FFFFFF"/>
                </a:solidFill>
              </a:rPr>
              <a:t>Le serveur malveillant (10.10.0.132) héberge un faux intranet et le fichier piégé.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E6B729"/>
                </a:solidFill>
              </a:rPr>
              <a:t>3.  </a:t>
            </a:r>
            <a:r>
              <a:rPr sz="1000">
                <a:solidFill>
                  <a:srgbClr val="FFFFFF"/>
                </a:solidFill>
              </a:rPr>
              <a:t>Bob télécharge le fichier, croyant accéder à l'intranet légitime.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E6B729"/>
                </a:solidFill>
              </a:rPr>
              <a:t>4.  </a:t>
            </a:r>
            <a:r>
              <a:rPr sz="1000">
                <a:solidFill>
                  <a:srgbClr val="FFFFFF"/>
                </a:solidFill>
              </a:rPr>
              <a:t>updater.exe déploie ncat.exe (accès distant, port TCP 42890) et une clé Run/RunOnce (persistance).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E6B729"/>
                </a:solidFill>
              </a:rPr>
              <a:t>5.  </a:t>
            </a:r>
            <a:r>
              <a:rPr sz="1000">
                <a:solidFill>
                  <a:srgbClr val="FFFFFF"/>
                </a:solidFill>
              </a:rPr>
              <a:t>Les artefacts (mémoire, disque, registre, réseau) sont extraits du poste de Bob.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E6B729"/>
                </a:solidFill>
              </a:rPr>
              <a:t>6.  </a:t>
            </a:r>
            <a:r>
              <a:rPr sz="1000">
                <a:solidFill>
                  <a:srgbClr val="FFFFFF"/>
                </a:solidFill>
              </a:rPr>
              <a:t>Analyse forensic sous Kali Linux pour corréler les preuves et reconstituer l'attaque.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54849A"/>
                </a:solidFill>
              </a:rPr>
              <a:t>■ Infrastructure réseau</a:t>
            </a:r>
          </a:p>
          <a:p>
            <a:r>
              <a:rPr sz="950" b="1">
                <a:solidFill>
                  <a:srgbClr val="B01513"/>
                </a:solidFill>
              </a:rPr>
              <a:t>■ Attaquant / infrastructure malveillante</a:t>
            </a:r>
          </a:p>
          <a:p>
            <a:r>
              <a:rPr sz="950" b="1">
                <a:solidFill>
                  <a:srgbClr val="6AAC90"/>
                </a:solidFill>
              </a:rPr>
              <a:t>■ Environnement d'analyse forensic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5E92C2E9-3C12-FC11-E653-872C2A23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452" y="2153740"/>
            <a:ext cx="468425" cy="474508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8DF4236-AC02-DC31-E3F3-4A892341E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00" y="4428365"/>
            <a:ext cx="388878" cy="534707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6D95EB21-F67B-17D4-A850-0EBD8ED52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468" y="4457608"/>
            <a:ext cx="510688" cy="464784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87D74C8E-1A18-3FF5-8B81-C51AB2193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657" y="6100000"/>
            <a:ext cx="510688" cy="46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D2F372-6643-F695-C84A-DF156195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FF1E8A-CA54-C8CB-4BD5-272A5E98A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97163"/>
            <a:ext cx="8946541" cy="4195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l'accès distant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</a:t>
            </a:r>
            <a:endParaRPr lang="en-US" sz="3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3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91002C-9DFB-8266-4977-9F908863E003}"/>
              </a:ext>
            </a:extLst>
          </p:cNvPr>
          <p:cNvSpPr txBox="1"/>
          <p:nvPr/>
        </p:nvSpPr>
        <p:spPr>
          <a:xfrm>
            <a:off x="1103312" y="2368086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4813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12E1F-9F73-57F0-2E9D-78B79924B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Les artefacts à analyser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2B3E8B9-1A20-D15F-51A3-BD9934750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382" y="1853248"/>
            <a:ext cx="8947150" cy="230233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83EF3CE-51E1-14E3-1CDF-C510C2B8927E}"/>
              </a:ext>
            </a:extLst>
          </p:cNvPr>
          <p:cNvSpPr txBox="1"/>
          <p:nvPr/>
        </p:nvSpPr>
        <p:spPr>
          <a:xfrm>
            <a:off x="477382" y="4911213"/>
            <a:ext cx="8672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Ces artefacts seront analysés afin d’identifier le mécanisme d’accès distant, sa persistance et la méthode d’introduction du fichier malveillant sur la machine de Bob.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0000" y="1900000"/>
            <a:ext cx="1750000" cy="21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6B729"/>
                </a:solidFill>
              </a:defRPr>
            </a:pPr>
            <a:endParaRPr dirty="0"/>
          </a:p>
          <a:p>
            <a:pPr>
              <a:defRPr sz="1150">
                <a:solidFill>
                  <a:srgbClr val="FFFFFF"/>
                </a:solidFill>
              </a:defRPr>
            </a:pPr>
            <a:r>
              <a:rPr dirty="0"/>
              <a:t>8 artefacts </a:t>
            </a:r>
            <a:r>
              <a:rPr dirty="0" err="1"/>
              <a:t>collectés</a:t>
            </a:r>
            <a:r>
              <a:rPr dirty="0"/>
              <a:t> à c</a:t>
            </a:r>
            <a:r>
              <a:rPr lang="fr-FR" dirty="0" err="1"/>
              <a:t>orreler</a:t>
            </a:r>
            <a:r>
              <a:rPr lang="fr-FR" dirty="0"/>
              <a:t> </a:t>
            </a:r>
            <a:r>
              <a:rPr dirty="0"/>
              <a:t> : </a:t>
            </a:r>
            <a:r>
              <a:rPr dirty="0" err="1"/>
              <a:t>registre</a:t>
            </a:r>
            <a:r>
              <a:rPr dirty="0"/>
              <a:t>, réseau, pare-feu, processus.</a:t>
            </a:r>
          </a:p>
        </p:txBody>
      </p:sp>
    </p:spTree>
    <p:extLst>
      <p:ext uri="{BB962C8B-B14F-4D97-AF65-F5344CB8AC3E}">
        <p14:creationId xmlns:p14="http://schemas.microsoft.com/office/powerpoint/2010/main" val="1259176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8070DB-2A2D-086F-B05A-14AA9D48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452718"/>
            <a:ext cx="11545889" cy="1346585"/>
          </a:xfrm>
        </p:spPr>
        <p:txBody>
          <a:bodyPr/>
          <a:lstStyle/>
          <a:p>
            <a:r>
              <a:rPr lang="fr-FR" sz="2800" dirty="0"/>
              <a:t>Transfert des artefacts vers la machine d’analyse Kali Linux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7954887-3E46-4807-6EE5-DCD2A0983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1988294"/>
            <a:ext cx="5449889" cy="340343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14B5B15-2EB3-532C-392E-100909F6F5FC}"/>
              </a:ext>
            </a:extLst>
          </p:cNvPr>
          <p:cNvSpPr txBox="1"/>
          <p:nvPr/>
        </p:nvSpPr>
        <p:spPr>
          <a:xfrm>
            <a:off x="646111" y="5785850"/>
            <a:ext cx="9674942" cy="66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Configuration d’un dossier partagé VMware permettant de transférer les artefacts depuis la machine hôte vers la VM Kali Linux dédiée à l’analyse </a:t>
            </a:r>
            <a:r>
              <a:rPr lang="fr-FR" dirty="0" err="1"/>
              <a:t>forensic</a:t>
            </a:r>
            <a:r>
              <a:rPr lang="fr-FR" dirty="0"/>
              <a:t>.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77D99143-5E87-0F5D-D5D1-4190D82A8490}"/>
              </a:ext>
            </a:extLst>
          </p:cNvPr>
          <p:cNvCxnSpPr>
            <a:cxnSpLocks/>
          </p:cNvCxnSpPr>
          <p:nvPr/>
        </p:nvCxnSpPr>
        <p:spPr>
          <a:xfrm flipV="1">
            <a:off x="5842001" y="3650000"/>
            <a:ext cx="1517444" cy="332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6C41BCA5-0AB7-FB50-3069-3F03BE5E0675}"/>
              </a:ext>
            </a:extLst>
          </p:cNvPr>
          <p:cNvSpPr txBox="1"/>
          <p:nvPr/>
        </p:nvSpPr>
        <p:spPr>
          <a:xfrm>
            <a:off x="7462684" y="3215148"/>
            <a:ext cx="405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Dossier partagé entre la machine hôte et la machine virtuelle</a:t>
            </a:r>
          </a:p>
        </p:txBody>
      </p:sp>
    </p:spTree>
    <p:extLst>
      <p:ext uri="{BB962C8B-B14F-4D97-AF65-F5344CB8AC3E}">
        <p14:creationId xmlns:p14="http://schemas.microsoft.com/office/powerpoint/2010/main" val="295690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6D580-3C25-37BA-173B-3C5FBCA9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Montage et accès au dossier partagé sous Kali Linux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6422CF1-19C5-A690-9930-72B1D02F2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7586" y="1853248"/>
            <a:ext cx="6941627" cy="4195481"/>
          </a:xfrm>
        </p:spPr>
        <p:txBody>
          <a:bodyPr/>
          <a:lstStyle/>
          <a:p>
            <a:r>
              <a:rPr lang="fr-FR" dirty="0"/>
              <a:t>4 étapes clés : détecter le partage → créer le point de montage → monter → accéder aux artefacts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1E609A3-832D-1A55-C587-DDBF0B46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853248"/>
            <a:ext cx="418147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9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A16E5-F04B-3889-1EB8-9A9F30DD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Recherche des processus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3CA04B6-1025-955B-F302-A6CFDED22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3879" y="3178313"/>
            <a:ext cx="6334125" cy="107632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726CF36-2E00-3C24-A315-A7FE3C1D1FB3}"/>
              </a:ext>
            </a:extLst>
          </p:cNvPr>
          <p:cNvSpPr txBox="1"/>
          <p:nvPr/>
        </p:nvSpPr>
        <p:spPr>
          <a:xfrm>
            <a:off x="646109" y="2600196"/>
            <a:ext cx="563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Identification des processus a analyser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981C2C0-4F5C-B969-A425-39B1E44C5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0" y="1629628"/>
            <a:ext cx="6379815" cy="53838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5EA0CCD-9FC2-A4DD-A16A-19DA9DACB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8" y="4463423"/>
            <a:ext cx="6334125" cy="13287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6974F29-1B51-3FE9-5567-3B9CE1994A2A}"/>
              </a:ext>
            </a:extLst>
          </p:cNvPr>
          <p:cNvSpPr/>
          <p:nvPr/>
        </p:nvSpPr>
        <p:spPr>
          <a:xfrm>
            <a:off x="483878" y="4682011"/>
            <a:ext cx="2040129" cy="167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4DC211-582B-C7A2-DD02-C09743BFE44D}"/>
              </a:ext>
            </a:extLst>
          </p:cNvPr>
          <p:cNvSpPr/>
          <p:nvPr/>
        </p:nvSpPr>
        <p:spPr>
          <a:xfrm>
            <a:off x="483877" y="4984594"/>
            <a:ext cx="2040129" cy="167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4E2EE58-54AC-6ABE-2F5F-CFA3074A3FDE}"/>
              </a:ext>
            </a:extLst>
          </p:cNvPr>
          <p:cNvSpPr txBox="1"/>
          <p:nvPr/>
        </p:nvSpPr>
        <p:spPr>
          <a:xfrm>
            <a:off x="7270955" y="5287177"/>
            <a:ext cx="433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Outil qui permet  d’établir des connexions et de transfert des données.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001C1EED-B6DC-5E99-2C1C-73DC0B7FDF0C}"/>
              </a:ext>
            </a:extLst>
          </p:cNvPr>
          <p:cNvCxnSpPr>
            <a:endCxn id="18" idx="3"/>
          </p:cNvCxnSpPr>
          <p:nvPr/>
        </p:nvCxnSpPr>
        <p:spPr>
          <a:xfrm flipH="1" flipV="1">
            <a:off x="2524006" y="5068589"/>
            <a:ext cx="4746949" cy="609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EE9649E-A769-D78B-1C48-499CAA06E36D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2524007" y="4689992"/>
            <a:ext cx="5130406" cy="76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AEC5BFA4-2EEF-4D0D-1F6C-3BC7DE5A37F5}"/>
              </a:ext>
            </a:extLst>
          </p:cNvPr>
          <p:cNvSpPr txBox="1"/>
          <p:nvPr/>
        </p:nvSpPr>
        <p:spPr>
          <a:xfrm>
            <a:off x="7654413" y="4338263"/>
            <a:ext cx="315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 évoquant un programme de mise à jour </a:t>
            </a:r>
          </a:p>
        </p:txBody>
      </p:sp>
    </p:spTree>
    <p:extLst>
      <p:ext uri="{BB962C8B-B14F-4D97-AF65-F5344CB8AC3E}">
        <p14:creationId xmlns:p14="http://schemas.microsoft.com/office/powerpoint/2010/main" val="1059521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58EBA-CDC8-2767-F4B0-BF46F28E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Relations parent-enfant entre les processus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C51A627-06D0-EDE2-A637-B9FECBE60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6194" y="3220924"/>
            <a:ext cx="4791075" cy="9334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7A9F74D-9921-A446-0381-0C30C462289C}"/>
              </a:ext>
            </a:extLst>
          </p:cNvPr>
          <p:cNvSpPr txBox="1"/>
          <p:nvPr/>
        </p:nvSpPr>
        <p:spPr>
          <a:xfrm>
            <a:off x="646111" y="1765975"/>
            <a:ext cx="629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Analyse de la relation parent-enfant des processus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06A4E35-53CE-D1CC-0C22-E87FED181B27}"/>
              </a:ext>
            </a:extLst>
          </p:cNvPr>
          <p:cNvCxnSpPr>
            <a:cxnSpLocks/>
          </p:cNvCxnSpPr>
          <p:nvPr/>
        </p:nvCxnSpPr>
        <p:spPr>
          <a:xfrm>
            <a:off x="1371600" y="4011561"/>
            <a:ext cx="0" cy="1076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F23A656-EC94-87B8-B97A-3388B09DE909}"/>
              </a:ext>
            </a:extLst>
          </p:cNvPr>
          <p:cNvCxnSpPr>
            <a:cxnSpLocks/>
          </p:cNvCxnSpPr>
          <p:nvPr/>
        </p:nvCxnSpPr>
        <p:spPr>
          <a:xfrm>
            <a:off x="2610464" y="4154374"/>
            <a:ext cx="0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07D2897E-2C99-CCCA-0AC7-EDA997B34E9F}"/>
              </a:ext>
            </a:extLst>
          </p:cNvPr>
          <p:cNvSpPr txBox="1"/>
          <p:nvPr/>
        </p:nvSpPr>
        <p:spPr>
          <a:xfrm>
            <a:off x="221228" y="5088194"/>
            <a:ext cx="2182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 enfant</a:t>
            </a:r>
          </a:p>
          <a:p>
            <a:r>
              <a:rPr lang="fr-FR" dirty="0"/>
              <a:t>Ncat.exe</a:t>
            </a:r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72E7825-6CF5-8563-FC77-C20D57DC13DD}"/>
              </a:ext>
            </a:extLst>
          </p:cNvPr>
          <p:cNvSpPr txBox="1"/>
          <p:nvPr/>
        </p:nvSpPr>
        <p:spPr>
          <a:xfrm>
            <a:off x="2403968" y="5087824"/>
            <a:ext cx="268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 Parent: </a:t>
            </a:r>
          </a:p>
          <a:p>
            <a:r>
              <a:rPr lang="fr-FR" dirty="0"/>
              <a:t>Updater.exe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E9A153-8847-4972-37A7-A4ACBD36936F}"/>
              </a:ext>
            </a:extLst>
          </p:cNvPr>
          <p:cNvSpPr/>
          <p:nvPr/>
        </p:nvSpPr>
        <p:spPr>
          <a:xfrm>
            <a:off x="1119352" y="3831021"/>
            <a:ext cx="551793" cy="180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BF88CC-1D6B-5237-DFDB-EF9CD2DDA3CC}"/>
              </a:ext>
            </a:extLst>
          </p:cNvPr>
          <p:cNvSpPr/>
          <p:nvPr/>
        </p:nvSpPr>
        <p:spPr>
          <a:xfrm>
            <a:off x="2274303" y="3831021"/>
            <a:ext cx="551793" cy="180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751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6F931-DBDE-3FEA-592B-155F8D33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55" y="409604"/>
            <a:ext cx="10364451" cy="1596177"/>
          </a:xfrm>
        </p:spPr>
        <p:txBody>
          <a:bodyPr/>
          <a:lstStyle/>
          <a:p>
            <a:br>
              <a:rPr lang="fr-FR" dirty="0"/>
            </a:b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8FB136D-1D8E-4E88-A9A1-CF552A54EDE0}"/>
              </a:ext>
            </a:extLst>
          </p:cNvPr>
          <p:cNvSpPr txBox="1"/>
          <p:nvPr/>
        </p:nvSpPr>
        <p:spPr>
          <a:xfrm>
            <a:off x="2256503" y="465247"/>
            <a:ext cx="8554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Trouver le port  utilisé par </a:t>
            </a:r>
            <a:r>
              <a:rPr lang="fr-FR" sz="2800" dirty="0" err="1"/>
              <a:t>Ncat</a:t>
            </a:r>
            <a:endParaRPr lang="fr-FR" sz="28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2C9AFF73-1701-8F14-F9C0-680C15F14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2418" y="2359742"/>
            <a:ext cx="6029325" cy="838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C4D5B7-D07B-CED6-9E34-B5620DE717B4}"/>
              </a:ext>
            </a:extLst>
          </p:cNvPr>
          <p:cNvSpPr/>
          <p:nvPr/>
        </p:nvSpPr>
        <p:spPr>
          <a:xfrm>
            <a:off x="5222455" y="2507080"/>
            <a:ext cx="873545" cy="504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9751A-B6F5-6FF5-7F8F-F4A72B1A2096}"/>
              </a:ext>
            </a:extLst>
          </p:cNvPr>
          <p:cNvSpPr/>
          <p:nvPr/>
        </p:nvSpPr>
        <p:spPr>
          <a:xfrm>
            <a:off x="1387366" y="2359742"/>
            <a:ext cx="394137" cy="14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80883E-4566-B173-E3B3-D85AC790D1D2}"/>
              </a:ext>
            </a:extLst>
          </p:cNvPr>
          <p:cNvSpPr/>
          <p:nvPr/>
        </p:nvSpPr>
        <p:spPr>
          <a:xfrm>
            <a:off x="3428077" y="2507080"/>
            <a:ext cx="873545" cy="14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EBDC165-E700-1683-C120-E7D5B9B5302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554345" y="1677965"/>
            <a:ext cx="30090" cy="68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FA507BD7-E03C-DE9D-9BEA-7BE738F9C06E}"/>
              </a:ext>
            </a:extLst>
          </p:cNvPr>
          <p:cNvSpPr txBox="1"/>
          <p:nvPr/>
        </p:nvSpPr>
        <p:spPr>
          <a:xfrm>
            <a:off x="792418" y="1343179"/>
            <a:ext cx="124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FBF7687-04E1-7D90-9905-A5C05C9D9F72}"/>
              </a:ext>
            </a:extLst>
          </p:cNvPr>
          <p:cNvCxnSpPr>
            <a:cxnSpLocks/>
          </p:cNvCxnSpPr>
          <p:nvPr/>
        </p:nvCxnSpPr>
        <p:spPr>
          <a:xfrm flipV="1">
            <a:off x="3988676" y="1900000"/>
            <a:ext cx="0" cy="607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A68C70B-3902-A42D-EBCF-BA9B9113CBE9}"/>
              </a:ext>
            </a:extLst>
          </p:cNvPr>
          <p:cNvSpPr txBox="1"/>
          <p:nvPr/>
        </p:nvSpPr>
        <p:spPr>
          <a:xfrm>
            <a:off x="3428077" y="1335494"/>
            <a:ext cx="2240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Ecoute sur tous les interfaces IPV4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9A6C6C21-319A-A04F-2B21-628643542D05}"/>
              </a:ext>
            </a:extLst>
          </p:cNvPr>
          <p:cNvCxnSpPr>
            <a:cxnSpLocks/>
          </p:cNvCxnSpPr>
          <p:nvPr/>
        </p:nvCxnSpPr>
        <p:spPr>
          <a:xfrm>
            <a:off x="5896303" y="3011214"/>
            <a:ext cx="40855" cy="1308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3DC46C7E-007E-554A-C5B5-7591EB47408B}"/>
              </a:ext>
            </a:extLst>
          </p:cNvPr>
          <p:cNvSpPr txBox="1"/>
          <p:nvPr/>
        </p:nvSpPr>
        <p:spPr>
          <a:xfrm>
            <a:off x="5092262" y="4367048"/>
            <a:ext cx="42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attends  les connexions entrantes </a:t>
            </a:r>
          </a:p>
        </p:txBody>
      </p:sp>
    </p:spTree>
    <p:extLst>
      <p:ext uri="{BB962C8B-B14F-4D97-AF65-F5344CB8AC3E}">
        <p14:creationId xmlns:p14="http://schemas.microsoft.com/office/powerpoint/2010/main" val="384185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12B79-EE71-F986-D6C9-63FFD4DB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Vérifier que le pare-feu autorise </a:t>
            </a:r>
            <a:r>
              <a:rPr lang="fr-FR" sz="2800" dirty="0" err="1"/>
              <a:t>Ncat</a:t>
            </a:r>
            <a:endParaRPr lang="fr-FR" sz="2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162C2B-D9EB-6A8D-7714-4C36B1FA2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6" y="2661930"/>
            <a:ext cx="4580296" cy="29243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B28849E-F485-E81C-535E-B653C415F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1271727"/>
            <a:ext cx="3952875" cy="381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08D1B37-F4EB-D271-40D2-338499FD0210}"/>
              </a:ext>
            </a:extLst>
          </p:cNvPr>
          <p:cNvSpPr txBox="1"/>
          <p:nvPr/>
        </p:nvSpPr>
        <p:spPr>
          <a:xfrm>
            <a:off x="7179491" y="1243138"/>
            <a:ext cx="370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des règles du pare-feu concernant </a:t>
            </a:r>
            <a:r>
              <a:rPr lang="fr-FR" dirty="0" err="1"/>
              <a:t>Ncat</a:t>
            </a:r>
            <a:endParaRPr lang="fr-FR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4AF32ED-6A23-D914-A349-7C2171CF2FEE}"/>
              </a:ext>
            </a:extLst>
          </p:cNvPr>
          <p:cNvCxnSpPr>
            <a:cxnSpLocks/>
          </p:cNvCxnSpPr>
          <p:nvPr/>
        </p:nvCxnSpPr>
        <p:spPr>
          <a:xfrm flipH="1">
            <a:off x="4070248" y="1490115"/>
            <a:ext cx="3038475" cy="6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2A1AED57-9246-EC99-68BD-57119B8DB5DA}"/>
              </a:ext>
            </a:extLst>
          </p:cNvPr>
          <p:cNvSpPr txBox="1"/>
          <p:nvPr/>
        </p:nvSpPr>
        <p:spPr>
          <a:xfrm>
            <a:off x="484206" y="2071636"/>
            <a:ext cx="427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Règle du pare-feu autorisant </a:t>
            </a:r>
            <a:r>
              <a:rPr lang="fr-FR" dirty="0" err="1"/>
              <a:t>Ncat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B9028A-9D22-0406-D63A-E2B3E9F41E55}"/>
              </a:ext>
            </a:extLst>
          </p:cNvPr>
          <p:cNvSpPr/>
          <p:nvPr/>
        </p:nvSpPr>
        <p:spPr>
          <a:xfrm>
            <a:off x="434156" y="3937818"/>
            <a:ext cx="3370927" cy="575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9D29E19-761B-F831-B2AB-FEE8BA45D98E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3805083" y="3937818"/>
            <a:ext cx="3908323" cy="287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3F1973CD-2554-80C0-C1CD-3400CE155818}"/>
              </a:ext>
            </a:extLst>
          </p:cNvPr>
          <p:cNvSpPr txBox="1"/>
          <p:nvPr/>
        </p:nvSpPr>
        <p:spPr>
          <a:xfrm>
            <a:off x="7831394" y="2788953"/>
            <a:ext cx="35396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/>
              <a:t>Enabled : True</a:t>
            </a:r>
            <a:r>
              <a:rPr lang="fr-FR"/>
              <a:t> → règle activée.</a:t>
            </a:r>
          </a:p>
          <a:p>
            <a:pPr lvl="0"/>
            <a:r>
              <a:rPr lang="fr-FR" b="1"/>
              <a:t>Direction : Inbound</a:t>
            </a:r>
            <a:r>
              <a:rPr lang="fr-FR"/>
              <a:t> → connexions entrantes.</a:t>
            </a:r>
          </a:p>
          <a:p>
            <a:pPr lvl="0"/>
            <a:r>
              <a:rPr lang="fr-FR" b="1"/>
              <a:t>Action : Allow</a:t>
            </a:r>
            <a:r>
              <a:rPr lang="fr-FR"/>
              <a:t> → connexions autorisées.</a:t>
            </a:r>
          </a:p>
          <a:p>
            <a:pPr lvl="0"/>
            <a:r>
              <a:rPr lang="fr-FR" b="1"/>
              <a:t>Profile : Private</a:t>
            </a:r>
            <a:r>
              <a:rPr lang="fr-FR"/>
              <a:t> → règle applicable au profil réseau privé.</a:t>
            </a:r>
          </a:p>
        </p:txBody>
      </p:sp>
    </p:spTree>
    <p:extLst>
      <p:ext uri="{BB962C8B-B14F-4D97-AF65-F5344CB8AC3E}">
        <p14:creationId xmlns:p14="http://schemas.microsoft.com/office/powerpoint/2010/main" val="2268022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DDA94-2DE6-B7F5-7381-BC6BA8A6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Reconstitution de l’accès distant</a:t>
            </a:r>
          </a:p>
        </p:txBody>
      </p:sp>
      <p:sp>
        <p:nvSpPr>
          <p:cNvPr id="3" name="Oval 2"/>
          <p:cNvSpPr/>
          <p:nvPr/>
        </p:nvSpPr>
        <p:spPr>
          <a:xfrm>
            <a:off x="1372088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11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Processus suspect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updater.exe identifié en cours d'exécution</a:t>
            </a:r>
          </a:p>
        </p:txBody>
      </p:sp>
      <p:sp>
        <p:nvSpPr>
          <p:cNvPr id="5" name="Oval 4"/>
          <p:cNvSpPr/>
          <p:nvPr/>
        </p:nvSpPr>
        <p:spPr>
          <a:xfrm>
            <a:off x="3594044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8066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Filiation confirmée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updater.exe lance ncat.exe</a:t>
            </a:r>
          </a:p>
        </p:txBody>
      </p:sp>
      <p:sp>
        <p:nvSpPr>
          <p:cNvPr id="7" name="Oval 6"/>
          <p:cNvSpPr/>
          <p:nvPr/>
        </p:nvSpPr>
        <p:spPr>
          <a:xfrm>
            <a:off x="5816000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22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Port ouvert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Ncat écoute sur le port TCP/42890</a:t>
            </a:r>
          </a:p>
        </p:txBody>
      </p:sp>
      <p:sp>
        <p:nvSpPr>
          <p:cNvPr id="9" name="Oval 8"/>
          <p:cNvSpPr/>
          <p:nvPr/>
        </p:nvSpPr>
        <p:spPr>
          <a:xfrm>
            <a:off x="8037955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77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Règle pare-feu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Ncat.exe explicitement autorisé</a:t>
            </a:r>
          </a:p>
        </p:txBody>
      </p:sp>
      <p:sp>
        <p:nvSpPr>
          <p:cNvPr id="11" name="Oval 10"/>
          <p:cNvSpPr/>
          <p:nvPr/>
        </p:nvSpPr>
        <p:spPr>
          <a:xfrm>
            <a:off x="10259911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3933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Accès distant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Connexion maintenue avec l'attaquant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2088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4044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6000" y="2330000"/>
            <a:ext cx="1661955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7955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6111" y="4790000"/>
            <a:ext cx="10899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54849A"/>
                </a:solidFill>
              </a:defRPr>
            </a:pP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615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B7B65-878B-9A44-ABF9-D24674E6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0015254-CBCE-71F5-C5A0-DC8394B0495F}"/>
              </a:ext>
            </a:extLst>
          </p:cNvPr>
          <p:cNvSpPr txBox="1"/>
          <p:nvPr/>
        </p:nvSpPr>
        <p:spPr>
          <a:xfrm>
            <a:off x="914400" y="2766293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4CE585-7EB4-CBA9-8365-6D5AB296F7B1}"/>
              </a:ext>
            </a:extLst>
          </p:cNvPr>
          <p:cNvSpPr txBox="1"/>
          <p:nvPr/>
        </p:nvSpPr>
        <p:spPr>
          <a:xfrm>
            <a:off x="914400" y="3554361"/>
            <a:ext cx="7728155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</a:t>
            </a:r>
            <a:endParaRPr lang="en-US" sz="3600" dirty="0"/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36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725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F7AB4-5679-64EA-DA93-149CAE99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Recherche du mécanisme de persistance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49286EC-E44B-2751-2848-87DB72E04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2706193"/>
            <a:ext cx="8947150" cy="36179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9F8274-8F73-E29E-4F59-5DC76110B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2239911"/>
            <a:ext cx="3686175" cy="342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304496" y="2797000"/>
            <a:ext cx="1550000" cy="355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dirty="0"/>
              <a:t>Clé </a:t>
            </a:r>
            <a:r>
              <a:rPr dirty="0" err="1"/>
              <a:t>RunOnce</a:t>
            </a:r>
            <a:r>
              <a:rPr dirty="0"/>
              <a:t> = « Updater » → updater.exe </a:t>
            </a:r>
            <a:r>
              <a:rPr dirty="0" err="1"/>
              <a:t>relancé</a:t>
            </a:r>
            <a:r>
              <a:rPr dirty="0"/>
              <a:t> au prochain </a:t>
            </a:r>
            <a:r>
              <a:rPr dirty="0" err="1"/>
              <a:t>démarrage</a:t>
            </a:r>
            <a:r>
              <a:rPr dirty="0"/>
              <a:t> : </a:t>
            </a:r>
            <a:r>
              <a:rPr dirty="0" err="1"/>
              <a:t>mécanisme</a:t>
            </a:r>
            <a:r>
              <a:rPr dirty="0"/>
              <a:t> de </a:t>
            </a:r>
            <a:r>
              <a:rPr dirty="0" err="1"/>
              <a:t>persistance</a:t>
            </a:r>
            <a:r>
              <a:rPr dirty="0"/>
              <a:t>.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CEF15B6-23E8-462F-46A6-17A2B685908A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332286" y="2411361"/>
            <a:ext cx="1390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ECA34F8F-4901-DE23-5B2D-549B8F4C8E3A}"/>
              </a:ext>
            </a:extLst>
          </p:cNvPr>
          <p:cNvSpPr txBox="1"/>
          <p:nvPr/>
        </p:nvSpPr>
        <p:spPr>
          <a:xfrm>
            <a:off x="5798216" y="2059862"/>
            <a:ext cx="412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Recherche de  updater.exe dans le registre</a:t>
            </a: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114167-B699-E9FE-AAA3-3CB2846FC1C6}"/>
              </a:ext>
            </a:extLst>
          </p:cNvPr>
          <p:cNvSpPr/>
          <p:nvPr/>
        </p:nvSpPr>
        <p:spPr>
          <a:xfrm>
            <a:off x="646111" y="4572000"/>
            <a:ext cx="8947150" cy="457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C633F28-5826-6080-86B8-18DC85F561DC}"/>
              </a:ext>
            </a:extLst>
          </p:cNvPr>
          <p:cNvCxnSpPr>
            <a:endCxn id="13" idx="3"/>
          </p:cNvCxnSpPr>
          <p:nvPr/>
        </p:nvCxnSpPr>
        <p:spPr>
          <a:xfrm flipH="1" flipV="1">
            <a:off x="9593261" y="4800601"/>
            <a:ext cx="748918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96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ACF34-3B2B-18DE-EA4E-50EF5366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Différence Run et </a:t>
            </a:r>
            <a:r>
              <a:rPr lang="fr-FR" sz="2800" dirty="0" err="1"/>
              <a:t>RunOnce</a:t>
            </a:r>
            <a:endParaRPr lang="fr-FR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03312" y="2000000"/>
          <a:ext cx="9985376" cy="4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 marL="101600" marR="101600" marT="50800" marB="508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 marL="101600" marR="101600" marT="50800" marB="508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RunOnce</a:t>
                      </a:r>
                    </a:p>
                  </a:txBody>
                  <a:tcPr marL="101600" marR="101600" marT="50800" marB="50800" anchor="ctr">
                    <a:solidFill>
                      <a:srgbClr val="B01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Emplacement registre</a:t>
                      </a:r>
                    </a:p>
                  </a:txBody>
                  <a:tcPr marL="101600" marR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HKCU / HKLM \...\Run</a:t>
                      </a:r>
                    </a:p>
                  </a:txBody>
                  <a:tcPr marL="101600" marR="101600" marT="50800" marB="508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HKCU / HKLM \...\RunOnce</a:t>
                      </a:r>
                    </a:p>
                  </a:txBody>
                  <a:tcPr marL="101600" marR="101600" marT="50800" marB="508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Fréquence d'exécution</a:t>
                      </a:r>
                    </a:p>
                  </a:txBody>
                  <a:tcPr marL="101600" marR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À chaque démarrage ou ouverture de session</a:t>
                      </a:r>
                    </a:p>
                  </a:txBody>
                  <a:tcPr marL="101600" marR="101600" marT="50800" marB="508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Une seule fois, puis suppression automatique de la valeur</a:t>
                      </a:r>
                    </a:p>
                  </a:txBody>
                  <a:tcPr marL="101600" marR="101600" marT="50800" marB="508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Usage légitime typique</a:t>
                      </a:r>
                    </a:p>
                  </a:txBody>
                  <a:tcPr marL="101600" marR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Logiciels devant démarrer systématiquement (agents, antivirus)</a:t>
                      </a:r>
                    </a:p>
                  </a:txBody>
                  <a:tcPr marL="101600" marR="101600" marT="50800" marB="508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Installations, mises à jour, scripts de post-configuration</a:t>
                      </a:r>
                    </a:p>
                  </a:txBody>
                  <a:tcPr marL="101600" marR="101600" marT="50800" marB="508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Usage détourné par l'attaquant</a:t>
                      </a:r>
                    </a:p>
                  </a:txBody>
                  <a:tcPr marL="101600" marR="101600" marT="50800" marB="508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Persistance durable mais plus visible dans le temps</a:t>
                      </a:r>
                    </a:p>
                  </a:txBody>
                  <a:tcPr marL="101600" marR="101600" marT="50800" marB="508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Persistance discrète, difficile à détecter après son exécution</a:t>
                      </a:r>
                    </a:p>
                  </a:txBody>
                  <a:tcPr marL="101600" marR="101600" marT="50800" marB="50800" anchor="ctr">
                    <a:solidFill>
                      <a:srgbClr val="B01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04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DC4B1-FBCC-4638-E6D9-310DB09E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Reconstitution</a:t>
            </a:r>
            <a:r>
              <a:rPr lang="fr-FR" dirty="0"/>
              <a:t> de la persistance de l’incident</a:t>
            </a:r>
          </a:p>
        </p:txBody>
      </p:sp>
      <p:sp>
        <p:nvSpPr>
          <p:cNvPr id="3" name="Oval 2"/>
          <p:cNvSpPr/>
          <p:nvPr/>
        </p:nvSpPr>
        <p:spPr>
          <a:xfrm>
            <a:off x="1372088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11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Clé RunOnce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Détectée dans HKCU\...\RunOnce</a:t>
            </a:r>
          </a:p>
        </p:txBody>
      </p:sp>
      <p:sp>
        <p:nvSpPr>
          <p:cNvPr id="5" name="Oval 4"/>
          <p:cNvSpPr/>
          <p:nvPr/>
        </p:nvSpPr>
        <p:spPr>
          <a:xfrm>
            <a:off x="3594044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8066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Valeur malveillante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« updater » pointe vers updater.exe</a:t>
            </a:r>
          </a:p>
        </p:txBody>
      </p:sp>
      <p:sp>
        <p:nvSpPr>
          <p:cNvPr id="7" name="Oval 6"/>
          <p:cNvSpPr/>
          <p:nvPr/>
        </p:nvSpPr>
        <p:spPr>
          <a:xfrm>
            <a:off x="5816000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22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Déclenchement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Exécution à la prochaine ouverture de session</a:t>
            </a:r>
          </a:p>
        </p:txBody>
      </p:sp>
      <p:sp>
        <p:nvSpPr>
          <p:cNvPr id="9" name="Oval 8"/>
          <p:cNvSpPr/>
          <p:nvPr/>
        </p:nvSpPr>
        <p:spPr>
          <a:xfrm>
            <a:off x="8037955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77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Discrétion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La clé s'auto-supprime après exécution</a:t>
            </a:r>
          </a:p>
        </p:txBody>
      </p:sp>
      <p:sp>
        <p:nvSpPr>
          <p:cNvPr id="11" name="Oval 10"/>
          <p:cNvSpPr/>
          <p:nvPr/>
        </p:nvSpPr>
        <p:spPr>
          <a:xfrm>
            <a:off x="10259911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3933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Persistance confirmée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Corrélée aux journaux système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2088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4044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6000" y="2330000"/>
            <a:ext cx="1661955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7955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6111" y="4790000"/>
            <a:ext cx="10899778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6AAC90"/>
                </a:solidFill>
              </a:defRPr>
            </a:pPr>
            <a:r>
              <a:t>Mécanisme identifié : persistance furtive via une clé RunOnce, choisie pour limiter la détection.</a:t>
            </a:r>
          </a:p>
        </p:txBody>
      </p:sp>
    </p:spTree>
    <p:extLst>
      <p:ext uri="{BB962C8B-B14F-4D97-AF65-F5344CB8AC3E}">
        <p14:creationId xmlns:p14="http://schemas.microsoft.com/office/powerpoint/2010/main" val="491895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86AEB0-E7DA-05BE-219D-E9DDC95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7E0E17-EEDD-3C7E-8F14-2F58B7025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669458"/>
            <a:ext cx="8946541" cy="359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500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914537-0505-8796-90EA-EB04A90B06E1}"/>
              </a:ext>
            </a:extLst>
          </p:cNvPr>
          <p:cNvSpPr txBox="1"/>
          <p:nvPr/>
        </p:nvSpPr>
        <p:spPr>
          <a:xfrm>
            <a:off x="1047135" y="3746090"/>
            <a:ext cx="9114504" cy="91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dirty="0" err="1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Reconstitution</a:t>
            </a:r>
            <a:r>
              <a:rPr lang="en-US" sz="3200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 </a:t>
            </a:r>
            <a:r>
              <a:rPr lang="en-US" sz="3200" dirty="0" err="1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l’infection</a:t>
            </a:r>
            <a:r>
              <a:rPr lang="en-US" sz="3200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initiale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3396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F47650-203D-0E5E-5D09-9AE9E403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du fichier malveillant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60534C4-9A80-10D4-4800-BE6476AEA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3429000"/>
            <a:ext cx="6076950" cy="20955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99925A4-2244-ADE5-93EF-A772AC683F20}"/>
              </a:ext>
            </a:extLst>
          </p:cNvPr>
          <p:cNvSpPr txBox="1"/>
          <p:nvPr/>
        </p:nvSpPr>
        <p:spPr>
          <a:xfrm>
            <a:off x="752168" y="1853248"/>
            <a:ext cx="575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Recherche du fichier télécharger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58799" y="4574500"/>
            <a:ext cx="4150000" cy="19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dirty="0"/>
              <a:t>Nom </a:t>
            </a:r>
            <a:r>
              <a:rPr dirty="0" err="1"/>
              <a:t>trompeur</a:t>
            </a:r>
            <a:r>
              <a:rPr dirty="0"/>
              <a:t> Rapport.pdf.exe (double extension) : technique de camouflage du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piégé</a:t>
            </a:r>
            <a:r>
              <a:rPr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A0FC76-95C2-FF72-0A85-63D4AC9704F2}"/>
              </a:ext>
            </a:extLst>
          </p:cNvPr>
          <p:cNvSpPr/>
          <p:nvPr/>
        </p:nvSpPr>
        <p:spPr>
          <a:xfrm>
            <a:off x="4280963" y="5252931"/>
            <a:ext cx="1977947" cy="271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C74EDB4-0572-23CA-C717-65249EBEA788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5450000"/>
            <a:ext cx="1361090" cy="27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958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F5DA2-8323-ECE6-FCD6-6E5731D5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Indice d’exécution de Rapport.pdf.exe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7774719-6804-01EB-6638-D858D725F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2397596"/>
            <a:ext cx="6057900" cy="1181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43683" y="2150455"/>
            <a:ext cx="4150000" cy="19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clés</a:t>
            </a:r>
            <a:r>
              <a:rPr dirty="0"/>
              <a:t> </a:t>
            </a:r>
            <a:r>
              <a:rPr dirty="0" err="1"/>
              <a:t>prouvent</a:t>
            </a:r>
            <a:r>
              <a:rPr dirty="0"/>
              <a:t> </a:t>
            </a:r>
            <a:r>
              <a:rPr dirty="0" err="1"/>
              <a:t>l'EXÉCUTION</a:t>
            </a:r>
            <a:r>
              <a:rPr dirty="0"/>
              <a:t> du </a:t>
            </a:r>
            <a:r>
              <a:rPr dirty="0" err="1"/>
              <a:t>fichier</a:t>
            </a:r>
            <a:r>
              <a:rPr dirty="0"/>
              <a:t>, pas </a:t>
            </a:r>
            <a:r>
              <a:rPr dirty="0" err="1"/>
              <a:t>seulement</a:t>
            </a:r>
            <a:r>
              <a:rPr dirty="0"/>
              <a:t> son </a:t>
            </a:r>
            <a:r>
              <a:rPr dirty="0" err="1"/>
              <a:t>téléchargement</a:t>
            </a:r>
            <a:r>
              <a:rPr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34FBB-C147-83D6-21FC-5FC502940664}"/>
              </a:ext>
            </a:extLst>
          </p:cNvPr>
          <p:cNvSpPr/>
          <p:nvPr/>
        </p:nvSpPr>
        <p:spPr>
          <a:xfrm>
            <a:off x="2686087" y="2397596"/>
            <a:ext cx="4017924" cy="865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05C8458B-E25C-636C-29DA-5D680EAB455A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704011" y="2830529"/>
            <a:ext cx="1052623" cy="13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794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5AB38D-C11C-2410-9CBB-BDBC6D21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00479"/>
          </a:xfrm>
        </p:spPr>
        <p:txBody>
          <a:bodyPr/>
          <a:lstStyle/>
          <a:p>
            <a:r>
              <a:rPr lang="fr-FR" sz="2800" dirty="0"/>
              <a:t>Paramètres réseau dans la configuration </a:t>
            </a:r>
            <a:r>
              <a:rPr lang="fr-FR" sz="2800" dirty="0" err="1"/>
              <a:t>pfSense</a:t>
            </a:r>
            <a:endParaRPr lang="fr-FR" sz="28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2AE158E-F849-52AC-64C2-7C76F4CB1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2741000"/>
            <a:ext cx="7391760" cy="315751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38EB2EE-C25D-A277-94F0-E2401230F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1997086"/>
            <a:ext cx="4714875" cy="2000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50000" y="2850000"/>
            <a:ext cx="3100000" cy="29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lang="fr-FR" dirty="0"/>
              <a:t>Host </a:t>
            </a:r>
            <a:r>
              <a:rPr lang="fr-FR" dirty="0" err="1"/>
              <a:t>Override</a:t>
            </a:r>
            <a:r>
              <a:rPr lang="fr-FR" dirty="0"/>
              <a:t> configuré par admin@10.0.1.20 : origine du détournement DNS.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783B7DF-D3CD-E3CC-C572-619F5CA93EAC}"/>
              </a:ext>
            </a:extLst>
          </p:cNvPr>
          <p:cNvCxnSpPr>
            <a:cxnSpLocks/>
          </p:cNvCxnSpPr>
          <p:nvPr/>
        </p:nvCxnSpPr>
        <p:spPr>
          <a:xfrm flipH="1">
            <a:off x="5580993" y="4461641"/>
            <a:ext cx="2648607" cy="488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4371965-7C00-4C80-CD57-2018D9AAA9EA}"/>
              </a:ext>
            </a:extLst>
          </p:cNvPr>
          <p:cNvSpPr/>
          <p:nvPr/>
        </p:nvSpPr>
        <p:spPr>
          <a:xfrm>
            <a:off x="4903075" y="4950371"/>
            <a:ext cx="851339" cy="255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3045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3F83A-D496-1D76-FECF-48F4E0CE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Reconstitution de l’infection</a:t>
            </a:r>
          </a:p>
        </p:txBody>
      </p:sp>
      <p:sp>
        <p:nvSpPr>
          <p:cNvPr id="3" name="Oval 2"/>
          <p:cNvSpPr/>
          <p:nvPr/>
        </p:nvSpPr>
        <p:spPr>
          <a:xfrm>
            <a:off x="1372088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11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Détournement DNS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Host Override configuré sur pfSense</a:t>
            </a:r>
          </a:p>
        </p:txBody>
      </p:sp>
      <p:sp>
        <p:nvSpPr>
          <p:cNvPr id="5" name="Oval 4"/>
          <p:cNvSpPr/>
          <p:nvPr/>
        </p:nvSpPr>
        <p:spPr>
          <a:xfrm>
            <a:off x="3594044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8066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Redirection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www.intranet.fr → 10.10.0.132</a:t>
            </a:r>
          </a:p>
        </p:txBody>
      </p:sp>
      <p:sp>
        <p:nvSpPr>
          <p:cNvPr id="7" name="Oval 6"/>
          <p:cNvSpPr/>
          <p:nvPr/>
        </p:nvSpPr>
        <p:spPr>
          <a:xfrm>
            <a:off x="5816000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22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Téléchargement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Bob récupère un fichier qu'il croit légitime</a:t>
            </a:r>
          </a:p>
        </p:txBody>
      </p:sp>
      <p:sp>
        <p:nvSpPr>
          <p:cNvPr id="9" name="Oval 8"/>
          <p:cNvSpPr/>
          <p:nvPr/>
        </p:nvSpPr>
        <p:spPr>
          <a:xfrm>
            <a:off x="8037955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77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Exécution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Rapport.pdf.exe lancé par l'utilisateur</a:t>
            </a:r>
          </a:p>
        </p:txBody>
      </p:sp>
      <p:sp>
        <p:nvSpPr>
          <p:cNvPr id="11" name="Oval 10"/>
          <p:cNvSpPr/>
          <p:nvPr/>
        </p:nvSpPr>
        <p:spPr>
          <a:xfrm>
            <a:off x="10259911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3933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Infection amorcée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Persistance et accès distant activés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2088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4044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6000" y="2330000"/>
            <a:ext cx="1661955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7955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6111" y="4790000"/>
            <a:ext cx="10899778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B01513"/>
                </a:solidFill>
              </a:defRPr>
            </a:pPr>
            <a:r>
              <a:t>Mécanisme identifié : compromission initiale par ingénierie sociale, rendue possible par le détournement DNS.</a:t>
            </a:r>
          </a:p>
        </p:txBody>
      </p:sp>
    </p:spTree>
    <p:extLst>
      <p:ext uri="{BB962C8B-B14F-4D97-AF65-F5344CB8AC3E}">
        <p14:creationId xmlns:p14="http://schemas.microsoft.com/office/powerpoint/2010/main" val="374842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ACF34-3B2B-18DE-EA4E-50EF5366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Cartographie</a:t>
            </a:r>
            <a:r>
              <a:rPr dirty="0"/>
              <a:t> MITRE ATT&amp;CK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6111" y="1750000"/>
          <a:ext cx="10899778" cy="47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Tactique</a:t>
                      </a:r>
                    </a:p>
                  </a:txBody>
                  <a:tcPr marL="76200" marR="76200" marT="38100" marB="381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Technique (ID)</a:t>
                      </a:r>
                    </a:p>
                  </a:txBody>
                  <a:tcPr marL="76200" marR="76200" marT="38100" marB="381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Preuve associée</a:t>
                      </a:r>
                    </a:p>
                  </a:txBody>
                  <a:tcPr marL="76200" marR="76200" marT="38100" marB="38100" anchor="ctr">
                    <a:solidFill>
                      <a:srgbClr val="B01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Compromission d'infrastructure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Compromise Infrastructure: DNS Server (T1584.002)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Host Override configuré sur pfSense (accès initial au pare-feu hors périmètre de l'investigation)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Accès initial (Initial Access)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Phishing (T1566)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Fichier Rapport.pdf.exe proposé via l'intranet détourné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Exécution (Execution)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User Execution: Malicious File (T1204.002)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Exécution du fichier par Bob Newman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Persistance (Persistence)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Registry Run Keys / RunOnce (T1547.001)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Clé RunOnce « updater » pointant vers updater.exe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Évasion de défense (Defense Evasion)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Masquerading (T1036.005)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Nom de fichier imitant un document légitime (Rapport.pdf.exe)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Commande et contrôle (C2)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Remote Access Software / Non-Standard Port (T1219 / T1571)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Ncat en écoute sur le port TCP/42890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Valid Accounts: Domain Accounts (T1078.002)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Compromission d'un compte administrateur du domaine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04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Indicateurs de compromission (IOC)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6111" y="1750000"/>
          <a:ext cx="10899778" cy="40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9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d'indicateur</a:t>
                      </a:r>
                    </a:p>
                  </a:txBody>
                  <a:tcPr marL="60000" marR="60000" marT="25000" marB="250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 marL="60000" marR="60000" marT="25000" marB="250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Contexte</a:t>
                      </a:r>
                    </a:p>
                  </a:txBody>
                  <a:tcPr marL="60000" marR="60000" marT="25000" marB="25000" anchor="ctr">
                    <a:solidFill>
                      <a:srgbClr val="B01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IP infrastructure attaquant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10.10.0.132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Héberge le faux intranet et le fichier piégé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Domaine détourné (DNS)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www.intranet.fr -&gt; 10.10.0.132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Host Override configuré sur pfSense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Compte à l'origine du détournement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admin@10.0.1.20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Auteur de la modification DNS sur pfSense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Fichier leurre (accès initial)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Rapport.pdf.exe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...\Downloads\ - double extension, camouflage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Fichier de persistance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updater.exe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...\AppData\Roaming\ - lance ncat.exe au démarrage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Clé de registre (persistance)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HKCU\...\CurrentVersion\RunOnce\Updater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Auto-suppression après exécution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Outil C2 / accès distant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ncat.exe - TCP/42890 (0.0.0.0)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Issu de l'installation Nmap présente sur le poste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Compte compromis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bob_newman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FFFFFF"/>
                          </a:solidFill>
                        </a:rPr>
                        <a:t>Administrateur</a:t>
                      </a:r>
                      <a:r>
                        <a:rPr sz="950" b="0" dirty="0">
                          <a:solidFill>
                            <a:srgbClr val="FFFFFF"/>
                          </a:solidFill>
                        </a:rPr>
                        <a:t> du </a:t>
                      </a:r>
                      <a:r>
                        <a:rPr sz="950" b="0" dirty="0" err="1">
                          <a:solidFill>
                            <a:srgbClr val="FFFFFF"/>
                          </a:solidFill>
                        </a:rPr>
                        <a:t>domaine</a:t>
                      </a:r>
                      <a:r>
                        <a:rPr sz="950" b="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950" b="0" dirty="0" err="1">
                          <a:solidFill>
                            <a:srgbClr val="FFFFFF"/>
                          </a:solidFill>
                        </a:rPr>
                        <a:t>patissier.local</a:t>
                      </a:r>
                      <a:endParaRPr sz="950" b="0" dirty="0">
                        <a:solidFill>
                          <a:srgbClr val="FFFFFF"/>
                        </a:solidFill>
                      </a:endParaRP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DDA94-2DE6-B7F5-7381-BC6BA8A6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Chronologie globale de l'attaque</a:t>
            </a:r>
          </a:p>
        </p:txBody>
      </p:sp>
      <p:sp>
        <p:nvSpPr>
          <p:cNvPr id="3" name="Oval 2"/>
          <p:cNvSpPr/>
          <p:nvPr/>
        </p:nvSpPr>
        <p:spPr>
          <a:xfrm>
            <a:off x="1026833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Détournement DNS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Host Override configuré sur pfSense</a:t>
            </a:r>
          </a:p>
        </p:txBody>
      </p:sp>
      <p:sp>
        <p:nvSpPr>
          <p:cNvPr id="5" name="Oval 4"/>
          <p:cNvSpPr/>
          <p:nvPr/>
        </p:nvSpPr>
        <p:spPr>
          <a:xfrm>
            <a:off x="2950500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23666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Livraison du leurre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Bob accède à l'intranet falsifié</a:t>
            </a:r>
          </a:p>
        </p:txBody>
      </p:sp>
      <p:sp>
        <p:nvSpPr>
          <p:cNvPr id="7" name="Oval 6"/>
          <p:cNvSpPr/>
          <p:nvPr/>
        </p:nvSpPr>
        <p:spPr>
          <a:xfrm>
            <a:off x="4874166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7333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Exécution initiale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Rapport.pdf.exe lancé par l'utilisateur</a:t>
            </a:r>
          </a:p>
        </p:txBody>
      </p:sp>
      <p:sp>
        <p:nvSpPr>
          <p:cNvPr id="9" name="Oval 8"/>
          <p:cNvSpPr/>
          <p:nvPr/>
        </p:nvSpPr>
        <p:spPr>
          <a:xfrm>
            <a:off x="6797833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1000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Persistance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Clé RunOnce déployée (updater.exe)</a:t>
            </a:r>
          </a:p>
        </p:txBody>
      </p:sp>
      <p:sp>
        <p:nvSpPr>
          <p:cNvPr id="11" name="Oval 10"/>
          <p:cNvSpPr/>
          <p:nvPr/>
        </p:nvSpPr>
        <p:spPr>
          <a:xfrm>
            <a:off x="8721500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4666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Accès distant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Ncat en écoute sur le port TCP/42890</a:t>
            </a:r>
          </a:p>
        </p:txBody>
      </p:sp>
      <p:sp>
        <p:nvSpPr>
          <p:cNvPr id="13" name="Oval 12"/>
          <p:cNvSpPr/>
          <p:nvPr/>
        </p:nvSpPr>
        <p:spPr>
          <a:xfrm>
            <a:off x="10645166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8333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Compromission du domaine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Contrôle du poste admin patissier.local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46833" y="2310000"/>
            <a:ext cx="1403667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70500" y="2310000"/>
            <a:ext cx="140366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166" y="2310000"/>
            <a:ext cx="1403667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7833" y="2310000"/>
            <a:ext cx="1403667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41500" y="2310000"/>
            <a:ext cx="140366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6111" y="4840000"/>
            <a:ext cx="1089977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1">
                <a:solidFill>
                  <a:srgbClr val="E6B729"/>
                </a:solidFill>
              </a:defRPr>
            </a:pP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615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2AFBE-FDDC-D36B-D83E-93D8E924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3312" y="1950000"/>
            <a:ext cx="435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01513"/>
                </a:solidFill>
              </a:defRPr>
            </a:pPr>
            <a:r>
              <a:t>Synthèse de l'investigation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Détournement DNS (pfSense) redirigeant l'intranet vers l'attaquant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Exécution du fichier piégé Rapport.pdf.exe par l'utilisateur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Persistance assurée par une clé de registre RunOnce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Accès distant maintenu via Ncat sur le port TCP/42890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Compromission complète du poste admin et exposition du domaine patissier.local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53312" y="1950000"/>
            <a:ext cx="465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AAC90"/>
                </a:solidFill>
              </a:defRPr>
            </a:pPr>
            <a:r>
              <a:t>Recommandations principales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Isoler immédiatement le poste compromis du réseau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Supprimer les mécanismes de persistance identifiés (RunOnce)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Bloquer le domaine/IP malveillant et le port 42890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Corriger la configuration pfSense à l'origine du détournement DNS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Renforcer la surveillance et sensibiliser les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1097168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6493B6-AE5C-E842-30FB-88298F74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C3B737-1B2A-98D2-6BDB-DDD42731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622165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7650</TotalTime>
  <Words>1940</Words>
  <Application>Microsoft Office PowerPoint</Application>
  <PresentationFormat>Grand écran</PresentationFormat>
  <Paragraphs>297</Paragraphs>
  <Slides>30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7" baseType="lpstr">
      <vt:lpstr>Aptos</vt:lpstr>
      <vt:lpstr>Arial</vt:lpstr>
      <vt:lpstr>Calibri</vt:lpstr>
      <vt:lpstr>Century Gothic</vt:lpstr>
      <vt:lpstr>Consolas</vt:lpstr>
      <vt:lpstr>Wingdings 3</vt:lpstr>
      <vt:lpstr>Ion</vt:lpstr>
      <vt:lpstr>Présentation PowerPoint</vt:lpstr>
      <vt:lpstr>SOMMAIRE</vt:lpstr>
      <vt:lpstr>Presentation de l’entreprise</vt:lpstr>
      <vt:lpstr>Durée du projet</vt:lpstr>
      <vt:lpstr>Contexte</vt:lpstr>
      <vt:lpstr>Méthodologie</vt:lpstr>
      <vt:lpstr>Schéma global du projet</vt:lpstr>
      <vt:lpstr>Présentation PowerPoint</vt:lpstr>
      <vt:lpstr>Les artefacts à analyser</vt:lpstr>
      <vt:lpstr>Transfert des artefacts vers la machine d’analyse Kali Linux</vt:lpstr>
      <vt:lpstr>Montage et accès au dossier partagé sous Kali Linux</vt:lpstr>
      <vt:lpstr>Recherche des processus</vt:lpstr>
      <vt:lpstr>Relations parent-enfant entre les processus</vt:lpstr>
      <vt:lpstr> </vt:lpstr>
      <vt:lpstr>Vérifier que le pare-feu autorise Ncat</vt:lpstr>
      <vt:lpstr>Reconstitution de l’accès distant</vt:lpstr>
      <vt:lpstr>Présentation PowerPoint</vt:lpstr>
      <vt:lpstr>Recherche du mécanisme de persistance</vt:lpstr>
      <vt:lpstr>Différence Run et RunOnce</vt:lpstr>
      <vt:lpstr>Reconstitution de la persistance de l’incident</vt:lpstr>
      <vt:lpstr>Présentation PowerPoint</vt:lpstr>
      <vt:lpstr>Recherche du fichier malveillant</vt:lpstr>
      <vt:lpstr>Indice d’exécution de Rapport.pdf.exe</vt:lpstr>
      <vt:lpstr>Paramètres réseau dans la configuration pfSense</vt:lpstr>
      <vt:lpstr>Reconstitution de l’infection</vt:lpstr>
      <vt:lpstr>Cartographie MITRE ATT&amp;CK</vt:lpstr>
      <vt:lpstr>Indicateurs de compromission (IOC)</vt:lpstr>
      <vt:lpstr>Chronologie globale de l'attaque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Cedric Dezszer</dc:creator>
  <cp:lastModifiedBy>Cedric Dezszer</cp:lastModifiedBy>
  <cp:revision>205</cp:revision>
  <dcterms:created xsi:type="dcterms:W3CDTF">2026-07-15T13:44:27Z</dcterms:created>
  <dcterms:modified xsi:type="dcterms:W3CDTF">2026-09-18T14:23:38Z</dcterms:modified>
</cp:coreProperties>
</file>