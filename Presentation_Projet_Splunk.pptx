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sldIdLst>
    <p:sldId id="256" r:id="rId2"/>
    <p:sldId id="258" r:id="rId3"/>
    <p:sldId id="288" r:id="rId4"/>
    <p:sldId id="289" r:id="rId5"/>
    <p:sldId id="290" r:id="rId6"/>
    <p:sldId id="257" r:id="rId7"/>
    <p:sldId id="259" r:id="rId8"/>
    <p:sldId id="260" r:id="rId9"/>
    <p:sldId id="261" r:id="rId10"/>
    <p:sldId id="287" r:id="rId11"/>
    <p:sldId id="262" r:id="rId12"/>
    <p:sldId id="285" r:id="rId13"/>
    <p:sldId id="263" r:id="rId14"/>
    <p:sldId id="264" r:id="rId15"/>
    <p:sldId id="270" r:id="rId16"/>
    <p:sldId id="267" r:id="rId17"/>
    <p:sldId id="292" r:id="rId18"/>
    <p:sldId id="266" r:id="rId19"/>
    <p:sldId id="268" r:id="rId20"/>
    <p:sldId id="269" r:id="rId21"/>
    <p:sldId id="299" r:id="rId22"/>
    <p:sldId id="272" r:id="rId23"/>
    <p:sldId id="297" r:id="rId24"/>
    <p:sldId id="296" r:id="rId25"/>
    <p:sldId id="286" r:id="rId26"/>
    <p:sldId id="273" r:id="rId27"/>
    <p:sldId id="274" r:id="rId28"/>
    <p:sldId id="298" r:id="rId29"/>
    <p:sldId id="275" r:id="rId30"/>
    <p:sldId id="295" r:id="rId31"/>
    <p:sldId id="279" r:id="rId32"/>
    <p:sldId id="276" r:id="rId33"/>
    <p:sldId id="293" r:id="rId34"/>
    <p:sldId id="277" r:id="rId35"/>
    <p:sldId id="278" r:id="rId36"/>
    <p:sldId id="283" r:id="rId37"/>
    <p:sldId id="294" r:id="rId38"/>
    <p:sldId id="280"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BA6613-5358-493B-AC9A-E23968A99F23}"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fr-FR"/>
        </a:p>
      </dgm:t>
    </dgm:pt>
    <dgm:pt modelId="{8CFE6FBF-82C3-45FF-BE7A-2084CC5C6ED0}">
      <dgm:prSet phldrT="[Texte]"/>
      <dgm:spPr/>
      <dgm:t>
        <a:bodyPr/>
        <a:lstStyle/>
        <a:p>
          <a:pPr>
            <a:buNone/>
          </a:pPr>
          <a:r>
            <a:rPr lang="fr-FR" dirty="0"/>
            <a:t>Découverte du réseau</a:t>
          </a:r>
        </a:p>
      </dgm:t>
    </dgm:pt>
    <dgm:pt modelId="{6E6D4F75-0DB4-433B-8522-597FFBC3E545}" type="parTrans" cxnId="{F5873DF3-6430-4C5F-81AE-A352F1E2715A}">
      <dgm:prSet/>
      <dgm:spPr/>
      <dgm:t>
        <a:bodyPr/>
        <a:lstStyle/>
        <a:p>
          <a:endParaRPr lang="fr-FR"/>
        </a:p>
      </dgm:t>
    </dgm:pt>
    <dgm:pt modelId="{C1133350-8D05-4507-B922-C8C2E968F714}" type="sibTrans" cxnId="{F5873DF3-6430-4C5F-81AE-A352F1E2715A}">
      <dgm:prSet/>
      <dgm:spPr/>
      <dgm:t>
        <a:bodyPr/>
        <a:lstStyle/>
        <a:p>
          <a:endParaRPr lang="fr-FR"/>
        </a:p>
      </dgm:t>
    </dgm:pt>
    <dgm:pt modelId="{B50F54ED-A38A-498E-B2F7-9E5267A3D0F5}">
      <dgm:prSet phldrT="[Texte]"/>
      <dgm:spPr/>
      <dgm:t>
        <a:bodyPr/>
        <a:lstStyle/>
        <a:p>
          <a:pPr>
            <a:buNone/>
          </a:pPr>
          <a:r>
            <a:rPr lang="fr-FR" dirty="0"/>
            <a:t>Scan </a:t>
          </a:r>
          <a:r>
            <a:rPr lang="fr-FR" dirty="0" err="1"/>
            <a:t>Nmap</a:t>
          </a:r>
          <a:r>
            <a:rPr lang="fr-FR" dirty="0"/>
            <a:t>  TCP / UDP </a:t>
          </a:r>
        </a:p>
      </dgm:t>
    </dgm:pt>
    <dgm:pt modelId="{BDC49317-70C7-4319-B3C7-9ED34284B320}" type="parTrans" cxnId="{F61311B3-7910-4036-9CEA-557AD42D19E3}">
      <dgm:prSet/>
      <dgm:spPr/>
      <dgm:t>
        <a:bodyPr/>
        <a:lstStyle/>
        <a:p>
          <a:endParaRPr lang="fr-FR"/>
        </a:p>
      </dgm:t>
    </dgm:pt>
    <dgm:pt modelId="{CFF96300-6B49-4A41-9E80-6CB72A6440B6}" type="sibTrans" cxnId="{F61311B3-7910-4036-9CEA-557AD42D19E3}">
      <dgm:prSet/>
      <dgm:spPr/>
      <dgm:t>
        <a:bodyPr/>
        <a:lstStyle/>
        <a:p>
          <a:endParaRPr lang="fr-FR"/>
        </a:p>
      </dgm:t>
    </dgm:pt>
    <dgm:pt modelId="{D4377544-C8FF-4E27-971F-81AF0C80360D}">
      <dgm:prSet phldrT="[Texte]"/>
      <dgm:spPr/>
      <dgm:t>
        <a:bodyPr/>
        <a:lstStyle/>
        <a:p>
          <a:pPr>
            <a:buNone/>
          </a:pPr>
          <a:r>
            <a:rPr lang="fr-FR" dirty="0"/>
            <a:t>Services détectés </a:t>
          </a:r>
        </a:p>
        <a:p>
          <a:pPr>
            <a:buNone/>
          </a:pPr>
          <a:r>
            <a:rPr lang="fr-FR" dirty="0"/>
            <a:t>SSH  HTTP   DNS  RDP  </a:t>
          </a:r>
          <a:r>
            <a:rPr lang="fr-FR" dirty="0" err="1"/>
            <a:t>OpenVPN</a:t>
          </a:r>
          <a:r>
            <a:rPr lang="fr-FR" dirty="0"/>
            <a:t> </a:t>
          </a:r>
        </a:p>
      </dgm:t>
    </dgm:pt>
    <dgm:pt modelId="{5F4F721F-B9EA-4A07-8300-260A058B68CA}" type="parTrans" cxnId="{F8F73FD7-B573-4121-AF77-052DCF76A89D}">
      <dgm:prSet/>
      <dgm:spPr/>
      <dgm:t>
        <a:bodyPr/>
        <a:lstStyle/>
        <a:p>
          <a:endParaRPr lang="fr-FR"/>
        </a:p>
      </dgm:t>
    </dgm:pt>
    <dgm:pt modelId="{3014BE61-0667-4872-BE7A-FDD98FCB3AD8}" type="sibTrans" cxnId="{F8F73FD7-B573-4121-AF77-052DCF76A89D}">
      <dgm:prSet/>
      <dgm:spPr/>
      <dgm:t>
        <a:bodyPr/>
        <a:lstStyle/>
        <a:p>
          <a:endParaRPr lang="fr-FR"/>
        </a:p>
      </dgm:t>
    </dgm:pt>
    <dgm:pt modelId="{448C5B59-0A29-4FAF-BB12-3FF67DCA59FB}">
      <dgm:prSet phldrT="[Texte]"/>
      <dgm:spPr/>
      <dgm:t>
        <a:bodyPr/>
        <a:lstStyle/>
        <a:p>
          <a:pPr>
            <a:buNone/>
          </a:pPr>
          <a:r>
            <a:rPr lang="fr-FR" dirty="0"/>
            <a:t>Vulnérabilités  Ports ouverts Versions obsolètes   Configuration faible</a:t>
          </a:r>
        </a:p>
      </dgm:t>
    </dgm:pt>
    <dgm:pt modelId="{F2B750A7-BE05-447D-90F7-7B54FA79DD47}" type="parTrans" cxnId="{D34302D7-125F-48B8-8CB5-95D7EA9E10E7}">
      <dgm:prSet/>
      <dgm:spPr/>
      <dgm:t>
        <a:bodyPr/>
        <a:lstStyle/>
        <a:p>
          <a:endParaRPr lang="fr-FR"/>
        </a:p>
      </dgm:t>
    </dgm:pt>
    <dgm:pt modelId="{1213EC08-AC1B-4654-A0F5-CB4161AE1A3A}" type="sibTrans" cxnId="{D34302D7-125F-48B8-8CB5-95D7EA9E10E7}">
      <dgm:prSet/>
      <dgm:spPr/>
      <dgm:t>
        <a:bodyPr/>
        <a:lstStyle/>
        <a:p>
          <a:endParaRPr lang="fr-FR"/>
        </a:p>
      </dgm:t>
    </dgm:pt>
    <dgm:pt modelId="{CD23CD25-D4CF-494F-85DE-58EF5A80D5FD}">
      <dgm:prSet phldrT="[Texte]"/>
      <dgm:spPr/>
      <dgm:t>
        <a:bodyPr/>
        <a:lstStyle/>
        <a:p>
          <a:pPr>
            <a:buNone/>
          </a:pPr>
          <a:r>
            <a:rPr lang="fr-FR" dirty="0"/>
            <a:t>Plan de sécurisation</a:t>
          </a:r>
        </a:p>
      </dgm:t>
    </dgm:pt>
    <dgm:pt modelId="{D5BA6E38-DE37-40BA-83BE-59D85D98074B}" type="parTrans" cxnId="{D8B8783E-DE57-4E8B-8B7A-7BDF8A374006}">
      <dgm:prSet/>
      <dgm:spPr/>
      <dgm:t>
        <a:bodyPr/>
        <a:lstStyle/>
        <a:p>
          <a:endParaRPr lang="fr-FR"/>
        </a:p>
      </dgm:t>
    </dgm:pt>
    <dgm:pt modelId="{A19288CA-8E7B-40C5-8246-0779605A1B92}" type="sibTrans" cxnId="{D8B8783E-DE57-4E8B-8B7A-7BDF8A374006}">
      <dgm:prSet/>
      <dgm:spPr/>
      <dgm:t>
        <a:bodyPr/>
        <a:lstStyle/>
        <a:p>
          <a:endParaRPr lang="fr-FR"/>
        </a:p>
      </dgm:t>
    </dgm:pt>
    <dgm:pt modelId="{2E630797-7E19-4C1E-A5DC-9D9FF0CB6ADB}" type="pres">
      <dgm:prSet presAssocID="{86BA6613-5358-493B-AC9A-E23968A99F23}" presName="Name0" presStyleCnt="0">
        <dgm:presLayoutVars>
          <dgm:dir/>
          <dgm:resizeHandles val="exact"/>
        </dgm:presLayoutVars>
      </dgm:prSet>
      <dgm:spPr/>
    </dgm:pt>
    <dgm:pt modelId="{2FEF5855-8672-422A-B4A1-FA703612E9A6}" type="pres">
      <dgm:prSet presAssocID="{8CFE6FBF-82C3-45FF-BE7A-2084CC5C6ED0}" presName="node" presStyleLbl="node1" presStyleIdx="0" presStyleCnt="5">
        <dgm:presLayoutVars>
          <dgm:bulletEnabled val="1"/>
        </dgm:presLayoutVars>
      </dgm:prSet>
      <dgm:spPr/>
    </dgm:pt>
    <dgm:pt modelId="{A2851E37-1B52-4A26-92DD-29D363FDE0D5}" type="pres">
      <dgm:prSet presAssocID="{C1133350-8D05-4507-B922-C8C2E968F714}" presName="sibTrans" presStyleLbl="sibTrans2D1" presStyleIdx="0" presStyleCnt="4"/>
      <dgm:spPr/>
    </dgm:pt>
    <dgm:pt modelId="{AEFBB520-F963-4AFD-86CE-1570CD9828A3}" type="pres">
      <dgm:prSet presAssocID="{C1133350-8D05-4507-B922-C8C2E968F714}" presName="connectorText" presStyleLbl="sibTrans2D1" presStyleIdx="0" presStyleCnt="4"/>
      <dgm:spPr/>
    </dgm:pt>
    <dgm:pt modelId="{8D2F5D27-A966-42EE-A988-C5ABA7616564}" type="pres">
      <dgm:prSet presAssocID="{B50F54ED-A38A-498E-B2F7-9E5267A3D0F5}" presName="node" presStyleLbl="node1" presStyleIdx="1" presStyleCnt="5">
        <dgm:presLayoutVars>
          <dgm:bulletEnabled val="1"/>
        </dgm:presLayoutVars>
      </dgm:prSet>
      <dgm:spPr/>
    </dgm:pt>
    <dgm:pt modelId="{D2CFF548-C0B9-4AEA-8268-801718FD0D28}" type="pres">
      <dgm:prSet presAssocID="{CFF96300-6B49-4A41-9E80-6CB72A6440B6}" presName="sibTrans" presStyleLbl="sibTrans2D1" presStyleIdx="1" presStyleCnt="4"/>
      <dgm:spPr/>
    </dgm:pt>
    <dgm:pt modelId="{9B8A03C8-4582-44F8-B860-CAC56D4F5D50}" type="pres">
      <dgm:prSet presAssocID="{CFF96300-6B49-4A41-9E80-6CB72A6440B6}" presName="connectorText" presStyleLbl="sibTrans2D1" presStyleIdx="1" presStyleCnt="4"/>
      <dgm:spPr/>
    </dgm:pt>
    <dgm:pt modelId="{2A916CE6-0D1F-494D-8ED1-AC2A9F1074FC}" type="pres">
      <dgm:prSet presAssocID="{D4377544-C8FF-4E27-971F-81AF0C80360D}" presName="node" presStyleLbl="node1" presStyleIdx="2" presStyleCnt="5">
        <dgm:presLayoutVars>
          <dgm:bulletEnabled val="1"/>
        </dgm:presLayoutVars>
      </dgm:prSet>
      <dgm:spPr/>
    </dgm:pt>
    <dgm:pt modelId="{F071EC60-F039-4F57-A634-70E1F5BA3DFF}" type="pres">
      <dgm:prSet presAssocID="{3014BE61-0667-4872-BE7A-FDD98FCB3AD8}" presName="sibTrans" presStyleLbl="sibTrans2D1" presStyleIdx="2" presStyleCnt="4"/>
      <dgm:spPr/>
    </dgm:pt>
    <dgm:pt modelId="{3D689E6B-A768-4ECE-901C-F224869B3554}" type="pres">
      <dgm:prSet presAssocID="{3014BE61-0667-4872-BE7A-FDD98FCB3AD8}" presName="connectorText" presStyleLbl="sibTrans2D1" presStyleIdx="2" presStyleCnt="4"/>
      <dgm:spPr/>
    </dgm:pt>
    <dgm:pt modelId="{1FAF617F-2553-488A-91EF-B42A70665952}" type="pres">
      <dgm:prSet presAssocID="{448C5B59-0A29-4FAF-BB12-3FF67DCA59FB}" presName="node" presStyleLbl="node1" presStyleIdx="3" presStyleCnt="5">
        <dgm:presLayoutVars>
          <dgm:bulletEnabled val="1"/>
        </dgm:presLayoutVars>
      </dgm:prSet>
      <dgm:spPr/>
    </dgm:pt>
    <dgm:pt modelId="{B918C6CE-CFFC-46FE-BB95-78FC247AED2D}" type="pres">
      <dgm:prSet presAssocID="{1213EC08-AC1B-4654-A0F5-CB4161AE1A3A}" presName="sibTrans" presStyleLbl="sibTrans2D1" presStyleIdx="3" presStyleCnt="4"/>
      <dgm:spPr/>
    </dgm:pt>
    <dgm:pt modelId="{4455CEF7-CC49-4EB2-8A52-C8E91DBE3D25}" type="pres">
      <dgm:prSet presAssocID="{1213EC08-AC1B-4654-A0F5-CB4161AE1A3A}" presName="connectorText" presStyleLbl="sibTrans2D1" presStyleIdx="3" presStyleCnt="4"/>
      <dgm:spPr/>
    </dgm:pt>
    <dgm:pt modelId="{2F871E7A-77A4-420C-A4B3-DD5770F43350}" type="pres">
      <dgm:prSet presAssocID="{CD23CD25-D4CF-494F-85DE-58EF5A80D5FD}" presName="node" presStyleLbl="node1" presStyleIdx="4" presStyleCnt="5">
        <dgm:presLayoutVars>
          <dgm:bulletEnabled val="1"/>
        </dgm:presLayoutVars>
      </dgm:prSet>
      <dgm:spPr/>
    </dgm:pt>
  </dgm:ptLst>
  <dgm:cxnLst>
    <dgm:cxn modelId="{E02CA713-72DD-4192-AD46-33AAFB785316}" type="presOf" srcId="{CFF96300-6B49-4A41-9E80-6CB72A6440B6}" destId="{D2CFF548-C0B9-4AEA-8268-801718FD0D28}" srcOrd="0" destOrd="0" presId="urn:microsoft.com/office/officeart/2005/8/layout/process1"/>
    <dgm:cxn modelId="{6CE9AB1C-E291-46A3-A8E7-5B32305B2001}" type="presOf" srcId="{1213EC08-AC1B-4654-A0F5-CB4161AE1A3A}" destId="{4455CEF7-CC49-4EB2-8A52-C8E91DBE3D25}" srcOrd="1" destOrd="0" presId="urn:microsoft.com/office/officeart/2005/8/layout/process1"/>
    <dgm:cxn modelId="{603B6425-D849-453F-8E69-893640EB241B}" type="presOf" srcId="{C1133350-8D05-4507-B922-C8C2E968F714}" destId="{AEFBB520-F963-4AFD-86CE-1570CD9828A3}" srcOrd="1" destOrd="0" presId="urn:microsoft.com/office/officeart/2005/8/layout/process1"/>
    <dgm:cxn modelId="{79231527-FA0D-4BEE-A44A-07833E1DC5AB}" type="presOf" srcId="{CD23CD25-D4CF-494F-85DE-58EF5A80D5FD}" destId="{2F871E7A-77A4-420C-A4B3-DD5770F43350}" srcOrd="0" destOrd="0" presId="urn:microsoft.com/office/officeart/2005/8/layout/process1"/>
    <dgm:cxn modelId="{62562C35-F62A-4EB6-996F-A848FF52490B}" type="presOf" srcId="{CFF96300-6B49-4A41-9E80-6CB72A6440B6}" destId="{9B8A03C8-4582-44F8-B860-CAC56D4F5D50}" srcOrd="1" destOrd="0" presId="urn:microsoft.com/office/officeart/2005/8/layout/process1"/>
    <dgm:cxn modelId="{D8B8783E-DE57-4E8B-8B7A-7BDF8A374006}" srcId="{86BA6613-5358-493B-AC9A-E23968A99F23}" destId="{CD23CD25-D4CF-494F-85DE-58EF5A80D5FD}" srcOrd="4" destOrd="0" parTransId="{D5BA6E38-DE37-40BA-83BE-59D85D98074B}" sibTransId="{A19288CA-8E7B-40C5-8246-0779605A1B92}"/>
    <dgm:cxn modelId="{27BC8A41-7D04-4D65-B30E-A4BE0A73106D}" type="presOf" srcId="{86BA6613-5358-493B-AC9A-E23968A99F23}" destId="{2E630797-7E19-4C1E-A5DC-9D9FF0CB6ADB}" srcOrd="0" destOrd="0" presId="urn:microsoft.com/office/officeart/2005/8/layout/process1"/>
    <dgm:cxn modelId="{84BECC44-F85A-4F23-8CB5-B541C05BE3B1}" type="presOf" srcId="{B50F54ED-A38A-498E-B2F7-9E5267A3D0F5}" destId="{8D2F5D27-A966-42EE-A988-C5ABA7616564}" srcOrd="0" destOrd="0" presId="urn:microsoft.com/office/officeart/2005/8/layout/process1"/>
    <dgm:cxn modelId="{47A5C982-F3BE-44D1-81E7-D7CF1B00E97D}" type="presOf" srcId="{3014BE61-0667-4872-BE7A-FDD98FCB3AD8}" destId="{3D689E6B-A768-4ECE-901C-F224869B3554}" srcOrd="1" destOrd="0" presId="urn:microsoft.com/office/officeart/2005/8/layout/process1"/>
    <dgm:cxn modelId="{AFC10D90-5914-49B3-9583-E12E28E7310C}" type="presOf" srcId="{1213EC08-AC1B-4654-A0F5-CB4161AE1A3A}" destId="{B918C6CE-CFFC-46FE-BB95-78FC247AED2D}" srcOrd="0" destOrd="0" presId="urn:microsoft.com/office/officeart/2005/8/layout/process1"/>
    <dgm:cxn modelId="{3669C59F-0C72-4072-9FC4-5B9AA7AA242C}" type="presOf" srcId="{C1133350-8D05-4507-B922-C8C2E968F714}" destId="{A2851E37-1B52-4A26-92DD-29D363FDE0D5}" srcOrd="0" destOrd="0" presId="urn:microsoft.com/office/officeart/2005/8/layout/process1"/>
    <dgm:cxn modelId="{8A7641A3-DC2E-4BEB-89CD-8506161CEC95}" type="presOf" srcId="{448C5B59-0A29-4FAF-BB12-3FF67DCA59FB}" destId="{1FAF617F-2553-488A-91EF-B42A70665952}" srcOrd="0" destOrd="0" presId="urn:microsoft.com/office/officeart/2005/8/layout/process1"/>
    <dgm:cxn modelId="{F61311B3-7910-4036-9CEA-557AD42D19E3}" srcId="{86BA6613-5358-493B-AC9A-E23968A99F23}" destId="{B50F54ED-A38A-498E-B2F7-9E5267A3D0F5}" srcOrd="1" destOrd="0" parTransId="{BDC49317-70C7-4319-B3C7-9ED34284B320}" sibTransId="{CFF96300-6B49-4A41-9E80-6CB72A6440B6}"/>
    <dgm:cxn modelId="{45E90AB8-FF3B-45B4-8CCB-ED10EE138AB8}" type="presOf" srcId="{D4377544-C8FF-4E27-971F-81AF0C80360D}" destId="{2A916CE6-0D1F-494D-8ED1-AC2A9F1074FC}" srcOrd="0" destOrd="0" presId="urn:microsoft.com/office/officeart/2005/8/layout/process1"/>
    <dgm:cxn modelId="{728E5DC1-FE8C-4D3C-B63A-82CFA599D632}" type="presOf" srcId="{3014BE61-0667-4872-BE7A-FDD98FCB3AD8}" destId="{F071EC60-F039-4F57-A634-70E1F5BA3DFF}" srcOrd="0" destOrd="0" presId="urn:microsoft.com/office/officeart/2005/8/layout/process1"/>
    <dgm:cxn modelId="{D34302D7-125F-48B8-8CB5-95D7EA9E10E7}" srcId="{86BA6613-5358-493B-AC9A-E23968A99F23}" destId="{448C5B59-0A29-4FAF-BB12-3FF67DCA59FB}" srcOrd="3" destOrd="0" parTransId="{F2B750A7-BE05-447D-90F7-7B54FA79DD47}" sibTransId="{1213EC08-AC1B-4654-A0F5-CB4161AE1A3A}"/>
    <dgm:cxn modelId="{F8F73FD7-B573-4121-AF77-052DCF76A89D}" srcId="{86BA6613-5358-493B-AC9A-E23968A99F23}" destId="{D4377544-C8FF-4E27-971F-81AF0C80360D}" srcOrd="2" destOrd="0" parTransId="{5F4F721F-B9EA-4A07-8300-260A058B68CA}" sibTransId="{3014BE61-0667-4872-BE7A-FDD98FCB3AD8}"/>
    <dgm:cxn modelId="{76C17EED-783B-473E-B4CA-E25A69C48646}" type="presOf" srcId="{8CFE6FBF-82C3-45FF-BE7A-2084CC5C6ED0}" destId="{2FEF5855-8672-422A-B4A1-FA703612E9A6}" srcOrd="0" destOrd="0" presId="urn:microsoft.com/office/officeart/2005/8/layout/process1"/>
    <dgm:cxn modelId="{F5873DF3-6430-4C5F-81AE-A352F1E2715A}" srcId="{86BA6613-5358-493B-AC9A-E23968A99F23}" destId="{8CFE6FBF-82C3-45FF-BE7A-2084CC5C6ED0}" srcOrd="0" destOrd="0" parTransId="{6E6D4F75-0DB4-433B-8522-597FFBC3E545}" sibTransId="{C1133350-8D05-4507-B922-C8C2E968F714}"/>
    <dgm:cxn modelId="{4FDB003B-C2C9-4327-AAD5-6758C7EC26BE}" type="presParOf" srcId="{2E630797-7E19-4C1E-A5DC-9D9FF0CB6ADB}" destId="{2FEF5855-8672-422A-B4A1-FA703612E9A6}" srcOrd="0" destOrd="0" presId="urn:microsoft.com/office/officeart/2005/8/layout/process1"/>
    <dgm:cxn modelId="{98D8C97C-3F40-4853-B80A-49EE268E4F7A}" type="presParOf" srcId="{2E630797-7E19-4C1E-A5DC-9D9FF0CB6ADB}" destId="{A2851E37-1B52-4A26-92DD-29D363FDE0D5}" srcOrd="1" destOrd="0" presId="urn:microsoft.com/office/officeart/2005/8/layout/process1"/>
    <dgm:cxn modelId="{818DFE1A-A94A-4D84-A391-2DCF1FB02137}" type="presParOf" srcId="{A2851E37-1B52-4A26-92DD-29D363FDE0D5}" destId="{AEFBB520-F963-4AFD-86CE-1570CD9828A3}" srcOrd="0" destOrd="0" presId="urn:microsoft.com/office/officeart/2005/8/layout/process1"/>
    <dgm:cxn modelId="{EF49B028-09F9-40B4-837B-AEB68FBC870A}" type="presParOf" srcId="{2E630797-7E19-4C1E-A5DC-9D9FF0CB6ADB}" destId="{8D2F5D27-A966-42EE-A988-C5ABA7616564}" srcOrd="2" destOrd="0" presId="urn:microsoft.com/office/officeart/2005/8/layout/process1"/>
    <dgm:cxn modelId="{41DD8169-38FD-4F69-9B06-083D53A49838}" type="presParOf" srcId="{2E630797-7E19-4C1E-A5DC-9D9FF0CB6ADB}" destId="{D2CFF548-C0B9-4AEA-8268-801718FD0D28}" srcOrd="3" destOrd="0" presId="urn:microsoft.com/office/officeart/2005/8/layout/process1"/>
    <dgm:cxn modelId="{0F237924-5FCE-4115-B0C7-EB137249AAD3}" type="presParOf" srcId="{D2CFF548-C0B9-4AEA-8268-801718FD0D28}" destId="{9B8A03C8-4582-44F8-B860-CAC56D4F5D50}" srcOrd="0" destOrd="0" presId="urn:microsoft.com/office/officeart/2005/8/layout/process1"/>
    <dgm:cxn modelId="{58E3EBFB-8938-4F69-BC79-8344FD930F9D}" type="presParOf" srcId="{2E630797-7E19-4C1E-A5DC-9D9FF0CB6ADB}" destId="{2A916CE6-0D1F-494D-8ED1-AC2A9F1074FC}" srcOrd="4" destOrd="0" presId="urn:microsoft.com/office/officeart/2005/8/layout/process1"/>
    <dgm:cxn modelId="{4CF51909-169E-4DF5-AB80-A93AACD26C41}" type="presParOf" srcId="{2E630797-7E19-4C1E-A5DC-9D9FF0CB6ADB}" destId="{F071EC60-F039-4F57-A634-70E1F5BA3DFF}" srcOrd="5" destOrd="0" presId="urn:microsoft.com/office/officeart/2005/8/layout/process1"/>
    <dgm:cxn modelId="{CB7CE90B-10AF-4395-8C39-7D32F4299A04}" type="presParOf" srcId="{F071EC60-F039-4F57-A634-70E1F5BA3DFF}" destId="{3D689E6B-A768-4ECE-901C-F224869B3554}" srcOrd="0" destOrd="0" presId="urn:microsoft.com/office/officeart/2005/8/layout/process1"/>
    <dgm:cxn modelId="{CD0A6133-584E-4AE8-AB5E-6505F750A161}" type="presParOf" srcId="{2E630797-7E19-4C1E-A5DC-9D9FF0CB6ADB}" destId="{1FAF617F-2553-488A-91EF-B42A70665952}" srcOrd="6" destOrd="0" presId="urn:microsoft.com/office/officeart/2005/8/layout/process1"/>
    <dgm:cxn modelId="{7C0CF53E-C51F-4D43-8FBA-F338F744538C}" type="presParOf" srcId="{2E630797-7E19-4C1E-A5DC-9D9FF0CB6ADB}" destId="{B918C6CE-CFFC-46FE-BB95-78FC247AED2D}" srcOrd="7" destOrd="0" presId="urn:microsoft.com/office/officeart/2005/8/layout/process1"/>
    <dgm:cxn modelId="{FE1F5851-F18A-49ED-BC25-B7398978A1E8}" type="presParOf" srcId="{B918C6CE-CFFC-46FE-BB95-78FC247AED2D}" destId="{4455CEF7-CC49-4EB2-8A52-C8E91DBE3D25}" srcOrd="0" destOrd="0" presId="urn:microsoft.com/office/officeart/2005/8/layout/process1"/>
    <dgm:cxn modelId="{1C2B1914-BD30-4D7F-BBB4-FCA51FFA9081}" type="presParOf" srcId="{2E630797-7E19-4C1E-A5DC-9D9FF0CB6ADB}" destId="{2F871E7A-77A4-420C-A4B3-DD5770F43350}"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DADBA6-A5E5-4E85-852D-FDBBFD5E9D64}"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fr-FR"/>
        </a:p>
      </dgm:t>
    </dgm:pt>
    <dgm:pt modelId="{7FDB1B3C-B0DF-40DE-BB75-85CEC7A1B63B}">
      <dgm:prSet phldrT="[Texte]" phldr="0"/>
      <dgm:spPr/>
      <dgm:t>
        <a:bodyPr/>
        <a:lstStyle/>
        <a:p>
          <a:r>
            <a:rPr lang="fr-FR" dirty="0"/>
            <a:t>Incident</a:t>
          </a:r>
        </a:p>
      </dgm:t>
    </dgm:pt>
    <dgm:pt modelId="{57743DD8-B13E-44CE-8EC9-EDD37473FEC7}" type="parTrans" cxnId="{5595F69D-CB50-4277-B76C-E21F41FBC4CA}">
      <dgm:prSet/>
      <dgm:spPr/>
      <dgm:t>
        <a:bodyPr/>
        <a:lstStyle/>
        <a:p>
          <a:endParaRPr lang="fr-FR"/>
        </a:p>
      </dgm:t>
    </dgm:pt>
    <dgm:pt modelId="{2E4C5009-3FBF-4C1D-B7E0-2922EAB0C529}" type="sibTrans" cxnId="{5595F69D-CB50-4277-B76C-E21F41FBC4CA}">
      <dgm:prSet/>
      <dgm:spPr/>
      <dgm:t>
        <a:bodyPr/>
        <a:lstStyle/>
        <a:p>
          <a:endParaRPr lang="fr-FR"/>
        </a:p>
      </dgm:t>
    </dgm:pt>
    <dgm:pt modelId="{A9A4F1FD-801D-4B6A-BD65-E4EAF20FEE9C}">
      <dgm:prSet phldrT="[Texte]" phldr="0"/>
      <dgm:spPr/>
      <dgm:t>
        <a:bodyPr/>
        <a:lstStyle/>
        <a:p>
          <a:r>
            <a:rPr lang="fr-FR" dirty="0"/>
            <a:t>Détection</a:t>
          </a:r>
        </a:p>
      </dgm:t>
    </dgm:pt>
    <dgm:pt modelId="{6A665317-67A7-4799-9560-2BCED7D5C4CE}" type="parTrans" cxnId="{75995A1C-03DB-42FD-89A5-35A51C754A92}">
      <dgm:prSet/>
      <dgm:spPr/>
      <dgm:t>
        <a:bodyPr/>
        <a:lstStyle/>
        <a:p>
          <a:endParaRPr lang="fr-FR"/>
        </a:p>
      </dgm:t>
    </dgm:pt>
    <dgm:pt modelId="{6628072C-1CC1-4F27-95A2-AEFFE1989867}" type="sibTrans" cxnId="{75995A1C-03DB-42FD-89A5-35A51C754A92}">
      <dgm:prSet/>
      <dgm:spPr/>
      <dgm:t>
        <a:bodyPr/>
        <a:lstStyle/>
        <a:p>
          <a:endParaRPr lang="fr-FR"/>
        </a:p>
      </dgm:t>
    </dgm:pt>
    <dgm:pt modelId="{7390A233-FCDD-4E17-8866-C01067BD70BB}">
      <dgm:prSet phldrT="[Texte]" phldr="0"/>
      <dgm:spPr/>
      <dgm:t>
        <a:bodyPr/>
        <a:lstStyle/>
        <a:p>
          <a:r>
            <a:rPr lang="fr-FR" dirty="0"/>
            <a:t>Confinement</a:t>
          </a:r>
        </a:p>
      </dgm:t>
    </dgm:pt>
    <dgm:pt modelId="{668E3898-DC2C-4EF7-8B74-237A27B804DC}" type="parTrans" cxnId="{FA7A2434-FC74-4AF0-BDE4-BB2E33F0347A}">
      <dgm:prSet/>
      <dgm:spPr/>
      <dgm:t>
        <a:bodyPr/>
        <a:lstStyle/>
        <a:p>
          <a:endParaRPr lang="fr-FR"/>
        </a:p>
      </dgm:t>
    </dgm:pt>
    <dgm:pt modelId="{1F25719C-2A9E-4ED0-8FF8-3C413B4ECEEB}" type="sibTrans" cxnId="{FA7A2434-FC74-4AF0-BDE4-BB2E33F0347A}">
      <dgm:prSet/>
      <dgm:spPr/>
      <dgm:t>
        <a:bodyPr/>
        <a:lstStyle/>
        <a:p>
          <a:endParaRPr lang="fr-FR"/>
        </a:p>
      </dgm:t>
    </dgm:pt>
    <dgm:pt modelId="{EB7B309E-E59D-42D1-BCB5-3D3813F1EB39}">
      <dgm:prSet phldrT="[Texte]" phldr="0"/>
      <dgm:spPr/>
      <dgm:t>
        <a:bodyPr/>
        <a:lstStyle/>
        <a:p>
          <a:r>
            <a:rPr lang="fr-FR" dirty="0"/>
            <a:t>Investigation</a:t>
          </a:r>
        </a:p>
      </dgm:t>
    </dgm:pt>
    <dgm:pt modelId="{EB884E8E-81E7-439B-9BE9-4847E9F839EA}" type="parTrans" cxnId="{F377E882-AF1D-4C42-9D7B-0623DE1C4E71}">
      <dgm:prSet/>
      <dgm:spPr/>
      <dgm:t>
        <a:bodyPr/>
        <a:lstStyle/>
        <a:p>
          <a:endParaRPr lang="fr-FR"/>
        </a:p>
      </dgm:t>
    </dgm:pt>
    <dgm:pt modelId="{3413FE07-62A4-44FE-A257-4D78A56A7947}" type="sibTrans" cxnId="{F377E882-AF1D-4C42-9D7B-0623DE1C4E71}">
      <dgm:prSet/>
      <dgm:spPr/>
      <dgm:t>
        <a:bodyPr/>
        <a:lstStyle/>
        <a:p>
          <a:endParaRPr lang="fr-FR"/>
        </a:p>
      </dgm:t>
    </dgm:pt>
    <dgm:pt modelId="{CE5C3063-AA4F-49CF-B694-533E2A262765}">
      <dgm:prSet phldrT="[Texte]" phldr="0"/>
      <dgm:spPr/>
      <dgm:t>
        <a:bodyPr/>
        <a:lstStyle/>
        <a:p>
          <a:r>
            <a:rPr lang="fr-FR" dirty="0"/>
            <a:t>Amélioration</a:t>
          </a:r>
        </a:p>
      </dgm:t>
    </dgm:pt>
    <dgm:pt modelId="{4306AA9E-6D35-4D8B-9D48-F36D2DF7D066}" type="parTrans" cxnId="{810D2C2A-119B-4530-B0D4-BFB84AD82B1C}">
      <dgm:prSet/>
      <dgm:spPr/>
      <dgm:t>
        <a:bodyPr/>
        <a:lstStyle/>
        <a:p>
          <a:endParaRPr lang="fr-FR"/>
        </a:p>
      </dgm:t>
    </dgm:pt>
    <dgm:pt modelId="{40BE7547-BC58-4547-A468-A4A5C252952C}" type="sibTrans" cxnId="{810D2C2A-119B-4530-B0D4-BFB84AD82B1C}">
      <dgm:prSet/>
      <dgm:spPr/>
      <dgm:t>
        <a:bodyPr/>
        <a:lstStyle/>
        <a:p>
          <a:endParaRPr lang="fr-FR"/>
        </a:p>
      </dgm:t>
    </dgm:pt>
    <dgm:pt modelId="{D39515A0-1085-477C-9F7F-0D903DCDAF49}">
      <dgm:prSet/>
      <dgm:spPr/>
      <dgm:t>
        <a:bodyPr/>
        <a:lstStyle/>
        <a:p>
          <a:pPr>
            <a:buNone/>
          </a:pPr>
          <a:r>
            <a:rPr lang="fr-FR"/>
            <a:t>Retour d'expérience</a:t>
          </a:r>
        </a:p>
      </dgm:t>
    </dgm:pt>
    <dgm:pt modelId="{4DE949D7-5B1B-4E9D-8D54-0540416C670C}" type="parTrans" cxnId="{42215AE6-418E-43B7-97D5-674A830A457B}">
      <dgm:prSet/>
      <dgm:spPr/>
      <dgm:t>
        <a:bodyPr/>
        <a:lstStyle/>
        <a:p>
          <a:endParaRPr lang="fr-FR"/>
        </a:p>
      </dgm:t>
    </dgm:pt>
    <dgm:pt modelId="{965F7860-57CE-4F6C-BF61-C3ADCFA5D903}" type="sibTrans" cxnId="{42215AE6-418E-43B7-97D5-674A830A457B}">
      <dgm:prSet/>
      <dgm:spPr/>
      <dgm:t>
        <a:bodyPr/>
        <a:lstStyle/>
        <a:p>
          <a:endParaRPr lang="fr-FR"/>
        </a:p>
      </dgm:t>
    </dgm:pt>
    <dgm:pt modelId="{D232DD70-273E-4FF9-8879-335ED7328AB9}" type="pres">
      <dgm:prSet presAssocID="{9CDADBA6-A5E5-4E85-852D-FDBBFD5E9D64}" presName="Name0" presStyleCnt="0">
        <dgm:presLayoutVars>
          <dgm:dir/>
          <dgm:resizeHandles val="exact"/>
        </dgm:presLayoutVars>
      </dgm:prSet>
      <dgm:spPr/>
    </dgm:pt>
    <dgm:pt modelId="{679DF088-2681-4081-8E18-F66BD76B8892}" type="pres">
      <dgm:prSet presAssocID="{7FDB1B3C-B0DF-40DE-BB75-85CEC7A1B63B}" presName="node" presStyleLbl="node1" presStyleIdx="0" presStyleCnt="6">
        <dgm:presLayoutVars>
          <dgm:bulletEnabled val="1"/>
        </dgm:presLayoutVars>
      </dgm:prSet>
      <dgm:spPr/>
    </dgm:pt>
    <dgm:pt modelId="{D5CCD71C-41F4-4E7E-8AFA-270A74DD05B0}" type="pres">
      <dgm:prSet presAssocID="{2E4C5009-3FBF-4C1D-B7E0-2922EAB0C529}" presName="sibTrans" presStyleLbl="sibTrans2D1" presStyleIdx="0" presStyleCnt="5"/>
      <dgm:spPr/>
    </dgm:pt>
    <dgm:pt modelId="{2F32F86D-250A-4F48-9872-0BADD979E13B}" type="pres">
      <dgm:prSet presAssocID="{2E4C5009-3FBF-4C1D-B7E0-2922EAB0C529}" presName="connectorText" presStyleLbl="sibTrans2D1" presStyleIdx="0" presStyleCnt="5"/>
      <dgm:spPr/>
    </dgm:pt>
    <dgm:pt modelId="{1E7381CF-5329-4B3C-A306-C2570241049B}" type="pres">
      <dgm:prSet presAssocID="{A9A4F1FD-801D-4B6A-BD65-E4EAF20FEE9C}" presName="node" presStyleLbl="node1" presStyleIdx="1" presStyleCnt="6">
        <dgm:presLayoutVars>
          <dgm:bulletEnabled val="1"/>
        </dgm:presLayoutVars>
      </dgm:prSet>
      <dgm:spPr/>
    </dgm:pt>
    <dgm:pt modelId="{3847187F-FAF4-4A8F-8C5E-527DBB70340D}" type="pres">
      <dgm:prSet presAssocID="{6628072C-1CC1-4F27-95A2-AEFFE1989867}" presName="sibTrans" presStyleLbl="sibTrans2D1" presStyleIdx="1" presStyleCnt="5"/>
      <dgm:spPr/>
    </dgm:pt>
    <dgm:pt modelId="{602AB18C-37B2-4E7B-958E-FD5C80233F4B}" type="pres">
      <dgm:prSet presAssocID="{6628072C-1CC1-4F27-95A2-AEFFE1989867}" presName="connectorText" presStyleLbl="sibTrans2D1" presStyleIdx="1" presStyleCnt="5"/>
      <dgm:spPr/>
    </dgm:pt>
    <dgm:pt modelId="{A3BAA4E8-9C58-472F-BE49-773952D17E5D}" type="pres">
      <dgm:prSet presAssocID="{7390A233-FCDD-4E17-8866-C01067BD70BB}" presName="node" presStyleLbl="node1" presStyleIdx="2" presStyleCnt="6">
        <dgm:presLayoutVars>
          <dgm:bulletEnabled val="1"/>
        </dgm:presLayoutVars>
      </dgm:prSet>
      <dgm:spPr/>
    </dgm:pt>
    <dgm:pt modelId="{C84F0D47-BC55-49B3-940E-5C1964879CBA}" type="pres">
      <dgm:prSet presAssocID="{1F25719C-2A9E-4ED0-8FF8-3C413B4ECEEB}" presName="sibTrans" presStyleLbl="sibTrans2D1" presStyleIdx="2" presStyleCnt="5"/>
      <dgm:spPr/>
    </dgm:pt>
    <dgm:pt modelId="{A69EC0FB-225B-4D98-8EC0-D8334B734359}" type="pres">
      <dgm:prSet presAssocID="{1F25719C-2A9E-4ED0-8FF8-3C413B4ECEEB}" presName="connectorText" presStyleLbl="sibTrans2D1" presStyleIdx="2" presStyleCnt="5"/>
      <dgm:spPr/>
    </dgm:pt>
    <dgm:pt modelId="{DFEDD416-CC0E-4535-BAC3-0D6CDDF843B7}" type="pres">
      <dgm:prSet presAssocID="{EB7B309E-E59D-42D1-BCB5-3D3813F1EB39}" presName="node" presStyleLbl="node1" presStyleIdx="3" presStyleCnt="6">
        <dgm:presLayoutVars>
          <dgm:bulletEnabled val="1"/>
        </dgm:presLayoutVars>
      </dgm:prSet>
      <dgm:spPr/>
    </dgm:pt>
    <dgm:pt modelId="{057671DB-9D5B-413A-AEC4-38B33A9A84FB}" type="pres">
      <dgm:prSet presAssocID="{3413FE07-62A4-44FE-A257-4D78A56A7947}" presName="sibTrans" presStyleLbl="sibTrans2D1" presStyleIdx="3" presStyleCnt="5"/>
      <dgm:spPr/>
    </dgm:pt>
    <dgm:pt modelId="{8547CD4E-BE91-4523-9017-62DD2274714B}" type="pres">
      <dgm:prSet presAssocID="{3413FE07-62A4-44FE-A257-4D78A56A7947}" presName="connectorText" presStyleLbl="sibTrans2D1" presStyleIdx="3" presStyleCnt="5"/>
      <dgm:spPr/>
    </dgm:pt>
    <dgm:pt modelId="{A34FE0FF-D309-4DDD-85C3-CE8347304881}" type="pres">
      <dgm:prSet presAssocID="{D39515A0-1085-477C-9F7F-0D903DCDAF49}" presName="node" presStyleLbl="node1" presStyleIdx="4" presStyleCnt="6">
        <dgm:presLayoutVars>
          <dgm:bulletEnabled val="1"/>
        </dgm:presLayoutVars>
      </dgm:prSet>
      <dgm:spPr/>
    </dgm:pt>
    <dgm:pt modelId="{CA41495F-C7FD-4604-83A3-A547B7E8CAFD}" type="pres">
      <dgm:prSet presAssocID="{965F7860-57CE-4F6C-BF61-C3ADCFA5D903}" presName="sibTrans" presStyleLbl="sibTrans2D1" presStyleIdx="4" presStyleCnt="5"/>
      <dgm:spPr/>
    </dgm:pt>
    <dgm:pt modelId="{66284EC9-10C2-41A3-95F9-4FFB6E3E6659}" type="pres">
      <dgm:prSet presAssocID="{965F7860-57CE-4F6C-BF61-C3ADCFA5D903}" presName="connectorText" presStyleLbl="sibTrans2D1" presStyleIdx="4" presStyleCnt="5"/>
      <dgm:spPr/>
    </dgm:pt>
    <dgm:pt modelId="{41645459-9A7D-4E73-8AAD-AF3194F43A65}" type="pres">
      <dgm:prSet presAssocID="{CE5C3063-AA4F-49CF-B694-533E2A262765}" presName="node" presStyleLbl="node1" presStyleIdx="5" presStyleCnt="6">
        <dgm:presLayoutVars>
          <dgm:bulletEnabled val="1"/>
        </dgm:presLayoutVars>
      </dgm:prSet>
      <dgm:spPr/>
    </dgm:pt>
  </dgm:ptLst>
  <dgm:cxnLst>
    <dgm:cxn modelId="{F06AC401-04BF-4AE6-9CC5-782EAD74F4CE}" type="presOf" srcId="{3413FE07-62A4-44FE-A257-4D78A56A7947}" destId="{057671DB-9D5B-413A-AEC4-38B33A9A84FB}" srcOrd="0" destOrd="0" presId="urn:microsoft.com/office/officeart/2005/8/layout/process1"/>
    <dgm:cxn modelId="{2DBD3806-B690-4170-A3F3-DAC706035030}" type="presOf" srcId="{EB7B309E-E59D-42D1-BCB5-3D3813F1EB39}" destId="{DFEDD416-CC0E-4535-BAC3-0D6CDDF843B7}" srcOrd="0" destOrd="0" presId="urn:microsoft.com/office/officeart/2005/8/layout/process1"/>
    <dgm:cxn modelId="{91DA720A-D568-44BF-A1F7-23D6232F6724}" type="presOf" srcId="{D39515A0-1085-477C-9F7F-0D903DCDAF49}" destId="{A34FE0FF-D309-4DDD-85C3-CE8347304881}" srcOrd="0" destOrd="0" presId="urn:microsoft.com/office/officeart/2005/8/layout/process1"/>
    <dgm:cxn modelId="{75995A1C-03DB-42FD-89A5-35A51C754A92}" srcId="{9CDADBA6-A5E5-4E85-852D-FDBBFD5E9D64}" destId="{A9A4F1FD-801D-4B6A-BD65-E4EAF20FEE9C}" srcOrd="1" destOrd="0" parTransId="{6A665317-67A7-4799-9560-2BCED7D5C4CE}" sibTransId="{6628072C-1CC1-4F27-95A2-AEFFE1989867}"/>
    <dgm:cxn modelId="{20C87727-B2E2-4537-A18A-8471AC7E810E}" type="presOf" srcId="{7390A233-FCDD-4E17-8866-C01067BD70BB}" destId="{A3BAA4E8-9C58-472F-BE49-773952D17E5D}" srcOrd="0" destOrd="0" presId="urn:microsoft.com/office/officeart/2005/8/layout/process1"/>
    <dgm:cxn modelId="{810D2C2A-119B-4530-B0D4-BFB84AD82B1C}" srcId="{9CDADBA6-A5E5-4E85-852D-FDBBFD5E9D64}" destId="{CE5C3063-AA4F-49CF-B694-533E2A262765}" srcOrd="5" destOrd="0" parTransId="{4306AA9E-6D35-4D8B-9D48-F36D2DF7D066}" sibTransId="{40BE7547-BC58-4547-A468-A4A5C252952C}"/>
    <dgm:cxn modelId="{B8323C2F-653D-410F-AD2B-E3A8BAFB7983}" type="presOf" srcId="{6628072C-1CC1-4F27-95A2-AEFFE1989867}" destId="{3847187F-FAF4-4A8F-8C5E-527DBB70340D}" srcOrd="0" destOrd="0" presId="urn:microsoft.com/office/officeart/2005/8/layout/process1"/>
    <dgm:cxn modelId="{95CFFC30-CA5A-4716-A392-5852EF8A613E}" type="presOf" srcId="{CE5C3063-AA4F-49CF-B694-533E2A262765}" destId="{41645459-9A7D-4E73-8AAD-AF3194F43A65}" srcOrd="0" destOrd="0" presId="urn:microsoft.com/office/officeart/2005/8/layout/process1"/>
    <dgm:cxn modelId="{FA7A2434-FC74-4AF0-BDE4-BB2E33F0347A}" srcId="{9CDADBA6-A5E5-4E85-852D-FDBBFD5E9D64}" destId="{7390A233-FCDD-4E17-8866-C01067BD70BB}" srcOrd="2" destOrd="0" parTransId="{668E3898-DC2C-4EF7-8B74-237A27B804DC}" sibTransId="{1F25719C-2A9E-4ED0-8FF8-3C413B4ECEEB}"/>
    <dgm:cxn modelId="{DBA64E34-2DDF-4C7A-89BB-BC2C54662408}" type="presOf" srcId="{965F7860-57CE-4F6C-BF61-C3ADCFA5D903}" destId="{CA41495F-C7FD-4604-83A3-A547B7E8CAFD}" srcOrd="0" destOrd="0" presId="urn:microsoft.com/office/officeart/2005/8/layout/process1"/>
    <dgm:cxn modelId="{A62D0F72-AA2B-4614-9A20-A07FE0625A08}" type="presOf" srcId="{6628072C-1CC1-4F27-95A2-AEFFE1989867}" destId="{602AB18C-37B2-4E7B-958E-FD5C80233F4B}" srcOrd="1" destOrd="0" presId="urn:microsoft.com/office/officeart/2005/8/layout/process1"/>
    <dgm:cxn modelId="{72EECD77-9132-4DF2-B1CB-CB3CD715BFA8}" type="presOf" srcId="{7FDB1B3C-B0DF-40DE-BB75-85CEC7A1B63B}" destId="{679DF088-2681-4081-8E18-F66BD76B8892}" srcOrd="0" destOrd="0" presId="urn:microsoft.com/office/officeart/2005/8/layout/process1"/>
    <dgm:cxn modelId="{F377E882-AF1D-4C42-9D7B-0623DE1C4E71}" srcId="{9CDADBA6-A5E5-4E85-852D-FDBBFD5E9D64}" destId="{EB7B309E-E59D-42D1-BCB5-3D3813F1EB39}" srcOrd="3" destOrd="0" parTransId="{EB884E8E-81E7-439B-9BE9-4847E9F839EA}" sibTransId="{3413FE07-62A4-44FE-A257-4D78A56A7947}"/>
    <dgm:cxn modelId="{CC1D8C83-CB4C-4D68-83FF-F134FE946E5A}" type="presOf" srcId="{2E4C5009-3FBF-4C1D-B7E0-2922EAB0C529}" destId="{2F32F86D-250A-4F48-9872-0BADD979E13B}" srcOrd="1" destOrd="0" presId="urn:microsoft.com/office/officeart/2005/8/layout/process1"/>
    <dgm:cxn modelId="{7745F091-3DAA-4D6C-B75A-5863DC807330}" type="presOf" srcId="{A9A4F1FD-801D-4B6A-BD65-E4EAF20FEE9C}" destId="{1E7381CF-5329-4B3C-A306-C2570241049B}" srcOrd="0" destOrd="0" presId="urn:microsoft.com/office/officeart/2005/8/layout/process1"/>
    <dgm:cxn modelId="{5595F69D-CB50-4277-B76C-E21F41FBC4CA}" srcId="{9CDADBA6-A5E5-4E85-852D-FDBBFD5E9D64}" destId="{7FDB1B3C-B0DF-40DE-BB75-85CEC7A1B63B}" srcOrd="0" destOrd="0" parTransId="{57743DD8-B13E-44CE-8EC9-EDD37473FEC7}" sibTransId="{2E4C5009-3FBF-4C1D-B7E0-2922EAB0C529}"/>
    <dgm:cxn modelId="{341527A2-5B4E-43C2-BD8A-8057326051C1}" type="presOf" srcId="{1F25719C-2A9E-4ED0-8FF8-3C413B4ECEEB}" destId="{C84F0D47-BC55-49B3-940E-5C1964879CBA}" srcOrd="0" destOrd="0" presId="urn:microsoft.com/office/officeart/2005/8/layout/process1"/>
    <dgm:cxn modelId="{0A4D33C0-F98E-4212-AA12-F2C05B4936FF}" type="presOf" srcId="{1F25719C-2A9E-4ED0-8FF8-3C413B4ECEEB}" destId="{A69EC0FB-225B-4D98-8EC0-D8334B734359}" srcOrd="1" destOrd="0" presId="urn:microsoft.com/office/officeart/2005/8/layout/process1"/>
    <dgm:cxn modelId="{4CE812C1-8868-4EE2-8556-E583C558B872}" type="presOf" srcId="{965F7860-57CE-4F6C-BF61-C3ADCFA5D903}" destId="{66284EC9-10C2-41A3-95F9-4FFB6E3E6659}" srcOrd="1" destOrd="0" presId="urn:microsoft.com/office/officeart/2005/8/layout/process1"/>
    <dgm:cxn modelId="{38DE1CC9-54B7-4C0C-8257-0903AAC740A3}" type="presOf" srcId="{2E4C5009-3FBF-4C1D-B7E0-2922EAB0C529}" destId="{D5CCD71C-41F4-4E7E-8AFA-270A74DD05B0}" srcOrd="0" destOrd="0" presId="urn:microsoft.com/office/officeart/2005/8/layout/process1"/>
    <dgm:cxn modelId="{912879CE-C782-47B6-B0AC-F77EFDC1D738}" type="presOf" srcId="{9CDADBA6-A5E5-4E85-852D-FDBBFD5E9D64}" destId="{D232DD70-273E-4FF9-8879-335ED7328AB9}" srcOrd="0" destOrd="0" presId="urn:microsoft.com/office/officeart/2005/8/layout/process1"/>
    <dgm:cxn modelId="{42215AE6-418E-43B7-97D5-674A830A457B}" srcId="{9CDADBA6-A5E5-4E85-852D-FDBBFD5E9D64}" destId="{D39515A0-1085-477C-9F7F-0D903DCDAF49}" srcOrd="4" destOrd="0" parTransId="{4DE949D7-5B1B-4E9D-8D54-0540416C670C}" sibTransId="{965F7860-57CE-4F6C-BF61-C3ADCFA5D903}"/>
    <dgm:cxn modelId="{62F5E4FF-CF13-428C-8B16-6310173A52ED}" type="presOf" srcId="{3413FE07-62A4-44FE-A257-4D78A56A7947}" destId="{8547CD4E-BE91-4523-9017-62DD2274714B}" srcOrd="1" destOrd="0" presId="urn:microsoft.com/office/officeart/2005/8/layout/process1"/>
    <dgm:cxn modelId="{A09CCB4E-227B-443E-BE9A-FF84FB4BBEF3}" type="presParOf" srcId="{D232DD70-273E-4FF9-8879-335ED7328AB9}" destId="{679DF088-2681-4081-8E18-F66BD76B8892}" srcOrd="0" destOrd="0" presId="urn:microsoft.com/office/officeart/2005/8/layout/process1"/>
    <dgm:cxn modelId="{ABC6FB14-A14A-4286-8DFA-A74286B90329}" type="presParOf" srcId="{D232DD70-273E-4FF9-8879-335ED7328AB9}" destId="{D5CCD71C-41F4-4E7E-8AFA-270A74DD05B0}" srcOrd="1" destOrd="0" presId="urn:microsoft.com/office/officeart/2005/8/layout/process1"/>
    <dgm:cxn modelId="{5B1EC5F3-FD2D-44A7-90FF-C39C3BE2A484}" type="presParOf" srcId="{D5CCD71C-41F4-4E7E-8AFA-270A74DD05B0}" destId="{2F32F86D-250A-4F48-9872-0BADD979E13B}" srcOrd="0" destOrd="0" presId="urn:microsoft.com/office/officeart/2005/8/layout/process1"/>
    <dgm:cxn modelId="{055411A8-6237-4DB7-A052-DF5B06125ABE}" type="presParOf" srcId="{D232DD70-273E-4FF9-8879-335ED7328AB9}" destId="{1E7381CF-5329-4B3C-A306-C2570241049B}" srcOrd="2" destOrd="0" presId="urn:microsoft.com/office/officeart/2005/8/layout/process1"/>
    <dgm:cxn modelId="{B6952220-574E-4189-9B71-0899526338D0}" type="presParOf" srcId="{D232DD70-273E-4FF9-8879-335ED7328AB9}" destId="{3847187F-FAF4-4A8F-8C5E-527DBB70340D}" srcOrd="3" destOrd="0" presId="urn:microsoft.com/office/officeart/2005/8/layout/process1"/>
    <dgm:cxn modelId="{E2BE2DF7-E5D0-417B-B8B8-D17F18E309AF}" type="presParOf" srcId="{3847187F-FAF4-4A8F-8C5E-527DBB70340D}" destId="{602AB18C-37B2-4E7B-958E-FD5C80233F4B}" srcOrd="0" destOrd="0" presId="urn:microsoft.com/office/officeart/2005/8/layout/process1"/>
    <dgm:cxn modelId="{C5D12FA5-E4BF-4045-9221-50FB41B3CD90}" type="presParOf" srcId="{D232DD70-273E-4FF9-8879-335ED7328AB9}" destId="{A3BAA4E8-9C58-472F-BE49-773952D17E5D}" srcOrd="4" destOrd="0" presId="urn:microsoft.com/office/officeart/2005/8/layout/process1"/>
    <dgm:cxn modelId="{69414F34-270C-4025-9213-BE64B6848B72}" type="presParOf" srcId="{D232DD70-273E-4FF9-8879-335ED7328AB9}" destId="{C84F0D47-BC55-49B3-940E-5C1964879CBA}" srcOrd="5" destOrd="0" presId="urn:microsoft.com/office/officeart/2005/8/layout/process1"/>
    <dgm:cxn modelId="{825FF4CE-8AD8-4C5D-B301-216E2353E612}" type="presParOf" srcId="{C84F0D47-BC55-49B3-940E-5C1964879CBA}" destId="{A69EC0FB-225B-4D98-8EC0-D8334B734359}" srcOrd="0" destOrd="0" presId="urn:microsoft.com/office/officeart/2005/8/layout/process1"/>
    <dgm:cxn modelId="{E573B2BF-3CDA-4276-9022-89283E76011D}" type="presParOf" srcId="{D232DD70-273E-4FF9-8879-335ED7328AB9}" destId="{DFEDD416-CC0E-4535-BAC3-0D6CDDF843B7}" srcOrd="6" destOrd="0" presId="urn:microsoft.com/office/officeart/2005/8/layout/process1"/>
    <dgm:cxn modelId="{4F4600F8-94F8-4067-858E-CFDCC882CB27}" type="presParOf" srcId="{D232DD70-273E-4FF9-8879-335ED7328AB9}" destId="{057671DB-9D5B-413A-AEC4-38B33A9A84FB}" srcOrd="7" destOrd="0" presId="urn:microsoft.com/office/officeart/2005/8/layout/process1"/>
    <dgm:cxn modelId="{E8DBF3B3-2C0B-4841-ACFF-9B5B6A3912F8}" type="presParOf" srcId="{057671DB-9D5B-413A-AEC4-38B33A9A84FB}" destId="{8547CD4E-BE91-4523-9017-62DD2274714B}" srcOrd="0" destOrd="0" presId="urn:microsoft.com/office/officeart/2005/8/layout/process1"/>
    <dgm:cxn modelId="{DD108820-90BB-4970-AA7C-E6CD6FE058CF}" type="presParOf" srcId="{D232DD70-273E-4FF9-8879-335ED7328AB9}" destId="{A34FE0FF-D309-4DDD-85C3-CE8347304881}" srcOrd="8" destOrd="0" presId="urn:microsoft.com/office/officeart/2005/8/layout/process1"/>
    <dgm:cxn modelId="{C8ECFCA9-72E5-41FE-98C4-42A226C6358E}" type="presParOf" srcId="{D232DD70-273E-4FF9-8879-335ED7328AB9}" destId="{CA41495F-C7FD-4604-83A3-A547B7E8CAFD}" srcOrd="9" destOrd="0" presId="urn:microsoft.com/office/officeart/2005/8/layout/process1"/>
    <dgm:cxn modelId="{4C714DE6-A979-4128-97A8-FB5D547215C4}" type="presParOf" srcId="{CA41495F-C7FD-4604-83A3-A547B7E8CAFD}" destId="{66284EC9-10C2-41A3-95F9-4FFB6E3E6659}" srcOrd="0" destOrd="0" presId="urn:microsoft.com/office/officeart/2005/8/layout/process1"/>
    <dgm:cxn modelId="{FEFB8CD3-080D-480A-A8D6-A8599C398705}" type="presParOf" srcId="{D232DD70-273E-4FF9-8879-335ED7328AB9}" destId="{41645459-9A7D-4E73-8AAD-AF3194F43A65}"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EF5855-8672-422A-B4A1-FA703612E9A6}">
      <dsp:nvSpPr>
        <dsp:cNvPr id="0" name=""/>
        <dsp:cNvSpPr/>
      </dsp:nvSpPr>
      <dsp:spPr>
        <a:xfrm>
          <a:off x="5060" y="927687"/>
          <a:ext cx="1568743" cy="15809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Découverte du réseau</a:t>
          </a:r>
        </a:p>
      </dsp:txBody>
      <dsp:txXfrm>
        <a:off x="51007" y="973634"/>
        <a:ext cx="1476849" cy="1489104"/>
      </dsp:txXfrm>
    </dsp:sp>
    <dsp:sp modelId="{A2851E37-1B52-4A26-92DD-29D363FDE0D5}">
      <dsp:nvSpPr>
        <dsp:cNvPr id="0" name=""/>
        <dsp:cNvSpPr/>
      </dsp:nvSpPr>
      <dsp:spPr>
        <a:xfrm>
          <a:off x="1730677" y="1523662"/>
          <a:ext cx="332573" cy="3890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a:off x="1730677" y="1601472"/>
        <a:ext cx="232801" cy="233428"/>
      </dsp:txXfrm>
    </dsp:sp>
    <dsp:sp modelId="{8D2F5D27-A966-42EE-A988-C5ABA7616564}">
      <dsp:nvSpPr>
        <dsp:cNvPr id="0" name=""/>
        <dsp:cNvSpPr/>
      </dsp:nvSpPr>
      <dsp:spPr>
        <a:xfrm>
          <a:off x="2201300" y="927687"/>
          <a:ext cx="1568743" cy="15809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Scan </a:t>
          </a:r>
          <a:r>
            <a:rPr lang="fr-FR" sz="1800" kern="1200" dirty="0" err="1"/>
            <a:t>Nmap</a:t>
          </a:r>
          <a:r>
            <a:rPr lang="fr-FR" sz="1800" kern="1200" dirty="0"/>
            <a:t>  TCP / UDP </a:t>
          </a:r>
        </a:p>
      </dsp:txBody>
      <dsp:txXfrm>
        <a:off x="2247247" y="973634"/>
        <a:ext cx="1476849" cy="1489104"/>
      </dsp:txXfrm>
    </dsp:sp>
    <dsp:sp modelId="{D2CFF548-C0B9-4AEA-8268-801718FD0D28}">
      <dsp:nvSpPr>
        <dsp:cNvPr id="0" name=""/>
        <dsp:cNvSpPr/>
      </dsp:nvSpPr>
      <dsp:spPr>
        <a:xfrm>
          <a:off x="3926918" y="1523662"/>
          <a:ext cx="332573" cy="3890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a:off x="3926918" y="1601472"/>
        <a:ext cx="232801" cy="233428"/>
      </dsp:txXfrm>
    </dsp:sp>
    <dsp:sp modelId="{2A916CE6-0D1F-494D-8ED1-AC2A9F1074FC}">
      <dsp:nvSpPr>
        <dsp:cNvPr id="0" name=""/>
        <dsp:cNvSpPr/>
      </dsp:nvSpPr>
      <dsp:spPr>
        <a:xfrm>
          <a:off x="4397541" y="927687"/>
          <a:ext cx="1568743" cy="15809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Services détectés </a:t>
          </a:r>
        </a:p>
        <a:p>
          <a:pPr marL="0" lvl="0" indent="0" algn="ctr" defTabSz="800100">
            <a:lnSpc>
              <a:spcPct val="90000"/>
            </a:lnSpc>
            <a:spcBef>
              <a:spcPct val="0"/>
            </a:spcBef>
            <a:spcAft>
              <a:spcPct val="35000"/>
            </a:spcAft>
            <a:buNone/>
          </a:pPr>
          <a:r>
            <a:rPr lang="fr-FR" sz="1800" kern="1200" dirty="0"/>
            <a:t>SSH  HTTP   DNS  RDP  </a:t>
          </a:r>
          <a:r>
            <a:rPr lang="fr-FR" sz="1800" kern="1200" dirty="0" err="1"/>
            <a:t>OpenVPN</a:t>
          </a:r>
          <a:r>
            <a:rPr lang="fr-FR" sz="1800" kern="1200" dirty="0"/>
            <a:t> </a:t>
          </a:r>
        </a:p>
      </dsp:txBody>
      <dsp:txXfrm>
        <a:off x="4443488" y="973634"/>
        <a:ext cx="1476849" cy="1489104"/>
      </dsp:txXfrm>
    </dsp:sp>
    <dsp:sp modelId="{F071EC60-F039-4F57-A634-70E1F5BA3DFF}">
      <dsp:nvSpPr>
        <dsp:cNvPr id="0" name=""/>
        <dsp:cNvSpPr/>
      </dsp:nvSpPr>
      <dsp:spPr>
        <a:xfrm>
          <a:off x="6123158" y="1523662"/>
          <a:ext cx="332573" cy="3890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a:off x="6123158" y="1601472"/>
        <a:ext cx="232801" cy="233428"/>
      </dsp:txXfrm>
    </dsp:sp>
    <dsp:sp modelId="{1FAF617F-2553-488A-91EF-B42A70665952}">
      <dsp:nvSpPr>
        <dsp:cNvPr id="0" name=""/>
        <dsp:cNvSpPr/>
      </dsp:nvSpPr>
      <dsp:spPr>
        <a:xfrm>
          <a:off x="6593781" y="927687"/>
          <a:ext cx="1568743" cy="15809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Vulnérabilités  Ports ouverts Versions obsolètes   Configuration faible</a:t>
          </a:r>
        </a:p>
      </dsp:txBody>
      <dsp:txXfrm>
        <a:off x="6639728" y="973634"/>
        <a:ext cx="1476849" cy="1489104"/>
      </dsp:txXfrm>
    </dsp:sp>
    <dsp:sp modelId="{B918C6CE-CFFC-46FE-BB95-78FC247AED2D}">
      <dsp:nvSpPr>
        <dsp:cNvPr id="0" name=""/>
        <dsp:cNvSpPr/>
      </dsp:nvSpPr>
      <dsp:spPr>
        <a:xfrm>
          <a:off x="8319399" y="1523662"/>
          <a:ext cx="332573" cy="3890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a:off x="8319399" y="1601472"/>
        <a:ext cx="232801" cy="233428"/>
      </dsp:txXfrm>
    </dsp:sp>
    <dsp:sp modelId="{2F871E7A-77A4-420C-A4B3-DD5770F43350}">
      <dsp:nvSpPr>
        <dsp:cNvPr id="0" name=""/>
        <dsp:cNvSpPr/>
      </dsp:nvSpPr>
      <dsp:spPr>
        <a:xfrm>
          <a:off x="8790022" y="927687"/>
          <a:ext cx="1568743" cy="158099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fr-FR" sz="1800" kern="1200" dirty="0"/>
            <a:t>Plan de sécurisation</a:t>
          </a:r>
        </a:p>
      </dsp:txBody>
      <dsp:txXfrm>
        <a:off x="8835969" y="973634"/>
        <a:ext cx="1476849" cy="14891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9DF088-2681-4081-8E18-F66BD76B8892}">
      <dsp:nvSpPr>
        <dsp:cNvPr id="0" name=""/>
        <dsp:cNvSpPr/>
      </dsp:nvSpPr>
      <dsp:spPr>
        <a:xfrm>
          <a:off x="0" y="1323498"/>
          <a:ext cx="1295400" cy="77724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dirty="0"/>
            <a:t>Incident</a:t>
          </a:r>
        </a:p>
      </dsp:txBody>
      <dsp:txXfrm>
        <a:off x="22765" y="1346263"/>
        <a:ext cx="1249870" cy="731710"/>
      </dsp:txXfrm>
    </dsp:sp>
    <dsp:sp modelId="{D5CCD71C-41F4-4E7E-8AFA-270A74DD05B0}">
      <dsp:nvSpPr>
        <dsp:cNvPr id="0" name=""/>
        <dsp:cNvSpPr/>
      </dsp:nvSpPr>
      <dsp:spPr>
        <a:xfrm>
          <a:off x="1424939" y="1551488"/>
          <a:ext cx="274624" cy="3212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a:off x="1424939" y="1615740"/>
        <a:ext cx="192237" cy="192755"/>
      </dsp:txXfrm>
    </dsp:sp>
    <dsp:sp modelId="{1E7381CF-5329-4B3C-A306-C2570241049B}">
      <dsp:nvSpPr>
        <dsp:cNvPr id="0" name=""/>
        <dsp:cNvSpPr/>
      </dsp:nvSpPr>
      <dsp:spPr>
        <a:xfrm>
          <a:off x="1813559" y="1323498"/>
          <a:ext cx="1295400" cy="77724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dirty="0"/>
            <a:t>Détection</a:t>
          </a:r>
        </a:p>
      </dsp:txBody>
      <dsp:txXfrm>
        <a:off x="1836324" y="1346263"/>
        <a:ext cx="1249870" cy="731710"/>
      </dsp:txXfrm>
    </dsp:sp>
    <dsp:sp modelId="{3847187F-FAF4-4A8F-8C5E-527DBB70340D}">
      <dsp:nvSpPr>
        <dsp:cNvPr id="0" name=""/>
        <dsp:cNvSpPr/>
      </dsp:nvSpPr>
      <dsp:spPr>
        <a:xfrm>
          <a:off x="3238499" y="1551488"/>
          <a:ext cx="274624" cy="3212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a:off x="3238499" y="1615740"/>
        <a:ext cx="192237" cy="192755"/>
      </dsp:txXfrm>
    </dsp:sp>
    <dsp:sp modelId="{A3BAA4E8-9C58-472F-BE49-773952D17E5D}">
      <dsp:nvSpPr>
        <dsp:cNvPr id="0" name=""/>
        <dsp:cNvSpPr/>
      </dsp:nvSpPr>
      <dsp:spPr>
        <a:xfrm>
          <a:off x="3627119" y="1323498"/>
          <a:ext cx="1295400" cy="77724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dirty="0"/>
            <a:t>Confinement</a:t>
          </a:r>
        </a:p>
      </dsp:txBody>
      <dsp:txXfrm>
        <a:off x="3649884" y="1346263"/>
        <a:ext cx="1249870" cy="731710"/>
      </dsp:txXfrm>
    </dsp:sp>
    <dsp:sp modelId="{C84F0D47-BC55-49B3-940E-5C1964879CBA}">
      <dsp:nvSpPr>
        <dsp:cNvPr id="0" name=""/>
        <dsp:cNvSpPr/>
      </dsp:nvSpPr>
      <dsp:spPr>
        <a:xfrm>
          <a:off x="5052060" y="1551488"/>
          <a:ext cx="274624" cy="3212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a:off x="5052060" y="1615740"/>
        <a:ext cx="192237" cy="192755"/>
      </dsp:txXfrm>
    </dsp:sp>
    <dsp:sp modelId="{DFEDD416-CC0E-4535-BAC3-0D6CDDF843B7}">
      <dsp:nvSpPr>
        <dsp:cNvPr id="0" name=""/>
        <dsp:cNvSpPr/>
      </dsp:nvSpPr>
      <dsp:spPr>
        <a:xfrm>
          <a:off x="5440680" y="1323498"/>
          <a:ext cx="1295400" cy="77724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dirty="0"/>
            <a:t>Investigation</a:t>
          </a:r>
        </a:p>
      </dsp:txBody>
      <dsp:txXfrm>
        <a:off x="5463445" y="1346263"/>
        <a:ext cx="1249870" cy="731710"/>
      </dsp:txXfrm>
    </dsp:sp>
    <dsp:sp modelId="{057671DB-9D5B-413A-AEC4-38B33A9A84FB}">
      <dsp:nvSpPr>
        <dsp:cNvPr id="0" name=""/>
        <dsp:cNvSpPr/>
      </dsp:nvSpPr>
      <dsp:spPr>
        <a:xfrm>
          <a:off x="6865620" y="1551488"/>
          <a:ext cx="274624" cy="3212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a:off x="6865620" y="1615740"/>
        <a:ext cx="192237" cy="192755"/>
      </dsp:txXfrm>
    </dsp:sp>
    <dsp:sp modelId="{A34FE0FF-D309-4DDD-85C3-CE8347304881}">
      <dsp:nvSpPr>
        <dsp:cNvPr id="0" name=""/>
        <dsp:cNvSpPr/>
      </dsp:nvSpPr>
      <dsp:spPr>
        <a:xfrm>
          <a:off x="7254240" y="1323498"/>
          <a:ext cx="1295400" cy="77724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a:t>Retour d'expérience</a:t>
          </a:r>
        </a:p>
      </dsp:txBody>
      <dsp:txXfrm>
        <a:off x="7277005" y="1346263"/>
        <a:ext cx="1249870" cy="731710"/>
      </dsp:txXfrm>
    </dsp:sp>
    <dsp:sp modelId="{CA41495F-C7FD-4604-83A3-A547B7E8CAFD}">
      <dsp:nvSpPr>
        <dsp:cNvPr id="0" name=""/>
        <dsp:cNvSpPr/>
      </dsp:nvSpPr>
      <dsp:spPr>
        <a:xfrm>
          <a:off x="8679180" y="1551488"/>
          <a:ext cx="274624" cy="32125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fr-FR" sz="1400" kern="1200"/>
        </a:p>
      </dsp:txBody>
      <dsp:txXfrm>
        <a:off x="8679180" y="1615740"/>
        <a:ext cx="192237" cy="192755"/>
      </dsp:txXfrm>
    </dsp:sp>
    <dsp:sp modelId="{41645459-9A7D-4E73-8AAD-AF3194F43A65}">
      <dsp:nvSpPr>
        <dsp:cNvPr id="0" name=""/>
        <dsp:cNvSpPr/>
      </dsp:nvSpPr>
      <dsp:spPr>
        <a:xfrm>
          <a:off x="9067800" y="1323498"/>
          <a:ext cx="1295400" cy="77724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dirty="0"/>
            <a:t>Amélioration</a:t>
          </a:r>
        </a:p>
      </dsp:txBody>
      <dsp:txXfrm>
        <a:off x="9090565" y="1346263"/>
        <a:ext cx="1249870" cy="73171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fr-FR"/>
              <a:t>Modifiez le style du titre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4006129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342517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fr-FR"/>
              <a:t>Modifiez le style du titre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60457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a:t>Modifiez le style du titre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195174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fr-FR"/>
              <a:t>Modifiez le style du titre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Content Placeholder 3"/>
          <p:cNvSpPr>
            <a:spLocks noGrp="1"/>
          </p:cNvSpPr>
          <p:nvPr>
            <p:ph sz="quarter" idx="13"/>
          </p:nvPr>
        </p:nvSpPr>
        <p:spPr>
          <a:xfrm>
            <a:off x="913774" y="3051012"/>
            <a:ext cx="5106027" cy="27401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3" name="Content Placeholder 5"/>
          <p:cNvSpPr>
            <a:spLocks noGrp="1"/>
          </p:cNvSpPr>
          <p:nvPr>
            <p:ph sz="quarter" idx="14"/>
          </p:nvPr>
        </p:nvSpPr>
        <p:spPr>
          <a:xfrm>
            <a:off x="6172200" y="3051012"/>
            <a:ext cx="5105401" cy="27401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3030875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4161371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4" name="Slide Number Placeholder 3"/>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3034815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fr-FR"/>
              <a:t>Modifiez le style du titre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2167023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855339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1731677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1825083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fr-FR"/>
              <a:t>Modifiez le style du titre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DFCD8259-C85F-4A6E-81B9-554502204F7E}" type="slidenum">
              <a:rPr lang="fr-FR" smtClean="0"/>
              <a:t>‹N°›</a:t>
            </a:fld>
            <a:endParaRPr lang="fr-FR"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73443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10892743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fr-FR"/>
              <a:t>Modifiez le style du titre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41706539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fr-FR"/>
              <a:t>Modifiez le style du titre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8481199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fr-FR"/>
              <a:t>Modifiez le style du titre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32935212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fr-FR"/>
              <a:t>Modifiez le style du titre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24444587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05D4E29-848B-43B4-8C89-3D2976CD959E}" type="datetimeFigureOut">
              <a:rPr lang="fr-FR" smtClean="0"/>
              <a:t>28/07/2026</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DFCD8259-C85F-4A6E-81B9-554502204F7E}" type="slidenum">
              <a:rPr lang="fr-FR" smtClean="0"/>
              <a:t>‹N°›</a:t>
            </a:fld>
            <a:endParaRPr lang="fr-FR" dirty="0"/>
          </a:p>
        </p:txBody>
      </p:sp>
    </p:spTree>
    <p:extLst>
      <p:ext uri="{BB962C8B-B14F-4D97-AF65-F5344CB8AC3E}">
        <p14:creationId xmlns:p14="http://schemas.microsoft.com/office/powerpoint/2010/main" val="1115907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905D4E29-848B-43B4-8C89-3D2976CD959E}" type="datetimeFigureOut">
              <a:rPr lang="fr-FR" smtClean="0"/>
              <a:t>28/07/2026</a:t>
            </a:fld>
            <a:endParaRPr lang="fr-FR"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fr-FR"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FCD8259-C85F-4A6E-81B9-554502204F7E}" type="slidenum">
              <a:rPr lang="fr-FR" smtClean="0"/>
              <a:t>‹N°›</a:t>
            </a:fld>
            <a:endParaRPr lang="fr-FR" dirty="0"/>
          </a:p>
        </p:txBody>
      </p:sp>
    </p:spTree>
    <p:extLst>
      <p:ext uri="{BB962C8B-B14F-4D97-AF65-F5344CB8AC3E}">
        <p14:creationId xmlns:p14="http://schemas.microsoft.com/office/powerpoint/2010/main" val="3871652719"/>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 id="2147483765" r:id="rId12"/>
    <p:sldLayoutId id="2147483766" r:id="rId13"/>
    <p:sldLayoutId id="2147483767" r:id="rId14"/>
    <p:sldLayoutId id="2147483768" r:id="rId15"/>
    <p:sldLayoutId id="2147483769" r:id="rId16"/>
    <p:sldLayoutId id="2147483770" r:id="rId17"/>
    <p:sldLayoutId id="2147483771"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8.xml"/><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9.pn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53A73EDC-8D25-A7AE-76C5-68D1FA1F738B}"/>
              </a:ext>
            </a:extLst>
          </p:cNvPr>
          <p:cNvSpPr>
            <a:spLocks noChangeArrowheads="1"/>
          </p:cNvSpPr>
          <p:nvPr/>
        </p:nvSpPr>
        <p:spPr bwMode="auto">
          <a:xfrm>
            <a:off x="798746" y="2638943"/>
            <a:ext cx="797686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fr-FR" sz="2800" dirty="0"/>
              <a:t>Mise en œuvre d'une infrastructure sécurisée et </a:t>
            </a:r>
          </a:p>
          <a:p>
            <a:pPr lvl="0" defTabSz="914400" eaLnBrk="0" fontAlgn="base" hangingPunct="0">
              <a:spcBef>
                <a:spcPct val="0"/>
              </a:spcBef>
              <a:spcAft>
                <a:spcPct val="0"/>
              </a:spcAft>
            </a:pPr>
            <a:r>
              <a:rPr lang="fr-FR" sz="2800" dirty="0"/>
              <a:t>supervision avec Splunk</a:t>
            </a:r>
            <a:endParaRPr kumimoji="0" lang="fr-FR" altLang="fr-FR" sz="2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99C2F0CB-6DD6-AA20-DF1A-697A3AA808A2}"/>
              </a:ext>
            </a:extLst>
          </p:cNvPr>
          <p:cNvSpPr>
            <a:spLocks noChangeArrowheads="1"/>
          </p:cNvSpPr>
          <p:nvPr/>
        </p:nvSpPr>
        <p:spPr bwMode="auto">
          <a:xfrm>
            <a:off x="1524000" y="28098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dirty="0"/>
          </a:p>
        </p:txBody>
      </p:sp>
      <p:pic>
        <p:nvPicPr>
          <p:cNvPr id="11" name="Espace réservé du contenu 10" descr="Ouvre la photo de profil">
            <a:extLst>
              <a:ext uri="{FF2B5EF4-FFF2-40B4-BE49-F238E27FC236}">
                <a16:creationId xmlns:a16="http://schemas.microsoft.com/office/drawing/2014/main" id="{77E16D85-E088-A6DF-0A28-5667A48B6927}"/>
              </a:ext>
            </a:extLst>
          </p:cNvPr>
          <p:cNvPicPr>
            <a:picLocks noGrp="1" noChangeAspect="1"/>
          </p:cNvPicPr>
          <p:nvPr>
            <p:ph idx="1"/>
          </p:nvPr>
        </p:nvPicPr>
        <p:blipFill>
          <a:blip r:embed="rId2"/>
          <a:stretch>
            <a:fillRect/>
          </a:stretch>
        </p:blipFill>
        <p:spPr>
          <a:xfrm>
            <a:off x="3907134" y="80745"/>
            <a:ext cx="2188866" cy="2188866"/>
          </a:xfrm>
          <a:prstGeom prst="rect">
            <a:avLst/>
          </a:prstGeom>
        </p:spPr>
      </p:pic>
      <p:sp>
        <p:nvSpPr>
          <p:cNvPr id="14" name="ZoneTexte 13">
            <a:extLst>
              <a:ext uri="{FF2B5EF4-FFF2-40B4-BE49-F238E27FC236}">
                <a16:creationId xmlns:a16="http://schemas.microsoft.com/office/drawing/2014/main" id="{660A6FF2-6B72-0130-E419-FE918A5909E2}"/>
              </a:ext>
            </a:extLst>
          </p:cNvPr>
          <p:cNvSpPr txBox="1"/>
          <p:nvPr/>
        </p:nvSpPr>
        <p:spPr>
          <a:xfrm>
            <a:off x="6096000" y="1175178"/>
            <a:ext cx="2561303" cy="400098"/>
          </a:xfrm>
          <a:prstGeom prst="rect">
            <a:avLst/>
          </a:prstGeom>
          <a:noFill/>
        </p:spPr>
        <p:txBody>
          <a:bodyPr wrap="square" rtlCol="0">
            <a:spAutoFit/>
          </a:bodyPr>
          <a:lstStyle/>
          <a:p>
            <a:r>
              <a:rPr lang="fr-FR" sz="2000" b="1" dirty="0">
                <a:latin typeface="+mj-lt"/>
                <a:cs typeface="Calibri" panose="020F0502020204030204" pitchFamily="34" charset="0"/>
              </a:rPr>
              <a:t>CYBER</a:t>
            </a:r>
            <a:r>
              <a:rPr lang="fr-FR" sz="2000" dirty="0">
                <a:latin typeface="+mj-lt"/>
                <a:cs typeface="Calibri" panose="020F0502020204030204" pitchFamily="34" charset="0"/>
              </a:rPr>
              <a:t> UNIVERSITY</a:t>
            </a:r>
          </a:p>
        </p:txBody>
      </p:sp>
      <p:sp>
        <p:nvSpPr>
          <p:cNvPr id="3" name="ZoneTexte 2">
            <a:extLst>
              <a:ext uri="{FF2B5EF4-FFF2-40B4-BE49-F238E27FC236}">
                <a16:creationId xmlns:a16="http://schemas.microsoft.com/office/drawing/2014/main" id="{7320C1E4-D893-12E1-59A3-5D8D98989611}"/>
              </a:ext>
            </a:extLst>
          </p:cNvPr>
          <p:cNvSpPr txBox="1"/>
          <p:nvPr/>
        </p:nvSpPr>
        <p:spPr>
          <a:xfrm>
            <a:off x="798746" y="4013911"/>
            <a:ext cx="6098458" cy="369332"/>
          </a:xfrm>
          <a:prstGeom prst="rect">
            <a:avLst/>
          </a:prstGeom>
          <a:noFill/>
        </p:spPr>
        <p:txBody>
          <a:bodyPr wrap="square">
            <a:spAutoFit/>
          </a:bodyPr>
          <a:lstStyle/>
          <a:p>
            <a:r>
              <a:rPr lang="fr-FR" dirty="0"/>
              <a:t>Projet de fin d'études – Analyse  Cybersécurité</a:t>
            </a:r>
          </a:p>
        </p:txBody>
      </p:sp>
      <p:sp>
        <p:nvSpPr>
          <p:cNvPr id="7" name="ZoneTexte 6">
            <a:extLst>
              <a:ext uri="{FF2B5EF4-FFF2-40B4-BE49-F238E27FC236}">
                <a16:creationId xmlns:a16="http://schemas.microsoft.com/office/drawing/2014/main" id="{181DE9D3-67B7-647B-4927-44B8E48C8EAE}"/>
              </a:ext>
            </a:extLst>
          </p:cNvPr>
          <p:cNvSpPr txBox="1"/>
          <p:nvPr/>
        </p:nvSpPr>
        <p:spPr>
          <a:xfrm>
            <a:off x="143797" y="304796"/>
            <a:ext cx="6098458" cy="646331"/>
          </a:xfrm>
          <a:prstGeom prst="rect">
            <a:avLst/>
          </a:prstGeom>
          <a:noFill/>
        </p:spPr>
        <p:txBody>
          <a:bodyPr wrap="square">
            <a:spAutoFit/>
          </a:bodyPr>
          <a:lstStyle/>
          <a:p>
            <a:r>
              <a:rPr lang="fr-FR" dirty="0" err="1"/>
              <a:t>Douali</a:t>
            </a:r>
            <a:r>
              <a:rPr lang="fr-FR" dirty="0"/>
              <a:t> Cedric</a:t>
            </a:r>
          </a:p>
          <a:p>
            <a:r>
              <a:rPr lang="fr-FR" dirty="0"/>
              <a:t>2025-2026</a:t>
            </a:r>
          </a:p>
        </p:txBody>
      </p:sp>
    </p:spTree>
    <p:extLst>
      <p:ext uri="{BB962C8B-B14F-4D97-AF65-F5344CB8AC3E}">
        <p14:creationId xmlns:p14="http://schemas.microsoft.com/office/powerpoint/2010/main" val="1078240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E5F026-1778-7C83-8D51-C9FA7FDCA0B9}"/>
              </a:ext>
            </a:extLst>
          </p:cNvPr>
          <p:cNvSpPr>
            <a:spLocks noGrp="1"/>
          </p:cNvSpPr>
          <p:nvPr>
            <p:ph type="title"/>
          </p:nvPr>
        </p:nvSpPr>
        <p:spPr/>
        <p:txBody>
          <a:bodyPr/>
          <a:lstStyle/>
          <a:p>
            <a:r>
              <a:rPr lang="fr-FR" dirty="0">
                <a:solidFill>
                  <a:schemeClr val="tx1"/>
                </a:solidFill>
              </a:rPr>
              <a:t>SOMMAIRE</a:t>
            </a:r>
          </a:p>
        </p:txBody>
      </p:sp>
      <p:sp>
        <p:nvSpPr>
          <p:cNvPr id="3" name="Espace réservé du contenu 2">
            <a:extLst>
              <a:ext uri="{FF2B5EF4-FFF2-40B4-BE49-F238E27FC236}">
                <a16:creationId xmlns:a16="http://schemas.microsoft.com/office/drawing/2014/main" id="{1BA6CC24-B9A9-FCB4-AB10-C3DD48971CA6}"/>
              </a:ext>
            </a:extLst>
          </p:cNvPr>
          <p:cNvSpPr>
            <a:spLocks noGrp="1"/>
          </p:cNvSpPr>
          <p:nvPr>
            <p:ph idx="1"/>
          </p:nvPr>
        </p:nvSpPr>
        <p:spPr>
          <a:xfrm>
            <a:off x="913775" y="2477729"/>
            <a:ext cx="10364451" cy="3878826"/>
          </a:xfrm>
        </p:spPr>
        <p:txBody>
          <a:bodyPr>
            <a:normAutofit fontScale="85000" lnSpcReduction="20000"/>
          </a:bodyPr>
          <a:lstStyle/>
          <a:p>
            <a:r>
              <a:rPr lang="fr-FR" dirty="0"/>
              <a:t>Présentation d'Iron4Software.</a:t>
            </a:r>
          </a:p>
          <a:p>
            <a:r>
              <a:rPr lang="fr-FR" dirty="0"/>
              <a:t>Réunion avec le client</a:t>
            </a:r>
          </a:p>
          <a:p>
            <a:r>
              <a:rPr lang="fr-FR" dirty="0"/>
              <a:t>Phase 1 – Cadrage et présentation de l'infrastructure</a:t>
            </a:r>
          </a:p>
          <a:p>
            <a:r>
              <a:rPr lang="fr-FR" dirty="0"/>
              <a:t>Phase 2 – Audit de sécurité</a:t>
            </a:r>
          </a:p>
          <a:p>
            <a:r>
              <a:rPr lang="fr-FR" dirty="0"/>
              <a:t>Phase 3 – Sécurisation de l'infrastructure</a:t>
            </a:r>
          </a:p>
          <a:p>
            <a:r>
              <a:rPr lang="fr-FR" dirty="0"/>
              <a:t>Phase 4 – Supervision avec Splunk</a:t>
            </a:r>
          </a:p>
          <a:p>
            <a:r>
              <a:rPr lang="fr-FR" dirty="0"/>
              <a:t>Phase 5 – Simulation d'attaque</a:t>
            </a:r>
          </a:p>
          <a:p>
            <a:r>
              <a:rPr lang="fr-FR" dirty="0"/>
              <a:t>Phase 6 – Confinement de l'incident</a:t>
            </a:r>
          </a:p>
          <a:p>
            <a:r>
              <a:rPr lang="fr-FR" dirty="0"/>
              <a:t>Phase 7 – Investigation et analyse forensique</a:t>
            </a:r>
          </a:p>
          <a:p>
            <a:r>
              <a:rPr lang="fr-FR" dirty="0"/>
              <a:t>Phase 8 – Retour d'expérience et conclusion</a:t>
            </a:r>
          </a:p>
        </p:txBody>
      </p:sp>
    </p:spTree>
    <p:extLst>
      <p:ext uri="{BB962C8B-B14F-4D97-AF65-F5344CB8AC3E}">
        <p14:creationId xmlns:p14="http://schemas.microsoft.com/office/powerpoint/2010/main" val="1426577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CA5DFB-D581-DE31-0D42-D14E904DDF0A}"/>
              </a:ext>
            </a:extLst>
          </p:cNvPr>
          <p:cNvSpPr>
            <a:spLocks noGrp="1"/>
          </p:cNvSpPr>
          <p:nvPr>
            <p:ph type="title"/>
          </p:nvPr>
        </p:nvSpPr>
        <p:spPr>
          <a:xfrm>
            <a:off x="913774" y="72086"/>
            <a:ext cx="10364451" cy="1596177"/>
          </a:xfrm>
        </p:spPr>
        <p:txBody>
          <a:bodyPr/>
          <a:lstStyle/>
          <a:p>
            <a:r>
              <a:rPr lang="fr-FR" dirty="0"/>
              <a:t>Présentation d'Iron4Software</a:t>
            </a:r>
          </a:p>
        </p:txBody>
      </p:sp>
      <p:pic>
        <p:nvPicPr>
          <p:cNvPr id="5" name="Image 4" descr="Iron Software (@teamironsoftware) • Facebook">
            <a:extLst>
              <a:ext uri="{FF2B5EF4-FFF2-40B4-BE49-F238E27FC236}">
                <a16:creationId xmlns:a16="http://schemas.microsoft.com/office/drawing/2014/main" id="{1D392255-0217-F78A-4D9E-A371350BA34D}"/>
              </a:ext>
            </a:extLst>
          </p:cNvPr>
          <p:cNvPicPr>
            <a:picLocks noChangeAspect="1"/>
          </p:cNvPicPr>
          <p:nvPr/>
        </p:nvPicPr>
        <p:blipFill>
          <a:blip r:embed="rId2"/>
          <a:stretch>
            <a:fillRect/>
          </a:stretch>
        </p:blipFill>
        <p:spPr>
          <a:xfrm>
            <a:off x="215209" y="1894973"/>
            <a:ext cx="2163057" cy="2163057"/>
          </a:xfrm>
          <a:prstGeom prst="rect">
            <a:avLst/>
          </a:prstGeom>
        </p:spPr>
      </p:pic>
      <p:sp>
        <p:nvSpPr>
          <p:cNvPr id="7" name="ZoneTexte 6">
            <a:extLst>
              <a:ext uri="{FF2B5EF4-FFF2-40B4-BE49-F238E27FC236}">
                <a16:creationId xmlns:a16="http://schemas.microsoft.com/office/drawing/2014/main" id="{6F12C646-DD0C-2883-1F48-C9C1357CAD2A}"/>
              </a:ext>
            </a:extLst>
          </p:cNvPr>
          <p:cNvSpPr txBox="1"/>
          <p:nvPr/>
        </p:nvSpPr>
        <p:spPr>
          <a:xfrm>
            <a:off x="157542" y="4511450"/>
            <a:ext cx="6093500" cy="369332"/>
          </a:xfrm>
          <a:prstGeom prst="rect">
            <a:avLst/>
          </a:prstGeom>
          <a:noFill/>
        </p:spPr>
        <p:txBody>
          <a:bodyPr wrap="square">
            <a:spAutoFit/>
          </a:bodyPr>
          <a:lstStyle/>
          <a:p>
            <a:r>
              <a:rPr lang="fr-FR" b="1" dirty="0"/>
              <a:t>Entreprise :</a:t>
            </a:r>
            <a:r>
              <a:rPr lang="fr-FR" dirty="0"/>
              <a:t> Iron4Software</a:t>
            </a:r>
          </a:p>
        </p:txBody>
      </p:sp>
      <p:sp>
        <p:nvSpPr>
          <p:cNvPr id="9" name="ZoneTexte 8">
            <a:extLst>
              <a:ext uri="{FF2B5EF4-FFF2-40B4-BE49-F238E27FC236}">
                <a16:creationId xmlns:a16="http://schemas.microsoft.com/office/drawing/2014/main" id="{F8FE7067-3B15-67B1-5FFE-4ABAC206E1A8}"/>
              </a:ext>
            </a:extLst>
          </p:cNvPr>
          <p:cNvSpPr txBox="1"/>
          <p:nvPr/>
        </p:nvSpPr>
        <p:spPr>
          <a:xfrm>
            <a:off x="5956075" y="2074193"/>
            <a:ext cx="5725748" cy="646331"/>
          </a:xfrm>
          <a:prstGeom prst="rect">
            <a:avLst/>
          </a:prstGeom>
          <a:noFill/>
        </p:spPr>
        <p:txBody>
          <a:bodyPr wrap="square">
            <a:spAutoFit/>
          </a:bodyPr>
          <a:lstStyle/>
          <a:p>
            <a:r>
              <a:rPr lang="fr-FR" dirty="0"/>
              <a:t>Secteur: Éditeur de logiciels ERP pour les secteurs de l'aéronautique et de la santé.</a:t>
            </a:r>
          </a:p>
        </p:txBody>
      </p:sp>
      <p:sp>
        <p:nvSpPr>
          <p:cNvPr id="11" name="ZoneTexte 10">
            <a:extLst>
              <a:ext uri="{FF2B5EF4-FFF2-40B4-BE49-F238E27FC236}">
                <a16:creationId xmlns:a16="http://schemas.microsoft.com/office/drawing/2014/main" id="{3DAAF5EB-0E26-D67A-78EB-27A7AF7E74A1}"/>
              </a:ext>
            </a:extLst>
          </p:cNvPr>
          <p:cNvSpPr txBox="1"/>
          <p:nvPr/>
        </p:nvSpPr>
        <p:spPr>
          <a:xfrm>
            <a:off x="5956075" y="3034122"/>
            <a:ext cx="6098458" cy="369332"/>
          </a:xfrm>
          <a:prstGeom prst="rect">
            <a:avLst/>
          </a:prstGeom>
          <a:noFill/>
        </p:spPr>
        <p:txBody>
          <a:bodyPr wrap="square">
            <a:spAutoFit/>
          </a:bodyPr>
          <a:lstStyle/>
          <a:p>
            <a:r>
              <a:rPr lang="fr-FR" dirty="0"/>
              <a:t>Effectif : 25 collaborateurs</a:t>
            </a:r>
          </a:p>
        </p:txBody>
      </p:sp>
      <p:sp>
        <p:nvSpPr>
          <p:cNvPr id="13" name="ZoneTexte 12">
            <a:extLst>
              <a:ext uri="{FF2B5EF4-FFF2-40B4-BE49-F238E27FC236}">
                <a16:creationId xmlns:a16="http://schemas.microsoft.com/office/drawing/2014/main" id="{9F3EDEDA-E2DC-019F-C347-AEA3F9D6DDB3}"/>
              </a:ext>
            </a:extLst>
          </p:cNvPr>
          <p:cNvSpPr txBox="1"/>
          <p:nvPr/>
        </p:nvSpPr>
        <p:spPr>
          <a:xfrm>
            <a:off x="5956075" y="3772786"/>
            <a:ext cx="4896465" cy="923330"/>
          </a:xfrm>
          <a:prstGeom prst="rect">
            <a:avLst/>
          </a:prstGeom>
          <a:noFill/>
        </p:spPr>
        <p:txBody>
          <a:bodyPr wrap="square">
            <a:spAutoFit/>
          </a:bodyPr>
          <a:lstStyle/>
          <a:p>
            <a:r>
              <a:rPr lang="fr-FR" dirty="0"/>
              <a:t>Contexte: L'entreprise souhaite renforcer la sécurité de son système d'information et mettre en place une supervision centralisée avec Splunk.</a:t>
            </a:r>
          </a:p>
        </p:txBody>
      </p:sp>
      <p:pic>
        <p:nvPicPr>
          <p:cNvPr id="16" name="Image 15" descr="Images sur Immeuble bureau : Téléchargement gratuit sur Magnific (anciennement Freepik)">
            <a:extLst>
              <a:ext uri="{FF2B5EF4-FFF2-40B4-BE49-F238E27FC236}">
                <a16:creationId xmlns:a16="http://schemas.microsoft.com/office/drawing/2014/main" id="{CB60E09D-2DDE-4299-2BEC-603DB435DDCE}"/>
              </a:ext>
            </a:extLst>
          </p:cNvPr>
          <p:cNvPicPr>
            <a:picLocks noChangeAspect="1"/>
          </p:cNvPicPr>
          <p:nvPr/>
        </p:nvPicPr>
        <p:blipFill>
          <a:blip r:embed="rId3"/>
          <a:stretch>
            <a:fillRect/>
          </a:stretch>
        </p:blipFill>
        <p:spPr>
          <a:xfrm>
            <a:off x="3506905" y="1456675"/>
            <a:ext cx="2274333" cy="3424107"/>
          </a:xfrm>
          <a:prstGeom prst="rect">
            <a:avLst/>
          </a:prstGeom>
        </p:spPr>
      </p:pic>
    </p:spTree>
    <p:extLst>
      <p:ext uri="{BB962C8B-B14F-4D97-AF65-F5344CB8AC3E}">
        <p14:creationId xmlns:p14="http://schemas.microsoft.com/office/powerpoint/2010/main" val="567182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5320B2-8079-9A9F-7CD4-1C70DDC3F180}"/>
              </a:ext>
            </a:extLst>
          </p:cNvPr>
          <p:cNvSpPr>
            <a:spLocks noGrp="1"/>
          </p:cNvSpPr>
          <p:nvPr>
            <p:ph type="title"/>
          </p:nvPr>
        </p:nvSpPr>
        <p:spPr>
          <a:xfrm>
            <a:off x="913774" y="108852"/>
            <a:ext cx="10364451" cy="1596177"/>
          </a:xfrm>
        </p:spPr>
        <p:txBody>
          <a:bodyPr/>
          <a:lstStyle/>
          <a:p>
            <a:r>
              <a:rPr lang="fr-FR" dirty="0"/>
              <a:t>Réunion avec le client</a:t>
            </a:r>
          </a:p>
        </p:txBody>
      </p:sp>
      <p:pic>
        <p:nvPicPr>
          <p:cNvPr id="4" name="Espace réservé du contenu 3" descr="Plusieurs Personnes D'affaires Lors D'une Réunion. Photo stock - Image du  américain, portable: 228640896">
            <a:extLst>
              <a:ext uri="{FF2B5EF4-FFF2-40B4-BE49-F238E27FC236}">
                <a16:creationId xmlns:a16="http://schemas.microsoft.com/office/drawing/2014/main" id="{F61344B4-45A2-ED04-3F7C-64A18BD74611}"/>
              </a:ext>
            </a:extLst>
          </p:cNvPr>
          <p:cNvPicPr>
            <a:picLocks noGrp="1" noChangeAspect="1"/>
          </p:cNvPicPr>
          <p:nvPr>
            <p:ph idx="1"/>
          </p:nvPr>
        </p:nvPicPr>
        <p:blipFill>
          <a:blip r:embed="rId2"/>
          <a:stretch>
            <a:fillRect/>
          </a:stretch>
        </p:blipFill>
        <p:spPr>
          <a:xfrm>
            <a:off x="389120" y="2074361"/>
            <a:ext cx="4281010" cy="2852223"/>
          </a:xfrm>
          <a:prstGeom prst="rect">
            <a:avLst/>
          </a:prstGeom>
        </p:spPr>
      </p:pic>
      <p:sp>
        <p:nvSpPr>
          <p:cNvPr id="6" name="ZoneTexte 5">
            <a:extLst>
              <a:ext uri="{FF2B5EF4-FFF2-40B4-BE49-F238E27FC236}">
                <a16:creationId xmlns:a16="http://schemas.microsoft.com/office/drawing/2014/main" id="{CC7471D7-18CD-0DB3-51EF-59C05264DE91}"/>
              </a:ext>
            </a:extLst>
          </p:cNvPr>
          <p:cNvSpPr txBox="1"/>
          <p:nvPr/>
        </p:nvSpPr>
        <p:spPr>
          <a:xfrm>
            <a:off x="4892175" y="1520363"/>
            <a:ext cx="6093500" cy="369332"/>
          </a:xfrm>
          <a:prstGeom prst="rect">
            <a:avLst/>
          </a:prstGeom>
          <a:noFill/>
        </p:spPr>
        <p:txBody>
          <a:bodyPr wrap="square">
            <a:spAutoFit/>
          </a:bodyPr>
          <a:lstStyle/>
          <a:p>
            <a:r>
              <a:rPr lang="fr-FR" dirty="0"/>
              <a:t>Analyse des besoins</a:t>
            </a:r>
          </a:p>
        </p:txBody>
      </p:sp>
      <p:sp>
        <p:nvSpPr>
          <p:cNvPr id="8" name="ZoneTexte 7">
            <a:extLst>
              <a:ext uri="{FF2B5EF4-FFF2-40B4-BE49-F238E27FC236}">
                <a16:creationId xmlns:a16="http://schemas.microsoft.com/office/drawing/2014/main" id="{7C0E9BAB-9B36-38A3-8F50-F479E111D620}"/>
              </a:ext>
            </a:extLst>
          </p:cNvPr>
          <p:cNvSpPr txBox="1"/>
          <p:nvPr/>
        </p:nvSpPr>
        <p:spPr>
          <a:xfrm>
            <a:off x="4892175" y="2074361"/>
            <a:ext cx="6386050" cy="1477328"/>
          </a:xfrm>
          <a:prstGeom prst="rect">
            <a:avLst/>
          </a:prstGeom>
          <a:noFill/>
        </p:spPr>
        <p:txBody>
          <a:bodyPr wrap="square">
            <a:spAutoFit/>
          </a:bodyPr>
          <a:lstStyle/>
          <a:p>
            <a:pPr>
              <a:buNone/>
            </a:pPr>
            <a:r>
              <a:rPr lang="fr-FR" b="1" dirty="0"/>
              <a:t>Besoins exprimés</a:t>
            </a:r>
          </a:p>
          <a:p>
            <a:pPr>
              <a:buNone/>
            </a:pPr>
            <a:r>
              <a:rPr lang="fr-FR" dirty="0"/>
              <a:t>❌ Infrastructure insuffisamment sécurisée</a:t>
            </a:r>
          </a:p>
          <a:p>
            <a:pPr>
              <a:buNone/>
            </a:pPr>
            <a:r>
              <a:rPr lang="fr-FR" dirty="0"/>
              <a:t>❌ Absence de supervision centralisée</a:t>
            </a:r>
          </a:p>
          <a:p>
            <a:pPr>
              <a:buNone/>
            </a:pPr>
            <a:r>
              <a:rPr lang="fr-FR" dirty="0"/>
              <a:t>❌ Manque de visibilité sur les événements de sécurité</a:t>
            </a:r>
          </a:p>
          <a:p>
            <a:pPr>
              <a:buNone/>
            </a:pPr>
            <a:r>
              <a:rPr lang="fr-FR" dirty="0"/>
              <a:t>❌ Aucun processus de réponse à incident</a:t>
            </a:r>
          </a:p>
        </p:txBody>
      </p:sp>
      <p:sp>
        <p:nvSpPr>
          <p:cNvPr id="10" name="ZoneTexte 9">
            <a:extLst>
              <a:ext uri="{FF2B5EF4-FFF2-40B4-BE49-F238E27FC236}">
                <a16:creationId xmlns:a16="http://schemas.microsoft.com/office/drawing/2014/main" id="{4887F7D4-17FA-FFF3-2EFE-735E2EFDAC19}"/>
              </a:ext>
            </a:extLst>
          </p:cNvPr>
          <p:cNvSpPr txBox="1"/>
          <p:nvPr/>
        </p:nvSpPr>
        <p:spPr>
          <a:xfrm>
            <a:off x="4892175" y="3736355"/>
            <a:ext cx="6098458" cy="2031325"/>
          </a:xfrm>
          <a:prstGeom prst="rect">
            <a:avLst/>
          </a:prstGeom>
          <a:noFill/>
        </p:spPr>
        <p:txBody>
          <a:bodyPr wrap="square">
            <a:spAutoFit/>
          </a:bodyPr>
          <a:lstStyle/>
          <a:p>
            <a:pPr>
              <a:buNone/>
            </a:pPr>
            <a:r>
              <a:rPr lang="fr-FR" b="1" dirty="0"/>
              <a:t>Solution proposée</a:t>
            </a:r>
          </a:p>
          <a:p>
            <a:pPr>
              <a:buNone/>
            </a:pPr>
            <a:r>
              <a:rPr lang="fr-FR" dirty="0"/>
              <a:t>✔ Audit de sécurité</a:t>
            </a:r>
          </a:p>
          <a:p>
            <a:pPr>
              <a:buNone/>
            </a:pPr>
            <a:r>
              <a:rPr lang="fr-FR" dirty="0"/>
              <a:t>✔ Durcissement des systèmes</a:t>
            </a:r>
          </a:p>
          <a:p>
            <a:pPr>
              <a:buNone/>
            </a:pPr>
            <a:r>
              <a:rPr lang="fr-FR" dirty="0"/>
              <a:t>✔ Déploiement de Splunk</a:t>
            </a:r>
          </a:p>
          <a:p>
            <a:pPr>
              <a:buNone/>
            </a:pPr>
            <a:r>
              <a:rPr lang="fr-FR" dirty="0"/>
              <a:t>✔ Simulation d'attaques</a:t>
            </a:r>
          </a:p>
          <a:p>
            <a:pPr>
              <a:buNone/>
            </a:pPr>
            <a:r>
              <a:rPr lang="fr-FR" dirty="0"/>
              <a:t>✔ Réponse à incident</a:t>
            </a:r>
          </a:p>
          <a:p>
            <a:pPr>
              <a:buNone/>
            </a:pPr>
            <a:r>
              <a:rPr lang="fr-FR" dirty="0"/>
              <a:t>✔ Analyse forensique</a:t>
            </a:r>
          </a:p>
        </p:txBody>
      </p:sp>
    </p:spTree>
    <p:extLst>
      <p:ext uri="{BB962C8B-B14F-4D97-AF65-F5344CB8AC3E}">
        <p14:creationId xmlns:p14="http://schemas.microsoft.com/office/powerpoint/2010/main" val="601342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A380CD-E0CB-A038-E83D-07F8751F9FB9}"/>
              </a:ext>
            </a:extLst>
          </p:cNvPr>
          <p:cNvSpPr>
            <a:spLocks noGrp="1"/>
          </p:cNvSpPr>
          <p:nvPr>
            <p:ph type="title"/>
          </p:nvPr>
        </p:nvSpPr>
        <p:spPr/>
        <p:txBody>
          <a:bodyPr/>
          <a:lstStyle/>
          <a:p>
            <a:r>
              <a:rPr lang="fr-FR" dirty="0"/>
              <a:t>Budget du projet</a:t>
            </a:r>
          </a:p>
        </p:txBody>
      </p:sp>
      <p:pic>
        <p:nvPicPr>
          <p:cNvPr id="5" name="Espace réservé du contenu 4">
            <a:extLst>
              <a:ext uri="{FF2B5EF4-FFF2-40B4-BE49-F238E27FC236}">
                <a16:creationId xmlns:a16="http://schemas.microsoft.com/office/drawing/2014/main" id="{352CB64E-F147-735A-A27D-C73E9B55D15D}"/>
              </a:ext>
            </a:extLst>
          </p:cNvPr>
          <p:cNvPicPr>
            <a:picLocks noGrp="1" noChangeAspect="1"/>
          </p:cNvPicPr>
          <p:nvPr>
            <p:ph idx="1"/>
          </p:nvPr>
        </p:nvPicPr>
        <p:blipFill>
          <a:blip r:embed="rId2"/>
          <a:stretch>
            <a:fillRect/>
          </a:stretch>
        </p:blipFill>
        <p:spPr>
          <a:xfrm>
            <a:off x="2661315" y="2849991"/>
            <a:ext cx="5317680" cy="1793316"/>
          </a:xfrm>
          <a:prstGeom prst="rect">
            <a:avLst/>
          </a:prstGeom>
        </p:spPr>
      </p:pic>
      <p:sp>
        <p:nvSpPr>
          <p:cNvPr id="7" name="ZoneTexte 6">
            <a:extLst>
              <a:ext uri="{FF2B5EF4-FFF2-40B4-BE49-F238E27FC236}">
                <a16:creationId xmlns:a16="http://schemas.microsoft.com/office/drawing/2014/main" id="{2B29FDFB-78E0-CB09-D07E-F9B073FBCB3D}"/>
              </a:ext>
            </a:extLst>
          </p:cNvPr>
          <p:cNvSpPr txBox="1"/>
          <p:nvPr/>
        </p:nvSpPr>
        <p:spPr>
          <a:xfrm>
            <a:off x="2661315" y="5131121"/>
            <a:ext cx="6098458" cy="646331"/>
          </a:xfrm>
          <a:prstGeom prst="rect">
            <a:avLst/>
          </a:prstGeom>
          <a:noFill/>
        </p:spPr>
        <p:txBody>
          <a:bodyPr wrap="square">
            <a:spAutoFit/>
          </a:bodyPr>
          <a:lstStyle/>
          <a:p>
            <a:r>
              <a:rPr lang="fr-FR" dirty="0"/>
              <a:t>Ce budget est une estimation réalisée dans le cadre de ce projet.</a:t>
            </a:r>
          </a:p>
        </p:txBody>
      </p:sp>
    </p:spTree>
    <p:extLst>
      <p:ext uri="{BB962C8B-B14F-4D97-AF65-F5344CB8AC3E}">
        <p14:creationId xmlns:p14="http://schemas.microsoft.com/office/powerpoint/2010/main" val="3869276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A8E21E-FAD3-C80C-A4C6-BEAF38AF9994}"/>
              </a:ext>
            </a:extLst>
          </p:cNvPr>
          <p:cNvSpPr>
            <a:spLocks noGrp="1"/>
          </p:cNvSpPr>
          <p:nvPr>
            <p:ph type="title"/>
          </p:nvPr>
        </p:nvSpPr>
        <p:spPr>
          <a:xfrm>
            <a:off x="913775" y="268711"/>
            <a:ext cx="10364451" cy="1596177"/>
          </a:xfrm>
        </p:spPr>
        <p:txBody>
          <a:bodyPr>
            <a:normAutofit/>
          </a:bodyPr>
          <a:lstStyle/>
          <a:p>
            <a:r>
              <a:rPr lang="fr-FR" dirty="0">
                <a:solidFill>
                  <a:schemeClr val="tx1"/>
                </a:solidFill>
              </a:rPr>
              <a:t>Phase1- Cadrage et présentation de l'infrastructure</a:t>
            </a:r>
          </a:p>
        </p:txBody>
      </p:sp>
      <p:pic>
        <p:nvPicPr>
          <p:cNvPr id="4" name="Espace réservé du contenu 3">
            <a:extLst>
              <a:ext uri="{FF2B5EF4-FFF2-40B4-BE49-F238E27FC236}">
                <a16:creationId xmlns:a16="http://schemas.microsoft.com/office/drawing/2014/main" id="{BA101AF0-FFE9-2A57-169E-FB6526294DE2}"/>
              </a:ext>
            </a:extLst>
          </p:cNvPr>
          <p:cNvPicPr>
            <a:picLocks noGrp="1" noChangeAspect="1"/>
          </p:cNvPicPr>
          <p:nvPr>
            <p:ph idx="1"/>
          </p:nvPr>
        </p:nvPicPr>
        <p:blipFill>
          <a:blip r:embed="rId2"/>
          <a:stretch>
            <a:fillRect/>
          </a:stretch>
        </p:blipFill>
        <p:spPr>
          <a:xfrm>
            <a:off x="3753809" y="1716881"/>
            <a:ext cx="5262511" cy="3424237"/>
          </a:xfrm>
          <a:prstGeom prst="rect">
            <a:avLst/>
          </a:prstGeom>
        </p:spPr>
      </p:pic>
      <p:sp>
        <p:nvSpPr>
          <p:cNvPr id="3" name="ZoneTexte 2">
            <a:extLst>
              <a:ext uri="{FF2B5EF4-FFF2-40B4-BE49-F238E27FC236}">
                <a16:creationId xmlns:a16="http://schemas.microsoft.com/office/drawing/2014/main" id="{01541121-C7B0-D17A-E3C0-A8C8AB3CE8C8}"/>
              </a:ext>
            </a:extLst>
          </p:cNvPr>
          <p:cNvSpPr txBox="1"/>
          <p:nvPr/>
        </p:nvSpPr>
        <p:spPr>
          <a:xfrm>
            <a:off x="1283110" y="5477720"/>
            <a:ext cx="9468464" cy="646331"/>
          </a:xfrm>
          <a:prstGeom prst="rect">
            <a:avLst/>
          </a:prstGeom>
          <a:noFill/>
        </p:spPr>
        <p:txBody>
          <a:bodyPr wrap="square" rtlCol="0">
            <a:spAutoFit/>
          </a:bodyPr>
          <a:lstStyle/>
          <a:p>
            <a:r>
              <a:rPr lang="fr-FR" dirty="0"/>
              <a:t>Cette architecture constitue l'environnement de test utilisé pour réaliser les différentes phases du projet : audit de sécurité, sécurisation des systèmes, supervision avec Splunk et réponse à incident.</a:t>
            </a:r>
          </a:p>
        </p:txBody>
      </p:sp>
    </p:spTree>
    <p:extLst>
      <p:ext uri="{BB962C8B-B14F-4D97-AF65-F5344CB8AC3E}">
        <p14:creationId xmlns:p14="http://schemas.microsoft.com/office/powerpoint/2010/main" val="2709405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4D732A63-A18E-8A45-523F-B7B2A247D5F2}"/>
              </a:ext>
            </a:extLst>
          </p:cNvPr>
          <p:cNvPicPr>
            <a:picLocks noGrp="1" noChangeAspect="1"/>
          </p:cNvPicPr>
          <p:nvPr>
            <p:ph idx="1"/>
          </p:nvPr>
        </p:nvPicPr>
        <p:blipFill>
          <a:blip r:embed="rId2"/>
          <a:stretch>
            <a:fillRect/>
          </a:stretch>
        </p:blipFill>
        <p:spPr>
          <a:xfrm>
            <a:off x="2918699" y="2071996"/>
            <a:ext cx="5855445" cy="3424237"/>
          </a:xfrm>
          <a:prstGeom prst="rect">
            <a:avLst/>
          </a:prstGeom>
        </p:spPr>
      </p:pic>
      <p:sp>
        <p:nvSpPr>
          <p:cNvPr id="3" name="ZoneTexte 2">
            <a:extLst>
              <a:ext uri="{FF2B5EF4-FFF2-40B4-BE49-F238E27FC236}">
                <a16:creationId xmlns:a16="http://schemas.microsoft.com/office/drawing/2014/main" id="{04185F55-CDCF-96CB-B622-A805F51DBF4F}"/>
              </a:ext>
            </a:extLst>
          </p:cNvPr>
          <p:cNvSpPr txBox="1"/>
          <p:nvPr/>
        </p:nvSpPr>
        <p:spPr>
          <a:xfrm>
            <a:off x="1209368" y="855406"/>
            <a:ext cx="9274109" cy="923330"/>
          </a:xfrm>
          <a:prstGeom prst="rect">
            <a:avLst/>
          </a:prstGeom>
          <a:noFill/>
        </p:spPr>
        <p:txBody>
          <a:bodyPr wrap="square" rtlCol="0">
            <a:spAutoFit/>
          </a:bodyPr>
          <a:lstStyle/>
          <a:p>
            <a:r>
              <a:rPr lang="fr-FR" sz="3600" dirty="0"/>
              <a:t>Architecture de supervision avec Splunk Enterprise</a:t>
            </a:r>
          </a:p>
          <a:p>
            <a:endParaRPr lang="fr-FR" dirty="0"/>
          </a:p>
        </p:txBody>
      </p:sp>
      <p:sp>
        <p:nvSpPr>
          <p:cNvPr id="5" name="ZoneTexte 4">
            <a:extLst>
              <a:ext uri="{FF2B5EF4-FFF2-40B4-BE49-F238E27FC236}">
                <a16:creationId xmlns:a16="http://schemas.microsoft.com/office/drawing/2014/main" id="{56AA2AA7-0DCD-854F-900B-A3098DEA00EB}"/>
              </a:ext>
            </a:extLst>
          </p:cNvPr>
          <p:cNvSpPr txBox="1"/>
          <p:nvPr/>
        </p:nvSpPr>
        <p:spPr>
          <a:xfrm>
            <a:off x="1607573" y="5742037"/>
            <a:ext cx="9274109" cy="646331"/>
          </a:xfrm>
          <a:prstGeom prst="rect">
            <a:avLst/>
          </a:prstGeom>
          <a:noFill/>
        </p:spPr>
        <p:txBody>
          <a:bodyPr wrap="square" rtlCol="0">
            <a:spAutoFit/>
          </a:bodyPr>
          <a:lstStyle/>
          <a:p>
            <a:r>
              <a:rPr lang="fr-FR" dirty="0"/>
              <a:t>Cette architecture illustre la centralisation des journaux des différents systèmes vers Splunk Enterprise afin d'assurer la supervision et l'analyse des événements de sécurité.</a:t>
            </a:r>
          </a:p>
        </p:txBody>
      </p:sp>
    </p:spTree>
    <p:extLst>
      <p:ext uri="{BB962C8B-B14F-4D97-AF65-F5344CB8AC3E}">
        <p14:creationId xmlns:p14="http://schemas.microsoft.com/office/powerpoint/2010/main" val="2451825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4E39D3C1-1A1A-5323-E5E9-64E419DDF73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85604" y="1508845"/>
            <a:ext cx="3839111" cy="3772426"/>
          </a:xfrm>
          <a:prstGeom prst="rect">
            <a:avLst/>
          </a:prstGeom>
          <a:noFill/>
          <a:ln>
            <a:noFill/>
          </a:ln>
        </p:spPr>
      </p:pic>
      <p:pic>
        <p:nvPicPr>
          <p:cNvPr id="5" name="Image 4">
            <a:extLst>
              <a:ext uri="{FF2B5EF4-FFF2-40B4-BE49-F238E27FC236}">
                <a16:creationId xmlns:a16="http://schemas.microsoft.com/office/drawing/2014/main" id="{7C06C267-85E8-5533-5BF4-28A7DE26AC4B}"/>
              </a:ext>
            </a:extLst>
          </p:cNvPr>
          <p:cNvPicPr>
            <a:picLocks noChangeAspect="1"/>
          </p:cNvPicPr>
          <p:nvPr/>
        </p:nvPicPr>
        <p:blipFill>
          <a:blip r:embed="rId3"/>
          <a:stretch>
            <a:fillRect/>
          </a:stretch>
        </p:blipFill>
        <p:spPr>
          <a:xfrm>
            <a:off x="4656944" y="2475974"/>
            <a:ext cx="5486400" cy="1838169"/>
          </a:xfrm>
          <a:prstGeom prst="rect">
            <a:avLst/>
          </a:prstGeom>
        </p:spPr>
      </p:pic>
      <p:sp>
        <p:nvSpPr>
          <p:cNvPr id="3" name="ZoneTexte 2">
            <a:extLst>
              <a:ext uri="{FF2B5EF4-FFF2-40B4-BE49-F238E27FC236}">
                <a16:creationId xmlns:a16="http://schemas.microsoft.com/office/drawing/2014/main" id="{9EA1700A-5E22-C077-D72A-9694FC77766A}"/>
              </a:ext>
            </a:extLst>
          </p:cNvPr>
          <p:cNvSpPr txBox="1"/>
          <p:nvPr/>
        </p:nvSpPr>
        <p:spPr>
          <a:xfrm>
            <a:off x="3251200" y="391886"/>
            <a:ext cx="6763657" cy="923330"/>
          </a:xfrm>
          <a:prstGeom prst="rect">
            <a:avLst/>
          </a:prstGeom>
          <a:noFill/>
        </p:spPr>
        <p:txBody>
          <a:bodyPr wrap="square" rtlCol="0">
            <a:spAutoFit/>
          </a:bodyPr>
          <a:lstStyle/>
          <a:p>
            <a:r>
              <a:rPr lang="fr-FR" dirty="0"/>
              <a:t>Vulnérabilité: Bureau à distance (RDP) sans authentification NLA et Protocole SMBv1 activé</a:t>
            </a:r>
          </a:p>
          <a:p>
            <a:endParaRPr lang="fr-FR" dirty="0"/>
          </a:p>
        </p:txBody>
      </p:sp>
      <p:sp>
        <p:nvSpPr>
          <p:cNvPr id="6" name="ZoneTexte 5">
            <a:extLst>
              <a:ext uri="{FF2B5EF4-FFF2-40B4-BE49-F238E27FC236}">
                <a16:creationId xmlns:a16="http://schemas.microsoft.com/office/drawing/2014/main" id="{6926175C-8035-F9D4-4525-B6A615E8342D}"/>
              </a:ext>
            </a:extLst>
          </p:cNvPr>
          <p:cNvSpPr txBox="1"/>
          <p:nvPr/>
        </p:nvSpPr>
        <p:spPr>
          <a:xfrm>
            <a:off x="288143" y="5660571"/>
            <a:ext cx="10858827" cy="923330"/>
          </a:xfrm>
          <a:prstGeom prst="rect">
            <a:avLst/>
          </a:prstGeom>
          <a:noFill/>
        </p:spPr>
        <p:txBody>
          <a:bodyPr wrap="square" rtlCol="0">
            <a:spAutoFit/>
          </a:bodyPr>
          <a:lstStyle/>
          <a:p>
            <a:r>
              <a:rPr lang="fr-FR" dirty="0"/>
              <a:t>Le service Bureau à distance est activé sans authentification NLA, ce qui augmente le risque de tentatives de connexion non autorisées. Le protocole SMBv1 est activé sur le système. Ce protocole étant obsolète et vulnérable, il représente un risque de sécurité et sera désactivé lors de la phase de sécurisation.</a:t>
            </a:r>
          </a:p>
        </p:txBody>
      </p:sp>
    </p:spTree>
    <p:extLst>
      <p:ext uri="{BB962C8B-B14F-4D97-AF65-F5344CB8AC3E}">
        <p14:creationId xmlns:p14="http://schemas.microsoft.com/office/powerpoint/2010/main" val="1161008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7EB36D72-7CC9-5E95-A819-795812FD77E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4260" y="2351313"/>
            <a:ext cx="4359360" cy="3431837"/>
          </a:xfrm>
          <a:prstGeom prst="rect">
            <a:avLst/>
          </a:prstGeom>
          <a:noFill/>
          <a:ln>
            <a:noFill/>
          </a:ln>
        </p:spPr>
      </p:pic>
      <p:pic>
        <p:nvPicPr>
          <p:cNvPr id="5" name="Image 4">
            <a:extLst>
              <a:ext uri="{FF2B5EF4-FFF2-40B4-BE49-F238E27FC236}">
                <a16:creationId xmlns:a16="http://schemas.microsoft.com/office/drawing/2014/main" id="{307B62E6-88B1-66B0-99F0-2DA0F02D4DF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46627" y="1930400"/>
            <a:ext cx="4766576" cy="3431837"/>
          </a:xfrm>
          <a:prstGeom prst="rect">
            <a:avLst/>
          </a:prstGeom>
          <a:noFill/>
          <a:ln>
            <a:noFill/>
          </a:ln>
        </p:spPr>
      </p:pic>
    </p:spTree>
    <p:extLst>
      <p:ext uri="{BB962C8B-B14F-4D97-AF65-F5344CB8AC3E}">
        <p14:creationId xmlns:p14="http://schemas.microsoft.com/office/powerpoint/2010/main" val="511685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F6F931-DBDE-3FEA-592B-155F8D339900}"/>
              </a:ext>
            </a:extLst>
          </p:cNvPr>
          <p:cNvSpPr>
            <a:spLocks noGrp="1"/>
          </p:cNvSpPr>
          <p:nvPr>
            <p:ph type="title"/>
          </p:nvPr>
        </p:nvSpPr>
        <p:spPr>
          <a:xfrm>
            <a:off x="176355" y="409604"/>
            <a:ext cx="10364451" cy="1596177"/>
          </a:xfrm>
        </p:spPr>
        <p:txBody>
          <a:bodyPr/>
          <a:lstStyle/>
          <a:p>
            <a:r>
              <a:rPr lang="fr-FR" dirty="0"/>
              <a:t>Phase 2 – Audit de sécurité</a:t>
            </a:r>
            <a:br>
              <a:rPr lang="fr-FR" dirty="0"/>
            </a:br>
            <a:endParaRPr lang="fr-FR" dirty="0"/>
          </a:p>
        </p:txBody>
      </p:sp>
      <p:graphicFrame>
        <p:nvGraphicFramePr>
          <p:cNvPr id="4" name="Espace réservé du contenu 3">
            <a:extLst>
              <a:ext uri="{FF2B5EF4-FFF2-40B4-BE49-F238E27FC236}">
                <a16:creationId xmlns:a16="http://schemas.microsoft.com/office/drawing/2014/main" id="{05184349-74A6-BA35-0E9E-3818AD10C9EE}"/>
              </a:ext>
            </a:extLst>
          </p:cNvPr>
          <p:cNvGraphicFramePr>
            <a:graphicFrameLocks noGrp="1"/>
          </p:cNvGraphicFramePr>
          <p:nvPr>
            <p:ph idx="1"/>
            <p:extLst>
              <p:ext uri="{D42A27DB-BD31-4B8C-83A1-F6EECF244321}">
                <p14:modId xmlns:p14="http://schemas.microsoft.com/office/powerpoint/2010/main" val="1757326383"/>
              </p:ext>
            </p:extLst>
          </p:nvPr>
        </p:nvGraphicFramePr>
        <p:xfrm>
          <a:off x="914400" y="2005781"/>
          <a:ext cx="10363826" cy="34363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185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79EB19B9-A6EC-DFA5-50CD-DB18533D18D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2016" y="1283065"/>
            <a:ext cx="3561014" cy="3031776"/>
          </a:xfrm>
          <a:prstGeom prst="rect">
            <a:avLst/>
          </a:prstGeom>
          <a:noFill/>
          <a:ln>
            <a:noFill/>
          </a:ln>
        </p:spPr>
      </p:pic>
      <p:pic>
        <p:nvPicPr>
          <p:cNvPr id="5" name="Image 4">
            <a:extLst>
              <a:ext uri="{FF2B5EF4-FFF2-40B4-BE49-F238E27FC236}">
                <a16:creationId xmlns:a16="http://schemas.microsoft.com/office/drawing/2014/main" id="{462CB4F6-BB94-82BF-6E89-F382C5F4234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8444" y="4314841"/>
            <a:ext cx="4775835" cy="1277620"/>
          </a:xfrm>
          <a:prstGeom prst="rect">
            <a:avLst/>
          </a:prstGeom>
          <a:noFill/>
          <a:ln>
            <a:noFill/>
          </a:ln>
        </p:spPr>
      </p:pic>
      <p:sp>
        <p:nvSpPr>
          <p:cNvPr id="6" name="ZoneTexte 5">
            <a:extLst>
              <a:ext uri="{FF2B5EF4-FFF2-40B4-BE49-F238E27FC236}">
                <a16:creationId xmlns:a16="http://schemas.microsoft.com/office/drawing/2014/main" id="{2BEE7EEE-69BE-DBA7-CF43-AD05042E0DE1}"/>
              </a:ext>
            </a:extLst>
          </p:cNvPr>
          <p:cNvSpPr txBox="1"/>
          <p:nvPr/>
        </p:nvSpPr>
        <p:spPr>
          <a:xfrm>
            <a:off x="1248230" y="5706762"/>
            <a:ext cx="8490856" cy="1200329"/>
          </a:xfrm>
          <a:prstGeom prst="rect">
            <a:avLst/>
          </a:prstGeom>
          <a:noFill/>
        </p:spPr>
        <p:txBody>
          <a:bodyPr wrap="square">
            <a:spAutoFit/>
          </a:bodyPr>
          <a:lstStyle/>
          <a:p>
            <a:r>
              <a:rPr lang="fr-FR" dirty="0"/>
              <a:t>L'analyse </a:t>
            </a:r>
            <a:r>
              <a:rPr lang="fr-FR" dirty="0" err="1"/>
              <a:t>Nmap</a:t>
            </a:r>
            <a:r>
              <a:rPr lang="fr-FR" dirty="0"/>
              <a:t> a permis d'identifier les hôtes actifs ainsi que les services exposés, afin d'évaluer la surface d'attaque de l'infrastructure. Elle confirme la présence du service </a:t>
            </a:r>
            <a:r>
              <a:rPr lang="fr-FR" dirty="0" err="1"/>
              <a:t>OpenVPN</a:t>
            </a:r>
            <a:r>
              <a:rPr lang="fr-FR" dirty="0"/>
              <a:t> sur le port UDP 1194 </a:t>
            </a:r>
          </a:p>
          <a:p>
            <a:endParaRPr lang="fr-FR" dirty="0"/>
          </a:p>
        </p:txBody>
      </p:sp>
      <p:sp>
        <p:nvSpPr>
          <p:cNvPr id="8" name="ZoneTexte 7">
            <a:extLst>
              <a:ext uri="{FF2B5EF4-FFF2-40B4-BE49-F238E27FC236}">
                <a16:creationId xmlns:a16="http://schemas.microsoft.com/office/drawing/2014/main" id="{55A03195-4732-9E9B-4204-E4F93D1C5814}"/>
              </a:ext>
            </a:extLst>
          </p:cNvPr>
          <p:cNvSpPr txBox="1"/>
          <p:nvPr/>
        </p:nvSpPr>
        <p:spPr>
          <a:xfrm>
            <a:off x="1248230" y="230503"/>
            <a:ext cx="9209384" cy="646331"/>
          </a:xfrm>
          <a:prstGeom prst="rect">
            <a:avLst/>
          </a:prstGeom>
          <a:noFill/>
        </p:spPr>
        <p:txBody>
          <a:bodyPr wrap="square" rtlCol="0">
            <a:spAutoFit/>
          </a:bodyPr>
          <a:lstStyle/>
          <a:p>
            <a:r>
              <a:rPr lang="fr-FR" sz="3600" dirty="0"/>
              <a:t>Découverte des hôtes et des services avec </a:t>
            </a:r>
            <a:r>
              <a:rPr lang="fr-FR" sz="3600" dirty="0" err="1"/>
              <a:t>Nmap</a:t>
            </a:r>
            <a:endParaRPr lang="fr-FR" sz="3600" dirty="0"/>
          </a:p>
        </p:txBody>
      </p:sp>
      <p:sp>
        <p:nvSpPr>
          <p:cNvPr id="9" name="Rectangle 8">
            <a:extLst>
              <a:ext uri="{FF2B5EF4-FFF2-40B4-BE49-F238E27FC236}">
                <a16:creationId xmlns:a16="http://schemas.microsoft.com/office/drawing/2014/main" id="{217258DF-6DD1-1F9D-953D-143A8D3814C2}"/>
              </a:ext>
            </a:extLst>
          </p:cNvPr>
          <p:cNvSpPr/>
          <p:nvPr/>
        </p:nvSpPr>
        <p:spPr>
          <a:xfrm>
            <a:off x="532016" y="3429000"/>
            <a:ext cx="3372327" cy="64951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AF056C80-7C74-4445-FD43-58E148D8D16A}"/>
              </a:ext>
            </a:extLst>
          </p:cNvPr>
          <p:cNvSpPr txBox="1"/>
          <p:nvPr/>
        </p:nvSpPr>
        <p:spPr>
          <a:xfrm>
            <a:off x="4790944" y="3339850"/>
            <a:ext cx="3889828" cy="1477328"/>
          </a:xfrm>
          <a:prstGeom prst="rect">
            <a:avLst/>
          </a:prstGeom>
          <a:noFill/>
        </p:spPr>
        <p:txBody>
          <a:bodyPr wrap="square" rtlCol="0">
            <a:spAutoFit/>
          </a:bodyPr>
          <a:lstStyle/>
          <a:p>
            <a:r>
              <a:rPr lang="fr-FR" dirty="0"/>
              <a:t>Ports et services détectés</a:t>
            </a:r>
          </a:p>
          <a:p>
            <a:r>
              <a:rPr lang="fr-FR" dirty="0"/>
              <a:t>3389: Service Bureau à distance (RDP</a:t>
            </a:r>
            <a:r>
              <a:rPr lang="fr-FR" b="1" dirty="0"/>
              <a:t>)</a:t>
            </a:r>
          </a:p>
          <a:p>
            <a:r>
              <a:rPr lang="fr-FR" dirty="0"/>
              <a:t>445</a:t>
            </a:r>
            <a:r>
              <a:rPr lang="fr-FR" b="1" dirty="0"/>
              <a:t>: </a:t>
            </a:r>
            <a:r>
              <a:rPr lang="fr-FR" dirty="0"/>
              <a:t>Service SMB détecté</a:t>
            </a:r>
            <a:endParaRPr lang="fr-FR" b="1" dirty="0"/>
          </a:p>
          <a:p>
            <a:endParaRPr lang="fr-FR" dirty="0"/>
          </a:p>
          <a:p>
            <a:endParaRPr lang="fr-FR" dirty="0"/>
          </a:p>
        </p:txBody>
      </p:sp>
      <p:cxnSp>
        <p:nvCxnSpPr>
          <p:cNvPr id="12" name="Connecteur droit avec flèche 11">
            <a:extLst>
              <a:ext uri="{FF2B5EF4-FFF2-40B4-BE49-F238E27FC236}">
                <a16:creationId xmlns:a16="http://schemas.microsoft.com/office/drawing/2014/main" id="{9B00BAB9-CA71-FDBE-C686-13BD09845223}"/>
              </a:ext>
            </a:extLst>
          </p:cNvPr>
          <p:cNvCxnSpPr/>
          <p:nvPr/>
        </p:nvCxnSpPr>
        <p:spPr>
          <a:xfrm flipH="1">
            <a:off x="3904343" y="3875314"/>
            <a:ext cx="696686"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5" name="Rectangle 14">
            <a:extLst>
              <a:ext uri="{FF2B5EF4-FFF2-40B4-BE49-F238E27FC236}">
                <a16:creationId xmlns:a16="http://schemas.microsoft.com/office/drawing/2014/main" id="{121C951F-AB65-4EAF-40F8-F5A671195A71}"/>
              </a:ext>
            </a:extLst>
          </p:cNvPr>
          <p:cNvSpPr/>
          <p:nvPr/>
        </p:nvSpPr>
        <p:spPr>
          <a:xfrm>
            <a:off x="356192" y="5289831"/>
            <a:ext cx="2953065" cy="28510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885D0F2B-B0C4-8053-82A6-67E2BFA60528}"/>
              </a:ext>
            </a:extLst>
          </p:cNvPr>
          <p:cNvSpPr txBox="1"/>
          <p:nvPr/>
        </p:nvSpPr>
        <p:spPr>
          <a:xfrm>
            <a:off x="5384800" y="4920343"/>
            <a:ext cx="3759200" cy="646331"/>
          </a:xfrm>
          <a:prstGeom prst="rect">
            <a:avLst/>
          </a:prstGeom>
          <a:noFill/>
        </p:spPr>
        <p:txBody>
          <a:bodyPr wrap="square" rtlCol="0">
            <a:spAutoFit/>
          </a:bodyPr>
          <a:lstStyle/>
          <a:p>
            <a:r>
              <a:rPr lang="fr-FR" dirty="0" err="1"/>
              <a:t>Ip</a:t>
            </a:r>
            <a:r>
              <a:rPr lang="fr-FR" dirty="0"/>
              <a:t> de la machine port utilisé ouvert par le pare feu</a:t>
            </a:r>
          </a:p>
        </p:txBody>
      </p:sp>
    </p:spTree>
    <p:extLst>
      <p:ext uri="{BB962C8B-B14F-4D97-AF65-F5344CB8AC3E}">
        <p14:creationId xmlns:p14="http://schemas.microsoft.com/office/powerpoint/2010/main" val="3223489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3D99C480-1BC3-F459-B6AD-A49F82759CB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7844" y="2266940"/>
            <a:ext cx="8596312" cy="1485226"/>
          </a:xfrm>
          <a:prstGeom prst="rect">
            <a:avLst/>
          </a:prstGeom>
          <a:noFill/>
          <a:ln>
            <a:noFill/>
          </a:ln>
        </p:spPr>
      </p:pic>
      <p:sp>
        <p:nvSpPr>
          <p:cNvPr id="5" name="ZoneTexte 4">
            <a:extLst>
              <a:ext uri="{FF2B5EF4-FFF2-40B4-BE49-F238E27FC236}">
                <a16:creationId xmlns:a16="http://schemas.microsoft.com/office/drawing/2014/main" id="{648E52CE-B9A7-82DE-D1E8-83D71B05BC53}"/>
              </a:ext>
            </a:extLst>
          </p:cNvPr>
          <p:cNvSpPr txBox="1"/>
          <p:nvPr/>
        </p:nvSpPr>
        <p:spPr>
          <a:xfrm>
            <a:off x="1797844" y="4369411"/>
            <a:ext cx="7109952" cy="923330"/>
          </a:xfrm>
          <a:prstGeom prst="rect">
            <a:avLst/>
          </a:prstGeom>
          <a:noFill/>
        </p:spPr>
        <p:txBody>
          <a:bodyPr wrap="square">
            <a:spAutoFit/>
          </a:bodyPr>
          <a:lstStyle/>
          <a:p>
            <a:r>
              <a:rPr lang="fr-FR" dirty="0"/>
              <a:t>Cette simulation d'attaque a permis d'identifier un compte utilisant un mot de passe faible, mettant en évidence la nécessité de renforcer la politique de mots de passe et de protéger le service SSH..</a:t>
            </a:r>
          </a:p>
        </p:txBody>
      </p:sp>
      <p:sp>
        <p:nvSpPr>
          <p:cNvPr id="6" name="ZoneTexte 5">
            <a:extLst>
              <a:ext uri="{FF2B5EF4-FFF2-40B4-BE49-F238E27FC236}">
                <a16:creationId xmlns:a16="http://schemas.microsoft.com/office/drawing/2014/main" id="{24AC7C86-A5B2-6BDB-29A1-E12EB1E1B5A8}"/>
              </a:ext>
            </a:extLst>
          </p:cNvPr>
          <p:cNvSpPr txBox="1"/>
          <p:nvPr/>
        </p:nvSpPr>
        <p:spPr>
          <a:xfrm>
            <a:off x="3077029" y="348343"/>
            <a:ext cx="6691085" cy="1477328"/>
          </a:xfrm>
          <a:prstGeom prst="rect">
            <a:avLst/>
          </a:prstGeom>
          <a:noFill/>
        </p:spPr>
        <p:txBody>
          <a:bodyPr wrap="square" rtlCol="0">
            <a:spAutoFit/>
          </a:bodyPr>
          <a:lstStyle/>
          <a:p>
            <a:r>
              <a:rPr lang="fr-FR" sz="3600" dirty="0"/>
              <a:t>Simulation d'une attaque par force brute SSH avec Hydra</a:t>
            </a:r>
          </a:p>
          <a:p>
            <a:endParaRPr lang="fr-FR" dirty="0"/>
          </a:p>
        </p:txBody>
      </p:sp>
    </p:spTree>
    <p:extLst>
      <p:ext uri="{BB962C8B-B14F-4D97-AF65-F5344CB8AC3E}">
        <p14:creationId xmlns:p14="http://schemas.microsoft.com/office/powerpoint/2010/main" val="3226537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4F681-BD89-A13B-F70C-B71FB2741756}"/>
              </a:ext>
            </a:extLst>
          </p:cNvPr>
          <p:cNvSpPr>
            <a:spLocks noGrp="1"/>
          </p:cNvSpPr>
          <p:nvPr>
            <p:ph type="title"/>
          </p:nvPr>
        </p:nvSpPr>
        <p:spPr/>
        <p:txBody>
          <a:bodyPr/>
          <a:lstStyle/>
          <a:p>
            <a:r>
              <a:rPr lang="fr-FR" dirty="0"/>
              <a:t>Audit  de vulnérabilités</a:t>
            </a:r>
          </a:p>
        </p:txBody>
      </p:sp>
      <p:pic>
        <p:nvPicPr>
          <p:cNvPr id="4" name="Espace réservé du contenu 3">
            <a:extLst>
              <a:ext uri="{FF2B5EF4-FFF2-40B4-BE49-F238E27FC236}">
                <a16:creationId xmlns:a16="http://schemas.microsoft.com/office/drawing/2014/main" id="{714838FA-1163-5B0E-C06C-EC737DF88D43}"/>
              </a:ext>
            </a:extLst>
          </p:cNvPr>
          <p:cNvPicPr>
            <a:picLocks noGrp="1" noChangeAspect="1"/>
          </p:cNvPicPr>
          <p:nvPr>
            <p:ph idx="1"/>
          </p:nvPr>
        </p:nvPicPr>
        <p:blipFill>
          <a:blip r:embed="rId2"/>
          <a:stretch>
            <a:fillRect/>
          </a:stretch>
        </p:blipFill>
        <p:spPr>
          <a:xfrm>
            <a:off x="1649054" y="2224296"/>
            <a:ext cx="8362950" cy="1409700"/>
          </a:xfrm>
          <a:prstGeom prst="rect">
            <a:avLst/>
          </a:prstGeom>
        </p:spPr>
      </p:pic>
      <p:sp>
        <p:nvSpPr>
          <p:cNvPr id="5" name="ZoneTexte 4">
            <a:extLst>
              <a:ext uri="{FF2B5EF4-FFF2-40B4-BE49-F238E27FC236}">
                <a16:creationId xmlns:a16="http://schemas.microsoft.com/office/drawing/2014/main" id="{83111BF9-1017-E021-B08E-DBB27F15D654}"/>
              </a:ext>
            </a:extLst>
          </p:cNvPr>
          <p:cNvSpPr txBox="1"/>
          <p:nvPr/>
        </p:nvSpPr>
        <p:spPr>
          <a:xfrm>
            <a:off x="1624472" y="4208158"/>
            <a:ext cx="8507669" cy="1754326"/>
          </a:xfrm>
          <a:prstGeom prst="rect">
            <a:avLst/>
          </a:prstGeom>
          <a:noFill/>
        </p:spPr>
        <p:txBody>
          <a:bodyPr wrap="square">
            <a:spAutoFit/>
          </a:bodyPr>
          <a:lstStyle/>
          <a:p>
            <a:pPr>
              <a:buNone/>
            </a:pPr>
            <a:r>
              <a:rPr lang="fr-FR" dirty="0"/>
              <a:t>L'audit a mis en évidence plusieurs points faibles :</a:t>
            </a:r>
          </a:p>
          <a:p>
            <a:pPr>
              <a:buNone/>
            </a:pPr>
            <a:r>
              <a:rPr lang="fr-FR" dirty="0"/>
              <a:t>des services exposés,</a:t>
            </a:r>
          </a:p>
          <a:p>
            <a:pPr>
              <a:buNone/>
            </a:pPr>
            <a:r>
              <a:rPr lang="fr-FR" dirty="0"/>
              <a:t>des ports ouverts,</a:t>
            </a:r>
          </a:p>
          <a:p>
            <a:pPr>
              <a:buNone/>
            </a:pPr>
            <a:r>
              <a:rPr lang="fr-FR" dirty="0"/>
              <a:t>des protocoles anciens comme SMBv1,</a:t>
            </a:r>
          </a:p>
          <a:p>
            <a:pPr>
              <a:buNone/>
            </a:pPr>
            <a:r>
              <a:rPr lang="fr-FR" dirty="0"/>
              <a:t>des mots de passe insuffisamment sécurisés,</a:t>
            </a:r>
          </a:p>
          <a:p>
            <a:pPr>
              <a:buNone/>
            </a:pPr>
            <a:r>
              <a:rPr lang="fr-FR" dirty="0"/>
              <a:t>ainsi que l'absence de certaines protections sur le Bureau à distance.</a:t>
            </a:r>
          </a:p>
        </p:txBody>
      </p:sp>
    </p:spTree>
    <p:extLst>
      <p:ext uri="{BB962C8B-B14F-4D97-AF65-F5344CB8AC3E}">
        <p14:creationId xmlns:p14="http://schemas.microsoft.com/office/powerpoint/2010/main" val="2631762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B87A1D-3745-D419-0DCC-7F431E3FABCF}"/>
              </a:ext>
            </a:extLst>
          </p:cNvPr>
          <p:cNvSpPr>
            <a:spLocks noGrp="1"/>
          </p:cNvSpPr>
          <p:nvPr>
            <p:ph type="title"/>
          </p:nvPr>
        </p:nvSpPr>
        <p:spPr>
          <a:xfrm>
            <a:off x="913774" y="334223"/>
            <a:ext cx="10364451" cy="1596177"/>
          </a:xfrm>
        </p:spPr>
        <p:txBody>
          <a:bodyPr>
            <a:normAutofit/>
          </a:bodyPr>
          <a:lstStyle/>
          <a:p>
            <a:r>
              <a:rPr lang="fr-FR" dirty="0">
                <a:solidFill>
                  <a:schemeClr val="tx1"/>
                </a:solidFill>
              </a:rPr>
              <a:t>Phase 3 – Sécurisation de l'infrastructure</a:t>
            </a:r>
            <a:br>
              <a:rPr lang="fr-FR" dirty="0"/>
            </a:br>
            <a:endParaRPr lang="fr-FR" dirty="0"/>
          </a:p>
        </p:txBody>
      </p:sp>
      <p:pic>
        <p:nvPicPr>
          <p:cNvPr id="4" name="Espace réservé du contenu 3">
            <a:extLst>
              <a:ext uri="{FF2B5EF4-FFF2-40B4-BE49-F238E27FC236}">
                <a16:creationId xmlns:a16="http://schemas.microsoft.com/office/drawing/2014/main" id="{8A6D8C6B-6658-E609-114A-21AA1D1F854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3163" y="2157235"/>
            <a:ext cx="8596311" cy="2543530"/>
          </a:xfrm>
          <a:prstGeom prst="rect">
            <a:avLst/>
          </a:prstGeom>
          <a:noFill/>
          <a:ln>
            <a:noFill/>
          </a:ln>
        </p:spPr>
      </p:pic>
      <p:sp>
        <p:nvSpPr>
          <p:cNvPr id="6" name="ZoneTexte 5">
            <a:extLst>
              <a:ext uri="{FF2B5EF4-FFF2-40B4-BE49-F238E27FC236}">
                <a16:creationId xmlns:a16="http://schemas.microsoft.com/office/drawing/2014/main" id="{4159EFDC-387B-59ED-79C2-F5FA86AB0BDA}"/>
              </a:ext>
            </a:extLst>
          </p:cNvPr>
          <p:cNvSpPr txBox="1"/>
          <p:nvPr/>
        </p:nvSpPr>
        <p:spPr>
          <a:xfrm>
            <a:off x="503163" y="5542625"/>
            <a:ext cx="8815008" cy="923330"/>
          </a:xfrm>
          <a:prstGeom prst="rect">
            <a:avLst/>
          </a:prstGeom>
          <a:noFill/>
        </p:spPr>
        <p:txBody>
          <a:bodyPr wrap="square">
            <a:spAutoFit/>
          </a:bodyPr>
          <a:lstStyle/>
          <a:p>
            <a:pPr>
              <a:buNone/>
            </a:pPr>
            <a:r>
              <a:rPr lang="fr-FR" dirty="0"/>
              <a:t>Le renforcement de la politique des comptes permet de limiter les attaques par force brute grâce au verrouillage automatique des comptes et à l'application de mots de passe plus robustes.</a:t>
            </a:r>
          </a:p>
        </p:txBody>
      </p:sp>
      <p:sp>
        <p:nvSpPr>
          <p:cNvPr id="10" name="ZoneTexte 9">
            <a:extLst>
              <a:ext uri="{FF2B5EF4-FFF2-40B4-BE49-F238E27FC236}">
                <a16:creationId xmlns:a16="http://schemas.microsoft.com/office/drawing/2014/main" id="{9242918E-8EC5-E7C2-268C-581AD3187696}"/>
              </a:ext>
            </a:extLst>
          </p:cNvPr>
          <p:cNvSpPr txBox="1"/>
          <p:nvPr/>
        </p:nvSpPr>
        <p:spPr>
          <a:xfrm>
            <a:off x="9434286" y="2215293"/>
            <a:ext cx="2525485" cy="923330"/>
          </a:xfrm>
          <a:prstGeom prst="rect">
            <a:avLst/>
          </a:prstGeom>
          <a:noFill/>
        </p:spPr>
        <p:txBody>
          <a:bodyPr wrap="square" rtlCol="0">
            <a:spAutoFit/>
          </a:bodyPr>
          <a:lstStyle/>
          <a:p>
            <a:r>
              <a:rPr lang="fr-FR" dirty="0"/>
              <a:t>Verrouillage du compte après 5 échecs de connexion</a:t>
            </a:r>
          </a:p>
        </p:txBody>
      </p:sp>
      <p:sp>
        <p:nvSpPr>
          <p:cNvPr id="11" name="ZoneTexte 10">
            <a:extLst>
              <a:ext uri="{FF2B5EF4-FFF2-40B4-BE49-F238E27FC236}">
                <a16:creationId xmlns:a16="http://schemas.microsoft.com/office/drawing/2014/main" id="{3FB3EC25-E1EC-F0B3-E34D-A7EB8EB6FFCA}"/>
              </a:ext>
            </a:extLst>
          </p:cNvPr>
          <p:cNvSpPr txBox="1"/>
          <p:nvPr/>
        </p:nvSpPr>
        <p:spPr>
          <a:xfrm>
            <a:off x="9434286" y="3305405"/>
            <a:ext cx="2365828" cy="646331"/>
          </a:xfrm>
          <a:prstGeom prst="rect">
            <a:avLst/>
          </a:prstGeom>
          <a:noFill/>
        </p:spPr>
        <p:txBody>
          <a:bodyPr wrap="square" rtlCol="0">
            <a:spAutoFit/>
          </a:bodyPr>
          <a:lstStyle/>
          <a:p>
            <a:r>
              <a:rPr lang="fr-FR" dirty="0"/>
              <a:t>Durée du verrouillage : 30 minutes</a:t>
            </a:r>
          </a:p>
        </p:txBody>
      </p:sp>
      <p:cxnSp>
        <p:nvCxnSpPr>
          <p:cNvPr id="13" name="Connecteur droit avec flèche 12">
            <a:extLst>
              <a:ext uri="{FF2B5EF4-FFF2-40B4-BE49-F238E27FC236}">
                <a16:creationId xmlns:a16="http://schemas.microsoft.com/office/drawing/2014/main" id="{36FB55AF-3C67-BF67-8FCA-8710FB06BC88}"/>
              </a:ext>
            </a:extLst>
          </p:cNvPr>
          <p:cNvCxnSpPr>
            <a:cxnSpLocks/>
          </p:cNvCxnSpPr>
          <p:nvPr/>
        </p:nvCxnSpPr>
        <p:spPr>
          <a:xfrm flipH="1">
            <a:off x="4746171" y="2743200"/>
            <a:ext cx="4572000" cy="145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620B67D6-BED5-5AA0-0727-6FC9F3595E21}"/>
              </a:ext>
            </a:extLst>
          </p:cNvPr>
          <p:cNvCxnSpPr>
            <a:cxnSpLocks/>
          </p:cNvCxnSpPr>
          <p:nvPr/>
        </p:nvCxnSpPr>
        <p:spPr>
          <a:xfrm flipH="1" flipV="1">
            <a:off x="4746171" y="3283766"/>
            <a:ext cx="4688115" cy="1905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ZoneTexte 16">
            <a:extLst>
              <a:ext uri="{FF2B5EF4-FFF2-40B4-BE49-F238E27FC236}">
                <a16:creationId xmlns:a16="http://schemas.microsoft.com/office/drawing/2014/main" id="{8A86A4F7-021D-7C76-5828-A557DB74C81D}"/>
              </a:ext>
            </a:extLst>
          </p:cNvPr>
          <p:cNvSpPr txBox="1"/>
          <p:nvPr/>
        </p:nvSpPr>
        <p:spPr>
          <a:xfrm>
            <a:off x="9434286" y="4160197"/>
            <a:ext cx="2365828" cy="1200329"/>
          </a:xfrm>
          <a:prstGeom prst="rect">
            <a:avLst/>
          </a:prstGeom>
          <a:noFill/>
        </p:spPr>
        <p:txBody>
          <a:bodyPr wrap="square" rtlCol="0">
            <a:spAutoFit/>
          </a:bodyPr>
          <a:lstStyle/>
          <a:p>
            <a:r>
              <a:rPr lang="fr-FR" dirty="0"/>
              <a:t>Longueur minimale du mot de passe : 12 caractères</a:t>
            </a:r>
          </a:p>
          <a:p>
            <a:endParaRPr lang="fr-FR" dirty="0"/>
          </a:p>
        </p:txBody>
      </p:sp>
      <p:cxnSp>
        <p:nvCxnSpPr>
          <p:cNvPr id="19" name="Connecteur droit avec flèche 18">
            <a:extLst>
              <a:ext uri="{FF2B5EF4-FFF2-40B4-BE49-F238E27FC236}">
                <a16:creationId xmlns:a16="http://schemas.microsoft.com/office/drawing/2014/main" id="{59747540-B205-AC44-C8DE-7A35E3FBA1B3}"/>
              </a:ext>
            </a:extLst>
          </p:cNvPr>
          <p:cNvCxnSpPr/>
          <p:nvPr/>
        </p:nvCxnSpPr>
        <p:spPr>
          <a:xfrm flipH="1" flipV="1">
            <a:off x="4151086" y="3686629"/>
            <a:ext cx="5167085" cy="10141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633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4D161C47-E929-EF13-A8A2-18645437423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3337" y="4107800"/>
            <a:ext cx="8596312" cy="1013539"/>
          </a:xfrm>
          <a:prstGeom prst="rect">
            <a:avLst/>
          </a:prstGeom>
          <a:noFill/>
          <a:ln>
            <a:noFill/>
          </a:ln>
        </p:spPr>
      </p:pic>
      <p:pic>
        <p:nvPicPr>
          <p:cNvPr id="7" name="Espace réservé du contenu 3">
            <a:extLst>
              <a:ext uri="{FF2B5EF4-FFF2-40B4-BE49-F238E27FC236}">
                <a16:creationId xmlns:a16="http://schemas.microsoft.com/office/drawing/2014/main" id="{632CDC6B-6D2A-640A-ADA2-6BA04F78B7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3337" y="1678117"/>
            <a:ext cx="8596312" cy="1055345"/>
          </a:xfrm>
          <a:prstGeom prst="rect">
            <a:avLst/>
          </a:prstGeom>
          <a:noFill/>
          <a:ln>
            <a:noFill/>
          </a:ln>
        </p:spPr>
      </p:pic>
      <p:sp>
        <p:nvSpPr>
          <p:cNvPr id="9" name="ZoneTexte 8">
            <a:extLst>
              <a:ext uri="{FF2B5EF4-FFF2-40B4-BE49-F238E27FC236}">
                <a16:creationId xmlns:a16="http://schemas.microsoft.com/office/drawing/2014/main" id="{17A67AC5-3CDF-9259-7C42-E749E1FBC707}"/>
              </a:ext>
            </a:extLst>
          </p:cNvPr>
          <p:cNvSpPr txBox="1"/>
          <p:nvPr/>
        </p:nvSpPr>
        <p:spPr>
          <a:xfrm>
            <a:off x="2322286" y="392232"/>
            <a:ext cx="6096000" cy="1200329"/>
          </a:xfrm>
          <a:prstGeom prst="rect">
            <a:avLst/>
          </a:prstGeom>
          <a:noFill/>
        </p:spPr>
        <p:txBody>
          <a:bodyPr wrap="square">
            <a:spAutoFit/>
          </a:bodyPr>
          <a:lstStyle/>
          <a:p>
            <a:pPr>
              <a:buNone/>
            </a:pPr>
            <a:r>
              <a:rPr lang="fr-FR" sz="3600" dirty="0"/>
              <a:t>Activation de l'authentification NLA pour le Bureau à distance</a:t>
            </a:r>
          </a:p>
        </p:txBody>
      </p:sp>
      <p:sp>
        <p:nvSpPr>
          <p:cNvPr id="12" name="ZoneTexte 11">
            <a:extLst>
              <a:ext uri="{FF2B5EF4-FFF2-40B4-BE49-F238E27FC236}">
                <a16:creationId xmlns:a16="http://schemas.microsoft.com/office/drawing/2014/main" id="{0E37F318-CB57-0D83-FE0A-E00A1E745EBE}"/>
              </a:ext>
            </a:extLst>
          </p:cNvPr>
          <p:cNvSpPr txBox="1"/>
          <p:nvPr/>
        </p:nvSpPr>
        <p:spPr>
          <a:xfrm>
            <a:off x="638629" y="2819018"/>
            <a:ext cx="5950857" cy="923330"/>
          </a:xfrm>
          <a:prstGeom prst="rect">
            <a:avLst/>
          </a:prstGeom>
          <a:noFill/>
        </p:spPr>
        <p:txBody>
          <a:bodyPr wrap="square" rtlCol="0">
            <a:spAutoFit/>
          </a:bodyPr>
          <a:lstStyle/>
          <a:p>
            <a:r>
              <a:rPr lang="fr-FR" dirty="0"/>
              <a:t>L'activation de la Network Level </a:t>
            </a:r>
            <a:r>
              <a:rPr lang="fr-FR" dirty="0" err="1"/>
              <a:t>Authentication</a:t>
            </a:r>
            <a:r>
              <a:rPr lang="fr-FR" dirty="0"/>
              <a:t> (NLA) renforce la sécurité du service RDP en exigeant une authentification avant l'établissement de la session Bureau à distance.</a:t>
            </a:r>
          </a:p>
        </p:txBody>
      </p:sp>
      <p:sp>
        <p:nvSpPr>
          <p:cNvPr id="14" name="ZoneTexte 13">
            <a:extLst>
              <a:ext uri="{FF2B5EF4-FFF2-40B4-BE49-F238E27FC236}">
                <a16:creationId xmlns:a16="http://schemas.microsoft.com/office/drawing/2014/main" id="{F83B3B1A-4AD2-BB2D-9F1F-23CFA1EB3567}"/>
              </a:ext>
            </a:extLst>
          </p:cNvPr>
          <p:cNvSpPr txBox="1"/>
          <p:nvPr/>
        </p:nvSpPr>
        <p:spPr>
          <a:xfrm>
            <a:off x="928914" y="5336792"/>
            <a:ext cx="6096000" cy="923330"/>
          </a:xfrm>
          <a:prstGeom prst="rect">
            <a:avLst/>
          </a:prstGeom>
          <a:noFill/>
        </p:spPr>
        <p:txBody>
          <a:bodyPr wrap="square">
            <a:spAutoFit/>
          </a:bodyPr>
          <a:lstStyle/>
          <a:p>
            <a:r>
              <a:rPr lang="fr-FR" dirty="0"/>
              <a:t>La désactivation du protocole SMBv1 permet de supprimer un protocole obsolète et vulnérable, réduisant ainsi les risques d'exploitation de l'infrastructure.</a:t>
            </a:r>
          </a:p>
        </p:txBody>
      </p:sp>
    </p:spTree>
    <p:extLst>
      <p:ext uri="{BB962C8B-B14F-4D97-AF65-F5344CB8AC3E}">
        <p14:creationId xmlns:p14="http://schemas.microsoft.com/office/powerpoint/2010/main" val="2223358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du contenu 3">
            <a:extLst>
              <a:ext uri="{FF2B5EF4-FFF2-40B4-BE49-F238E27FC236}">
                <a16:creationId xmlns:a16="http://schemas.microsoft.com/office/drawing/2014/main" id="{3904389E-2851-8C78-D315-0225F097D9B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0590" y="1676433"/>
            <a:ext cx="8116433" cy="2705478"/>
          </a:xfrm>
          <a:prstGeom prst="rect">
            <a:avLst/>
          </a:prstGeom>
          <a:noFill/>
          <a:ln>
            <a:noFill/>
          </a:ln>
        </p:spPr>
      </p:pic>
      <p:sp>
        <p:nvSpPr>
          <p:cNvPr id="5" name="ZoneTexte 4">
            <a:extLst>
              <a:ext uri="{FF2B5EF4-FFF2-40B4-BE49-F238E27FC236}">
                <a16:creationId xmlns:a16="http://schemas.microsoft.com/office/drawing/2014/main" id="{80346239-1078-81A1-91E1-5408E524DA33}"/>
              </a:ext>
            </a:extLst>
          </p:cNvPr>
          <p:cNvSpPr txBox="1"/>
          <p:nvPr/>
        </p:nvSpPr>
        <p:spPr>
          <a:xfrm>
            <a:off x="1140590" y="5593152"/>
            <a:ext cx="8622842" cy="646331"/>
          </a:xfrm>
          <a:prstGeom prst="rect">
            <a:avLst/>
          </a:prstGeom>
          <a:noFill/>
        </p:spPr>
        <p:txBody>
          <a:bodyPr wrap="square">
            <a:spAutoFit/>
          </a:bodyPr>
          <a:lstStyle/>
          <a:p>
            <a:r>
              <a:rPr lang="fr-FR" dirty="0"/>
              <a:t>BitLocker chiffre les données du volume afin de protéger leur confidentialité en cas de perte, de vol ou d'accès non autorisé.</a:t>
            </a:r>
          </a:p>
        </p:txBody>
      </p:sp>
      <p:sp>
        <p:nvSpPr>
          <p:cNvPr id="6" name="ZoneTexte 5">
            <a:extLst>
              <a:ext uri="{FF2B5EF4-FFF2-40B4-BE49-F238E27FC236}">
                <a16:creationId xmlns:a16="http://schemas.microsoft.com/office/drawing/2014/main" id="{78B123CC-9D32-C8C2-2361-74ABC09A402A}"/>
              </a:ext>
            </a:extLst>
          </p:cNvPr>
          <p:cNvSpPr txBox="1"/>
          <p:nvPr/>
        </p:nvSpPr>
        <p:spPr>
          <a:xfrm>
            <a:off x="2846439" y="642799"/>
            <a:ext cx="7447936" cy="646331"/>
          </a:xfrm>
          <a:prstGeom prst="rect">
            <a:avLst/>
          </a:prstGeom>
          <a:noFill/>
        </p:spPr>
        <p:txBody>
          <a:bodyPr wrap="square" rtlCol="0">
            <a:spAutoFit/>
          </a:bodyPr>
          <a:lstStyle/>
          <a:p>
            <a:r>
              <a:rPr lang="fr-FR" sz="3600" dirty="0"/>
              <a:t>Activation du chiffrement BitLocker</a:t>
            </a:r>
          </a:p>
        </p:txBody>
      </p:sp>
      <p:sp>
        <p:nvSpPr>
          <p:cNvPr id="8" name="Rectangle 7">
            <a:extLst>
              <a:ext uri="{FF2B5EF4-FFF2-40B4-BE49-F238E27FC236}">
                <a16:creationId xmlns:a16="http://schemas.microsoft.com/office/drawing/2014/main" id="{5FD717AC-964D-B760-FB7F-935A3689D580}"/>
              </a:ext>
            </a:extLst>
          </p:cNvPr>
          <p:cNvSpPr/>
          <p:nvPr/>
        </p:nvSpPr>
        <p:spPr>
          <a:xfrm>
            <a:off x="4077928" y="1676433"/>
            <a:ext cx="1120878" cy="3145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C386ECAB-E977-EF21-EE72-4A8928E417A6}"/>
              </a:ext>
            </a:extLst>
          </p:cNvPr>
          <p:cNvSpPr/>
          <p:nvPr/>
        </p:nvSpPr>
        <p:spPr>
          <a:xfrm>
            <a:off x="8136144" y="1676432"/>
            <a:ext cx="993108" cy="3145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4EBF7156-9279-0AFD-C879-5CBF8B385B9B}"/>
              </a:ext>
            </a:extLst>
          </p:cNvPr>
          <p:cNvSpPr/>
          <p:nvPr/>
        </p:nvSpPr>
        <p:spPr>
          <a:xfrm>
            <a:off x="3303588" y="3916216"/>
            <a:ext cx="1895218" cy="3145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4" name="Connecteur droit avec flèche 13">
            <a:extLst>
              <a:ext uri="{FF2B5EF4-FFF2-40B4-BE49-F238E27FC236}">
                <a16:creationId xmlns:a16="http://schemas.microsoft.com/office/drawing/2014/main" id="{F5EE9A4D-F68A-F1D6-D587-49703457910B}"/>
              </a:ext>
            </a:extLst>
          </p:cNvPr>
          <p:cNvCxnSpPr>
            <a:cxnSpLocks/>
          </p:cNvCxnSpPr>
          <p:nvPr/>
        </p:nvCxnSpPr>
        <p:spPr>
          <a:xfrm flipH="1" flipV="1">
            <a:off x="5198806" y="1991031"/>
            <a:ext cx="4564626" cy="63615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0" name="Connecteur droit avec flèche 19">
            <a:extLst>
              <a:ext uri="{FF2B5EF4-FFF2-40B4-BE49-F238E27FC236}">
                <a16:creationId xmlns:a16="http://schemas.microsoft.com/office/drawing/2014/main" id="{D0D6282C-66BB-E027-EE20-6E96FB34D888}"/>
              </a:ext>
            </a:extLst>
          </p:cNvPr>
          <p:cNvCxnSpPr>
            <a:cxnSpLocks/>
            <a:endCxn id="10" idx="3"/>
          </p:cNvCxnSpPr>
          <p:nvPr/>
        </p:nvCxnSpPr>
        <p:spPr>
          <a:xfrm flipH="1">
            <a:off x="9129252" y="1833732"/>
            <a:ext cx="855406"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23" name="Connecteur droit avec flèche 22">
            <a:extLst>
              <a:ext uri="{FF2B5EF4-FFF2-40B4-BE49-F238E27FC236}">
                <a16:creationId xmlns:a16="http://schemas.microsoft.com/office/drawing/2014/main" id="{61874092-EF7B-99C5-B9E3-1A1234F9D915}"/>
              </a:ext>
            </a:extLst>
          </p:cNvPr>
          <p:cNvCxnSpPr>
            <a:cxnSpLocks/>
          </p:cNvCxnSpPr>
          <p:nvPr/>
        </p:nvCxnSpPr>
        <p:spPr>
          <a:xfrm flipH="1" flipV="1">
            <a:off x="5073445" y="4230815"/>
            <a:ext cx="2949678" cy="793453"/>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7" name="ZoneTexte 26">
            <a:extLst>
              <a:ext uri="{FF2B5EF4-FFF2-40B4-BE49-F238E27FC236}">
                <a16:creationId xmlns:a16="http://schemas.microsoft.com/office/drawing/2014/main" id="{FCDED21E-B6DC-3F37-48EB-A0BB128BC25D}"/>
              </a:ext>
            </a:extLst>
          </p:cNvPr>
          <p:cNvSpPr txBox="1"/>
          <p:nvPr/>
        </p:nvSpPr>
        <p:spPr>
          <a:xfrm>
            <a:off x="9556955" y="2382841"/>
            <a:ext cx="1858297" cy="646331"/>
          </a:xfrm>
          <a:prstGeom prst="rect">
            <a:avLst/>
          </a:prstGeom>
          <a:noFill/>
        </p:spPr>
        <p:txBody>
          <a:bodyPr wrap="square" rtlCol="0">
            <a:spAutoFit/>
          </a:bodyPr>
          <a:lstStyle/>
          <a:p>
            <a:r>
              <a:rPr lang="fr-FR" dirty="0"/>
              <a:t>Volume protégé par </a:t>
            </a:r>
            <a:r>
              <a:rPr lang="fr-FR" dirty="0" err="1"/>
              <a:t>Bitlocker</a:t>
            </a:r>
            <a:endParaRPr lang="fr-FR" dirty="0"/>
          </a:p>
        </p:txBody>
      </p:sp>
      <p:sp>
        <p:nvSpPr>
          <p:cNvPr id="28" name="ZoneTexte 27">
            <a:extLst>
              <a:ext uri="{FF2B5EF4-FFF2-40B4-BE49-F238E27FC236}">
                <a16:creationId xmlns:a16="http://schemas.microsoft.com/office/drawing/2014/main" id="{AEABBB6F-AE2B-2726-EFEB-37020B163B77}"/>
              </a:ext>
            </a:extLst>
          </p:cNvPr>
          <p:cNvSpPr txBox="1"/>
          <p:nvPr/>
        </p:nvSpPr>
        <p:spPr>
          <a:xfrm>
            <a:off x="9984657" y="1649066"/>
            <a:ext cx="2081933" cy="646331"/>
          </a:xfrm>
          <a:prstGeom prst="rect">
            <a:avLst/>
          </a:prstGeom>
          <a:noFill/>
        </p:spPr>
        <p:txBody>
          <a:bodyPr wrap="square" rtlCol="0">
            <a:spAutoFit/>
          </a:bodyPr>
          <a:lstStyle/>
          <a:p>
            <a:r>
              <a:rPr lang="fr-FR" dirty="0"/>
              <a:t>Clé de récupération</a:t>
            </a:r>
          </a:p>
          <a:p>
            <a:r>
              <a:rPr lang="fr-FR" dirty="0"/>
              <a:t>généré</a:t>
            </a:r>
          </a:p>
        </p:txBody>
      </p:sp>
      <p:sp>
        <p:nvSpPr>
          <p:cNvPr id="30" name="ZoneTexte 29">
            <a:extLst>
              <a:ext uri="{FF2B5EF4-FFF2-40B4-BE49-F238E27FC236}">
                <a16:creationId xmlns:a16="http://schemas.microsoft.com/office/drawing/2014/main" id="{9DC1864F-DF46-D2FD-FDBF-4B7CA6DA59DD}"/>
              </a:ext>
            </a:extLst>
          </p:cNvPr>
          <p:cNvSpPr txBox="1"/>
          <p:nvPr/>
        </p:nvSpPr>
        <p:spPr>
          <a:xfrm>
            <a:off x="8160158" y="4723359"/>
            <a:ext cx="3648997" cy="369332"/>
          </a:xfrm>
          <a:prstGeom prst="rect">
            <a:avLst/>
          </a:prstGeom>
          <a:noFill/>
        </p:spPr>
        <p:txBody>
          <a:bodyPr wrap="square" rtlCol="0">
            <a:spAutoFit/>
          </a:bodyPr>
          <a:lstStyle/>
          <a:p>
            <a:r>
              <a:rPr lang="fr-FR" dirty="0"/>
              <a:t>Progression du chiffrement</a:t>
            </a:r>
          </a:p>
        </p:txBody>
      </p:sp>
    </p:spTree>
    <p:extLst>
      <p:ext uri="{BB962C8B-B14F-4D97-AF65-F5344CB8AC3E}">
        <p14:creationId xmlns:p14="http://schemas.microsoft.com/office/powerpoint/2010/main" val="1550028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BC44F8B8-2B3D-E7F4-6643-A8D26BCACFB6}"/>
              </a:ext>
            </a:extLst>
          </p:cNvPr>
          <p:cNvPicPr>
            <a:picLocks noGrp="1" noChangeAspect="1"/>
          </p:cNvPicPr>
          <p:nvPr>
            <p:ph idx="1"/>
          </p:nvPr>
        </p:nvPicPr>
        <p:blipFill>
          <a:blip r:embed="rId2"/>
          <a:stretch>
            <a:fillRect/>
          </a:stretch>
        </p:blipFill>
        <p:spPr>
          <a:xfrm>
            <a:off x="1720645" y="2992695"/>
            <a:ext cx="6867525" cy="1057275"/>
          </a:xfrm>
          <a:prstGeom prst="rect">
            <a:avLst/>
          </a:prstGeom>
        </p:spPr>
      </p:pic>
      <p:sp>
        <p:nvSpPr>
          <p:cNvPr id="6" name="ZoneTexte 5">
            <a:extLst>
              <a:ext uri="{FF2B5EF4-FFF2-40B4-BE49-F238E27FC236}">
                <a16:creationId xmlns:a16="http://schemas.microsoft.com/office/drawing/2014/main" id="{79326F52-6978-FD94-09C3-282318CAB72D}"/>
              </a:ext>
            </a:extLst>
          </p:cNvPr>
          <p:cNvSpPr txBox="1"/>
          <p:nvPr/>
        </p:nvSpPr>
        <p:spPr>
          <a:xfrm>
            <a:off x="1720645" y="1177409"/>
            <a:ext cx="7809117" cy="646331"/>
          </a:xfrm>
          <a:prstGeom prst="rect">
            <a:avLst/>
          </a:prstGeom>
          <a:noFill/>
        </p:spPr>
        <p:txBody>
          <a:bodyPr wrap="square" rtlCol="0">
            <a:spAutoFit/>
          </a:bodyPr>
          <a:lstStyle/>
          <a:p>
            <a:r>
              <a:rPr lang="fr-FR" sz="3600" dirty="0"/>
              <a:t>Installation de Windows Server Backup</a:t>
            </a:r>
          </a:p>
        </p:txBody>
      </p:sp>
      <p:sp>
        <p:nvSpPr>
          <p:cNvPr id="3" name="ZoneTexte 2">
            <a:extLst>
              <a:ext uri="{FF2B5EF4-FFF2-40B4-BE49-F238E27FC236}">
                <a16:creationId xmlns:a16="http://schemas.microsoft.com/office/drawing/2014/main" id="{623446B8-5C34-ADD7-3FCB-297D677BA740}"/>
              </a:ext>
            </a:extLst>
          </p:cNvPr>
          <p:cNvSpPr txBox="1"/>
          <p:nvPr/>
        </p:nvSpPr>
        <p:spPr>
          <a:xfrm>
            <a:off x="1423373" y="5218926"/>
            <a:ext cx="7809117" cy="923330"/>
          </a:xfrm>
          <a:prstGeom prst="rect">
            <a:avLst/>
          </a:prstGeom>
          <a:noFill/>
        </p:spPr>
        <p:txBody>
          <a:bodyPr wrap="square">
            <a:spAutoFit/>
          </a:bodyPr>
          <a:lstStyle/>
          <a:p>
            <a:r>
              <a:rPr lang="fr-FR" dirty="0"/>
              <a:t>L'installation de Windows Server Backup permet de réaliser des sauvegardes régulières afin d'assurer la disponibilité des données et leur restauration en cas d'incident.</a:t>
            </a:r>
          </a:p>
        </p:txBody>
      </p:sp>
    </p:spTree>
    <p:extLst>
      <p:ext uri="{BB962C8B-B14F-4D97-AF65-F5344CB8AC3E}">
        <p14:creationId xmlns:p14="http://schemas.microsoft.com/office/powerpoint/2010/main" val="830765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CD47E273-2A14-522D-B821-8AE500E1F5E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2231" y="1808841"/>
            <a:ext cx="5874079" cy="3093773"/>
          </a:xfrm>
          <a:prstGeom prst="rect">
            <a:avLst/>
          </a:prstGeom>
          <a:noFill/>
          <a:ln>
            <a:noFill/>
          </a:ln>
        </p:spPr>
      </p:pic>
      <p:pic>
        <p:nvPicPr>
          <p:cNvPr id="5" name="Image 4">
            <a:extLst>
              <a:ext uri="{FF2B5EF4-FFF2-40B4-BE49-F238E27FC236}">
                <a16:creationId xmlns:a16="http://schemas.microsoft.com/office/drawing/2014/main" id="{85DA8677-F55D-58E2-FE59-51A0112D25B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0336" y="5252112"/>
            <a:ext cx="5662232" cy="472508"/>
          </a:xfrm>
          <a:prstGeom prst="rect">
            <a:avLst/>
          </a:prstGeom>
          <a:noFill/>
          <a:ln>
            <a:noFill/>
          </a:ln>
        </p:spPr>
      </p:pic>
      <p:sp>
        <p:nvSpPr>
          <p:cNvPr id="6" name="ZoneTexte 5">
            <a:extLst>
              <a:ext uri="{FF2B5EF4-FFF2-40B4-BE49-F238E27FC236}">
                <a16:creationId xmlns:a16="http://schemas.microsoft.com/office/drawing/2014/main" id="{31D2BE9D-D1CA-E3CF-0B73-4EE033A75653}"/>
              </a:ext>
            </a:extLst>
          </p:cNvPr>
          <p:cNvSpPr txBox="1"/>
          <p:nvPr/>
        </p:nvSpPr>
        <p:spPr>
          <a:xfrm>
            <a:off x="570336" y="5905459"/>
            <a:ext cx="6098458" cy="923330"/>
          </a:xfrm>
          <a:prstGeom prst="rect">
            <a:avLst/>
          </a:prstGeom>
          <a:noFill/>
        </p:spPr>
        <p:txBody>
          <a:bodyPr wrap="square">
            <a:spAutoFit/>
          </a:bodyPr>
          <a:lstStyle/>
          <a:p>
            <a:r>
              <a:rPr lang="fr-FR" dirty="0"/>
              <a:t>Cette vérification confirme que Fail2ban est opérationnel et protège le service SSH contre les attaques par force brute.</a:t>
            </a:r>
          </a:p>
          <a:p>
            <a:endParaRPr lang="fr-FR" dirty="0"/>
          </a:p>
        </p:txBody>
      </p:sp>
      <p:sp>
        <p:nvSpPr>
          <p:cNvPr id="7" name="Rectangle 6">
            <a:extLst>
              <a:ext uri="{FF2B5EF4-FFF2-40B4-BE49-F238E27FC236}">
                <a16:creationId xmlns:a16="http://schemas.microsoft.com/office/drawing/2014/main" id="{EF9A7BE0-EB1D-9A09-F9CF-C156BA868CAC}"/>
              </a:ext>
            </a:extLst>
          </p:cNvPr>
          <p:cNvSpPr/>
          <p:nvPr/>
        </p:nvSpPr>
        <p:spPr>
          <a:xfrm>
            <a:off x="3369270" y="1774144"/>
            <a:ext cx="1785258" cy="199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ZoneTexte 9">
            <a:extLst>
              <a:ext uri="{FF2B5EF4-FFF2-40B4-BE49-F238E27FC236}">
                <a16:creationId xmlns:a16="http://schemas.microsoft.com/office/drawing/2014/main" id="{C873896B-5FEA-DCBC-0E09-BF59E8867C70}"/>
              </a:ext>
            </a:extLst>
          </p:cNvPr>
          <p:cNvSpPr txBox="1"/>
          <p:nvPr/>
        </p:nvSpPr>
        <p:spPr>
          <a:xfrm>
            <a:off x="2800883" y="346287"/>
            <a:ext cx="6799007" cy="1200329"/>
          </a:xfrm>
          <a:prstGeom prst="rect">
            <a:avLst/>
          </a:prstGeom>
          <a:noFill/>
        </p:spPr>
        <p:txBody>
          <a:bodyPr wrap="square" rtlCol="0">
            <a:spAutoFit/>
          </a:bodyPr>
          <a:lstStyle/>
          <a:p>
            <a:r>
              <a:rPr lang="fr-FR" sz="3600" dirty="0"/>
              <a:t>Installation Fail2ban vérification du fonctionnement de Fail2ban </a:t>
            </a:r>
          </a:p>
        </p:txBody>
      </p:sp>
      <p:sp>
        <p:nvSpPr>
          <p:cNvPr id="11" name="ZoneTexte 10">
            <a:extLst>
              <a:ext uri="{FF2B5EF4-FFF2-40B4-BE49-F238E27FC236}">
                <a16:creationId xmlns:a16="http://schemas.microsoft.com/office/drawing/2014/main" id="{7B7F3445-BCEF-D741-C351-53C0461DDEC6}"/>
              </a:ext>
            </a:extLst>
          </p:cNvPr>
          <p:cNvSpPr txBox="1"/>
          <p:nvPr/>
        </p:nvSpPr>
        <p:spPr>
          <a:xfrm>
            <a:off x="7001594" y="1774144"/>
            <a:ext cx="4483510" cy="369332"/>
          </a:xfrm>
          <a:prstGeom prst="rect">
            <a:avLst/>
          </a:prstGeom>
          <a:noFill/>
        </p:spPr>
        <p:txBody>
          <a:bodyPr wrap="square" rtlCol="0">
            <a:spAutoFit/>
          </a:bodyPr>
          <a:lstStyle/>
          <a:p>
            <a:r>
              <a:rPr lang="fr-FR" dirty="0"/>
              <a:t>Commande d'installation de Fail2ban</a:t>
            </a:r>
          </a:p>
        </p:txBody>
      </p:sp>
      <p:cxnSp>
        <p:nvCxnSpPr>
          <p:cNvPr id="13" name="Connecteur droit avec flèche 12">
            <a:extLst>
              <a:ext uri="{FF2B5EF4-FFF2-40B4-BE49-F238E27FC236}">
                <a16:creationId xmlns:a16="http://schemas.microsoft.com/office/drawing/2014/main" id="{D19E68DA-7B13-5E32-331D-9117B189176C}"/>
              </a:ext>
            </a:extLst>
          </p:cNvPr>
          <p:cNvCxnSpPr>
            <a:cxnSpLocks/>
          </p:cNvCxnSpPr>
          <p:nvPr/>
        </p:nvCxnSpPr>
        <p:spPr>
          <a:xfrm flipH="1" flipV="1">
            <a:off x="5157416" y="1873869"/>
            <a:ext cx="1724785" cy="99725"/>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5" name="ZoneTexte 14">
            <a:extLst>
              <a:ext uri="{FF2B5EF4-FFF2-40B4-BE49-F238E27FC236}">
                <a16:creationId xmlns:a16="http://schemas.microsoft.com/office/drawing/2014/main" id="{CA07B5B2-4DDD-C2D4-415B-37EEDFDA5C5A}"/>
              </a:ext>
            </a:extLst>
          </p:cNvPr>
          <p:cNvSpPr txBox="1"/>
          <p:nvPr/>
        </p:nvSpPr>
        <p:spPr>
          <a:xfrm>
            <a:off x="6783482" y="2246051"/>
            <a:ext cx="3687097" cy="2031325"/>
          </a:xfrm>
          <a:prstGeom prst="rect">
            <a:avLst/>
          </a:prstGeom>
          <a:noFill/>
        </p:spPr>
        <p:txBody>
          <a:bodyPr wrap="square" rtlCol="0">
            <a:spAutoFit/>
          </a:bodyPr>
          <a:lstStyle/>
          <a:p>
            <a:r>
              <a:rPr lang="fr-FR" dirty="0"/>
              <a:t>Fail2ban renforce la sécurité des services en surveillant les journaux et en bloquant automatiquement les adresses IP responsables de tentatives de connexion répétées.</a:t>
            </a:r>
          </a:p>
          <a:p>
            <a:br>
              <a:rPr lang="fr-FR" dirty="0"/>
            </a:br>
            <a:endParaRPr lang="fr-FR" dirty="0"/>
          </a:p>
        </p:txBody>
      </p:sp>
      <p:sp>
        <p:nvSpPr>
          <p:cNvPr id="17" name="Rectangle 16">
            <a:extLst>
              <a:ext uri="{FF2B5EF4-FFF2-40B4-BE49-F238E27FC236}">
                <a16:creationId xmlns:a16="http://schemas.microsoft.com/office/drawing/2014/main" id="{365F4C1F-86FC-2539-580C-D22790BF75F9}"/>
              </a:ext>
            </a:extLst>
          </p:cNvPr>
          <p:cNvSpPr/>
          <p:nvPr/>
        </p:nvSpPr>
        <p:spPr>
          <a:xfrm>
            <a:off x="570335" y="5388640"/>
            <a:ext cx="2040129" cy="3359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19" name="Connecteur droit avec flèche 18">
            <a:extLst>
              <a:ext uri="{FF2B5EF4-FFF2-40B4-BE49-F238E27FC236}">
                <a16:creationId xmlns:a16="http://schemas.microsoft.com/office/drawing/2014/main" id="{0D83E11F-C50A-E1EB-35B9-678E52691C55}"/>
              </a:ext>
            </a:extLst>
          </p:cNvPr>
          <p:cNvCxnSpPr>
            <a:cxnSpLocks/>
          </p:cNvCxnSpPr>
          <p:nvPr/>
        </p:nvCxnSpPr>
        <p:spPr>
          <a:xfrm flipH="1" flipV="1">
            <a:off x="2684206" y="5589639"/>
            <a:ext cx="4317388" cy="1241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1" name="ZoneTexte 20">
            <a:extLst>
              <a:ext uri="{FF2B5EF4-FFF2-40B4-BE49-F238E27FC236}">
                <a16:creationId xmlns:a16="http://schemas.microsoft.com/office/drawing/2014/main" id="{D94DA321-A37E-2BAA-46A6-41910BDE5CB9}"/>
              </a:ext>
            </a:extLst>
          </p:cNvPr>
          <p:cNvSpPr txBox="1"/>
          <p:nvPr/>
        </p:nvSpPr>
        <p:spPr>
          <a:xfrm>
            <a:off x="7182465" y="5225497"/>
            <a:ext cx="4778477" cy="646331"/>
          </a:xfrm>
          <a:prstGeom prst="rect">
            <a:avLst/>
          </a:prstGeom>
          <a:noFill/>
        </p:spPr>
        <p:txBody>
          <a:bodyPr wrap="square" rtlCol="0">
            <a:spAutoFit/>
          </a:bodyPr>
          <a:lstStyle/>
          <a:p>
            <a:r>
              <a:rPr lang="fr-FR" dirty="0"/>
              <a:t>Une règle de protection est active et le service  SSH est protéger</a:t>
            </a:r>
          </a:p>
        </p:txBody>
      </p:sp>
    </p:spTree>
    <p:extLst>
      <p:ext uri="{BB962C8B-B14F-4D97-AF65-F5344CB8AC3E}">
        <p14:creationId xmlns:p14="http://schemas.microsoft.com/office/powerpoint/2010/main" val="1911726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F2C1880D-D75B-1481-3709-D23AFBEB68E2}"/>
              </a:ext>
            </a:extLst>
          </p:cNvPr>
          <p:cNvPicPr>
            <a:picLocks noGrp="1" noChangeAspect="1"/>
          </p:cNvPicPr>
          <p:nvPr>
            <p:ph idx="1"/>
          </p:nvPr>
        </p:nvPicPr>
        <p:blipFill>
          <a:blip r:embed="rId2"/>
          <a:stretch>
            <a:fillRect/>
          </a:stretch>
        </p:blipFill>
        <p:spPr>
          <a:xfrm>
            <a:off x="677334" y="1664929"/>
            <a:ext cx="8596312" cy="451093"/>
          </a:xfrm>
          <a:prstGeom prst="rect">
            <a:avLst/>
          </a:prstGeom>
        </p:spPr>
      </p:pic>
      <p:pic>
        <p:nvPicPr>
          <p:cNvPr id="5" name="Espace réservé du contenu 3">
            <a:extLst>
              <a:ext uri="{FF2B5EF4-FFF2-40B4-BE49-F238E27FC236}">
                <a16:creationId xmlns:a16="http://schemas.microsoft.com/office/drawing/2014/main" id="{AAB624BE-87E9-7BFD-395F-C66D739CC9DB}"/>
              </a:ext>
            </a:extLst>
          </p:cNvPr>
          <p:cNvPicPr>
            <a:picLocks noChangeAspect="1"/>
          </p:cNvPicPr>
          <p:nvPr/>
        </p:nvPicPr>
        <p:blipFill>
          <a:blip r:embed="rId3"/>
          <a:stretch>
            <a:fillRect/>
          </a:stretch>
        </p:blipFill>
        <p:spPr>
          <a:xfrm>
            <a:off x="677334" y="2974769"/>
            <a:ext cx="8596312" cy="2346786"/>
          </a:xfrm>
          <a:prstGeom prst="rect">
            <a:avLst/>
          </a:prstGeom>
        </p:spPr>
      </p:pic>
      <p:sp>
        <p:nvSpPr>
          <p:cNvPr id="2" name="ZoneTexte 1">
            <a:extLst>
              <a:ext uri="{FF2B5EF4-FFF2-40B4-BE49-F238E27FC236}">
                <a16:creationId xmlns:a16="http://schemas.microsoft.com/office/drawing/2014/main" id="{E5C841D1-758D-6977-6F1E-E6E4769022AB}"/>
              </a:ext>
            </a:extLst>
          </p:cNvPr>
          <p:cNvSpPr txBox="1"/>
          <p:nvPr/>
        </p:nvSpPr>
        <p:spPr>
          <a:xfrm>
            <a:off x="1710811" y="247062"/>
            <a:ext cx="8008375" cy="646331"/>
          </a:xfrm>
          <a:prstGeom prst="rect">
            <a:avLst/>
          </a:prstGeom>
          <a:noFill/>
        </p:spPr>
        <p:txBody>
          <a:bodyPr wrap="square" rtlCol="0">
            <a:spAutoFit/>
          </a:bodyPr>
          <a:lstStyle/>
          <a:p>
            <a:r>
              <a:rPr lang="fr-FR" sz="3600" dirty="0"/>
              <a:t>Activation et vérification du service Cron</a:t>
            </a:r>
          </a:p>
        </p:txBody>
      </p:sp>
      <p:sp>
        <p:nvSpPr>
          <p:cNvPr id="3" name="ZoneTexte 2">
            <a:extLst>
              <a:ext uri="{FF2B5EF4-FFF2-40B4-BE49-F238E27FC236}">
                <a16:creationId xmlns:a16="http://schemas.microsoft.com/office/drawing/2014/main" id="{CEC81DE2-C89E-6D82-1F86-DD9308E5E45A}"/>
              </a:ext>
            </a:extLst>
          </p:cNvPr>
          <p:cNvSpPr txBox="1"/>
          <p:nvPr/>
        </p:nvSpPr>
        <p:spPr>
          <a:xfrm>
            <a:off x="677334" y="2222230"/>
            <a:ext cx="8229600" cy="646331"/>
          </a:xfrm>
          <a:prstGeom prst="rect">
            <a:avLst/>
          </a:prstGeom>
          <a:noFill/>
        </p:spPr>
        <p:txBody>
          <a:bodyPr wrap="square" rtlCol="0">
            <a:spAutoFit/>
          </a:bodyPr>
          <a:lstStyle/>
          <a:p>
            <a:r>
              <a:rPr lang="fr-FR" dirty="0"/>
              <a:t>L'activation de Cron permet d'automatiser les tâches planifiées, comme les sauvegardes régulières, afin d'améliorer la disponibilité et la résilience de l'infrastructure.</a:t>
            </a:r>
          </a:p>
        </p:txBody>
      </p:sp>
      <p:sp>
        <p:nvSpPr>
          <p:cNvPr id="6" name="ZoneTexte 5">
            <a:extLst>
              <a:ext uri="{FF2B5EF4-FFF2-40B4-BE49-F238E27FC236}">
                <a16:creationId xmlns:a16="http://schemas.microsoft.com/office/drawing/2014/main" id="{B86CDFD3-765A-4EBC-D5A7-D7B937DA6B7D}"/>
              </a:ext>
            </a:extLst>
          </p:cNvPr>
          <p:cNvSpPr txBox="1"/>
          <p:nvPr/>
        </p:nvSpPr>
        <p:spPr>
          <a:xfrm>
            <a:off x="677334" y="5565961"/>
            <a:ext cx="8596312" cy="923330"/>
          </a:xfrm>
          <a:prstGeom prst="rect">
            <a:avLst/>
          </a:prstGeom>
          <a:noFill/>
        </p:spPr>
        <p:txBody>
          <a:bodyPr wrap="square" rtlCol="0">
            <a:spAutoFit/>
          </a:bodyPr>
          <a:lstStyle/>
          <a:p>
            <a:r>
              <a:rPr lang="fr-FR" dirty="0"/>
              <a:t>La vérification confirme que le service Cron est actif et permet l'exécution automatique des tâches planifiées, notamment les sauvegardes de l'infrastructure.</a:t>
            </a:r>
          </a:p>
          <a:p>
            <a:endParaRPr lang="fr-FR" dirty="0"/>
          </a:p>
        </p:txBody>
      </p:sp>
    </p:spTree>
    <p:extLst>
      <p:ext uri="{BB962C8B-B14F-4D97-AF65-F5344CB8AC3E}">
        <p14:creationId xmlns:p14="http://schemas.microsoft.com/office/powerpoint/2010/main" val="212217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du contenu 6">
            <a:extLst>
              <a:ext uri="{FF2B5EF4-FFF2-40B4-BE49-F238E27FC236}">
                <a16:creationId xmlns:a16="http://schemas.microsoft.com/office/drawing/2014/main" id="{55236590-17A4-EFBD-B88D-923DDA599C8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61090" y="1343587"/>
            <a:ext cx="8596312" cy="1922985"/>
          </a:xfrm>
          <a:prstGeom prst="rect">
            <a:avLst/>
          </a:prstGeom>
          <a:noFill/>
          <a:ln>
            <a:noFill/>
          </a:ln>
        </p:spPr>
      </p:pic>
      <p:sp>
        <p:nvSpPr>
          <p:cNvPr id="3" name="ZoneTexte 2">
            <a:extLst>
              <a:ext uri="{FF2B5EF4-FFF2-40B4-BE49-F238E27FC236}">
                <a16:creationId xmlns:a16="http://schemas.microsoft.com/office/drawing/2014/main" id="{2341DEA5-E507-B85E-4A70-91E4A6C5425E}"/>
              </a:ext>
            </a:extLst>
          </p:cNvPr>
          <p:cNvSpPr txBox="1"/>
          <p:nvPr/>
        </p:nvSpPr>
        <p:spPr>
          <a:xfrm>
            <a:off x="1312608" y="211004"/>
            <a:ext cx="8303340" cy="923330"/>
          </a:xfrm>
          <a:prstGeom prst="rect">
            <a:avLst/>
          </a:prstGeom>
          <a:noFill/>
        </p:spPr>
        <p:txBody>
          <a:bodyPr wrap="square" rtlCol="0">
            <a:spAutoFit/>
          </a:bodyPr>
          <a:lstStyle/>
          <a:p>
            <a:r>
              <a:rPr lang="fr-FR" sz="3600" dirty="0"/>
              <a:t>Création d'un script de sauvegarde chiffrée</a:t>
            </a:r>
          </a:p>
          <a:p>
            <a:endParaRPr lang="fr-FR" dirty="0"/>
          </a:p>
        </p:txBody>
      </p:sp>
      <p:sp>
        <p:nvSpPr>
          <p:cNvPr id="4" name="ZoneTexte 3">
            <a:extLst>
              <a:ext uri="{FF2B5EF4-FFF2-40B4-BE49-F238E27FC236}">
                <a16:creationId xmlns:a16="http://schemas.microsoft.com/office/drawing/2014/main" id="{98D0B4EF-826B-FAC3-4096-F83290A63D85}"/>
              </a:ext>
            </a:extLst>
          </p:cNvPr>
          <p:cNvSpPr txBox="1"/>
          <p:nvPr/>
        </p:nvSpPr>
        <p:spPr>
          <a:xfrm>
            <a:off x="10001059" y="1395984"/>
            <a:ext cx="2005780" cy="1477328"/>
          </a:xfrm>
          <a:prstGeom prst="rect">
            <a:avLst/>
          </a:prstGeom>
          <a:noFill/>
        </p:spPr>
        <p:txBody>
          <a:bodyPr wrap="square" rtlCol="0">
            <a:spAutoFit/>
          </a:bodyPr>
          <a:lstStyle/>
          <a:p>
            <a:r>
              <a:rPr lang="fr-FR" dirty="0"/>
              <a:t>Définition du dossier de sauvegarde et des données à sauvegarder</a:t>
            </a:r>
          </a:p>
        </p:txBody>
      </p:sp>
      <p:sp>
        <p:nvSpPr>
          <p:cNvPr id="5" name="ZoneTexte 4">
            <a:extLst>
              <a:ext uri="{FF2B5EF4-FFF2-40B4-BE49-F238E27FC236}">
                <a16:creationId xmlns:a16="http://schemas.microsoft.com/office/drawing/2014/main" id="{8219BFEC-60D9-F703-C577-24AE37101B02}"/>
              </a:ext>
            </a:extLst>
          </p:cNvPr>
          <p:cNvSpPr txBox="1"/>
          <p:nvPr/>
        </p:nvSpPr>
        <p:spPr>
          <a:xfrm>
            <a:off x="32759" y="2274838"/>
            <a:ext cx="1371987" cy="1477328"/>
          </a:xfrm>
          <a:prstGeom prst="rect">
            <a:avLst/>
          </a:prstGeom>
          <a:noFill/>
        </p:spPr>
        <p:txBody>
          <a:bodyPr wrap="square" rtlCol="0">
            <a:spAutoFit/>
          </a:bodyPr>
          <a:lstStyle/>
          <a:p>
            <a:r>
              <a:rPr lang="fr-FR" dirty="0"/>
              <a:t>Création automatique du dossier de sauvegarde</a:t>
            </a:r>
          </a:p>
        </p:txBody>
      </p:sp>
      <p:sp>
        <p:nvSpPr>
          <p:cNvPr id="9" name="ZoneTexte 8">
            <a:extLst>
              <a:ext uri="{FF2B5EF4-FFF2-40B4-BE49-F238E27FC236}">
                <a16:creationId xmlns:a16="http://schemas.microsoft.com/office/drawing/2014/main" id="{160C33F5-EF21-0F0A-3CD6-AEE54042DCBB}"/>
              </a:ext>
            </a:extLst>
          </p:cNvPr>
          <p:cNvSpPr txBox="1"/>
          <p:nvPr/>
        </p:nvSpPr>
        <p:spPr>
          <a:xfrm>
            <a:off x="1887795" y="4029164"/>
            <a:ext cx="3701845" cy="646331"/>
          </a:xfrm>
          <a:prstGeom prst="rect">
            <a:avLst/>
          </a:prstGeom>
          <a:noFill/>
        </p:spPr>
        <p:txBody>
          <a:bodyPr wrap="square" rtlCol="0">
            <a:spAutoFit/>
          </a:bodyPr>
          <a:lstStyle/>
          <a:p>
            <a:r>
              <a:rPr lang="fr-FR"/>
              <a:t>Chiffrement de la sauvegarde avec GPG</a:t>
            </a:r>
            <a:endParaRPr lang="fr-FR" dirty="0"/>
          </a:p>
        </p:txBody>
      </p:sp>
      <p:sp>
        <p:nvSpPr>
          <p:cNvPr id="10" name="ZoneTexte 9">
            <a:extLst>
              <a:ext uri="{FF2B5EF4-FFF2-40B4-BE49-F238E27FC236}">
                <a16:creationId xmlns:a16="http://schemas.microsoft.com/office/drawing/2014/main" id="{E353ACA5-3815-61E8-1469-A9AEABFC79AE}"/>
              </a:ext>
            </a:extLst>
          </p:cNvPr>
          <p:cNvSpPr txBox="1"/>
          <p:nvPr/>
        </p:nvSpPr>
        <p:spPr>
          <a:xfrm>
            <a:off x="1461090" y="5882008"/>
            <a:ext cx="8436462" cy="646331"/>
          </a:xfrm>
          <a:prstGeom prst="rect">
            <a:avLst/>
          </a:prstGeom>
          <a:noFill/>
        </p:spPr>
        <p:txBody>
          <a:bodyPr wrap="square" rtlCol="0">
            <a:spAutoFit/>
          </a:bodyPr>
          <a:lstStyle/>
          <a:p>
            <a:r>
              <a:rPr lang="fr-FR" dirty="0"/>
              <a:t>Ce script automatise la création d'une sauvegarde compressée et chiffrée afin de garantir la confidentialité des données.</a:t>
            </a:r>
          </a:p>
        </p:txBody>
      </p:sp>
      <p:sp>
        <p:nvSpPr>
          <p:cNvPr id="2" name="Rectangle 1">
            <a:extLst>
              <a:ext uri="{FF2B5EF4-FFF2-40B4-BE49-F238E27FC236}">
                <a16:creationId xmlns:a16="http://schemas.microsoft.com/office/drawing/2014/main" id="{23849F2A-B2BB-61B0-4107-BFCF7E0C00CD}"/>
              </a:ext>
            </a:extLst>
          </p:cNvPr>
          <p:cNvSpPr/>
          <p:nvPr/>
        </p:nvSpPr>
        <p:spPr>
          <a:xfrm>
            <a:off x="1404746" y="1798235"/>
            <a:ext cx="1502338" cy="3364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F3319182-C990-AEC6-CD66-7707B2B83A17}"/>
              </a:ext>
            </a:extLst>
          </p:cNvPr>
          <p:cNvSpPr/>
          <p:nvPr/>
        </p:nvSpPr>
        <p:spPr>
          <a:xfrm>
            <a:off x="1404746" y="2167566"/>
            <a:ext cx="1648170" cy="3364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3" name="Connecteur droit avec flèche 12">
            <a:extLst>
              <a:ext uri="{FF2B5EF4-FFF2-40B4-BE49-F238E27FC236}">
                <a16:creationId xmlns:a16="http://schemas.microsoft.com/office/drawing/2014/main" id="{F53D8C05-8439-930D-E74E-2B8A94132A21}"/>
              </a:ext>
            </a:extLst>
          </p:cNvPr>
          <p:cNvCxnSpPr>
            <a:stCxn id="4" idx="1"/>
          </p:cNvCxnSpPr>
          <p:nvPr/>
        </p:nvCxnSpPr>
        <p:spPr>
          <a:xfrm flipH="1" flipV="1">
            <a:off x="2907084" y="2009983"/>
            <a:ext cx="7093975" cy="12466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cxnSp>
        <p:nvCxnSpPr>
          <p:cNvPr id="14" name="Connecteur droit avec flèche 13">
            <a:extLst>
              <a:ext uri="{FF2B5EF4-FFF2-40B4-BE49-F238E27FC236}">
                <a16:creationId xmlns:a16="http://schemas.microsoft.com/office/drawing/2014/main" id="{7D29B573-D607-D997-43AA-1228F8DB66D8}"/>
              </a:ext>
            </a:extLst>
          </p:cNvPr>
          <p:cNvCxnSpPr>
            <a:cxnSpLocks/>
          </p:cNvCxnSpPr>
          <p:nvPr/>
        </p:nvCxnSpPr>
        <p:spPr>
          <a:xfrm flipV="1">
            <a:off x="943512" y="2400951"/>
            <a:ext cx="1268746" cy="192884"/>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0" name="Rectangle 19">
            <a:extLst>
              <a:ext uri="{FF2B5EF4-FFF2-40B4-BE49-F238E27FC236}">
                <a16:creationId xmlns:a16="http://schemas.microsoft.com/office/drawing/2014/main" id="{81C53F81-4206-3A61-14A6-E93C41AD37B4}"/>
              </a:ext>
            </a:extLst>
          </p:cNvPr>
          <p:cNvSpPr/>
          <p:nvPr/>
        </p:nvSpPr>
        <p:spPr>
          <a:xfrm>
            <a:off x="2973452" y="2429882"/>
            <a:ext cx="610793" cy="37116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1" name="Connecteur droit avec flèche 20">
            <a:extLst>
              <a:ext uri="{FF2B5EF4-FFF2-40B4-BE49-F238E27FC236}">
                <a16:creationId xmlns:a16="http://schemas.microsoft.com/office/drawing/2014/main" id="{72638586-199F-673A-A53D-7E1E215CAB33}"/>
              </a:ext>
            </a:extLst>
          </p:cNvPr>
          <p:cNvCxnSpPr>
            <a:cxnSpLocks/>
          </p:cNvCxnSpPr>
          <p:nvPr/>
        </p:nvCxnSpPr>
        <p:spPr>
          <a:xfrm flipH="1" flipV="1">
            <a:off x="3288890" y="2695640"/>
            <a:ext cx="412382" cy="1377815"/>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790601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3BE82B39-AB84-A064-AC7B-4DA7DC553BC5}"/>
              </a:ext>
            </a:extLst>
          </p:cNvPr>
          <p:cNvPicPr>
            <a:picLocks noGrp="1" noChangeAspect="1"/>
          </p:cNvPicPr>
          <p:nvPr>
            <p:ph idx="1"/>
          </p:nvPr>
        </p:nvPicPr>
        <p:blipFill>
          <a:blip r:embed="rId2"/>
          <a:stretch>
            <a:fillRect/>
          </a:stretch>
        </p:blipFill>
        <p:spPr>
          <a:xfrm>
            <a:off x="393626" y="1650123"/>
            <a:ext cx="6853771" cy="2685903"/>
          </a:xfrm>
          <a:prstGeom prst="rect">
            <a:avLst/>
          </a:prstGeom>
        </p:spPr>
      </p:pic>
      <p:sp>
        <p:nvSpPr>
          <p:cNvPr id="7" name="ZoneTexte 6">
            <a:extLst>
              <a:ext uri="{FF2B5EF4-FFF2-40B4-BE49-F238E27FC236}">
                <a16:creationId xmlns:a16="http://schemas.microsoft.com/office/drawing/2014/main" id="{DA857842-6F6E-360E-F34C-3B32289BC1BD}"/>
              </a:ext>
            </a:extLst>
          </p:cNvPr>
          <p:cNvSpPr txBox="1"/>
          <p:nvPr/>
        </p:nvSpPr>
        <p:spPr>
          <a:xfrm>
            <a:off x="1474839" y="186922"/>
            <a:ext cx="7318887" cy="1200329"/>
          </a:xfrm>
          <a:prstGeom prst="rect">
            <a:avLst/>
          </a:prstGeom>
          <a:noFill/>
        </p:spPr>
        <p:txBody>
          <a:bodyPr wrap="square">
            <a:spAutoFit/>
          </a:bodyPr>
          <a:lstStyle/>
          <a:p>
            <a:r>
              <a:rPr lang="fr-FR" sz="3600" dirty="0"/>
              <a:t>Planification automatique des sauvegardes avec Cron</a:t>
            </a:r>
          </a:p>
        </p:txBody>
      </p:sp>
      <p:sp>
        <p:nvSpPr>
          <p:cNvPr id="8" name="ZoneTexte 7">
            <a:extLst>
              <a:ext uri="{FF2B5EF4-FFF2-40B4-BE49-F238E27FC236}">
                <a16:creationId xmlns:a16="http://schemas.microsoft.com/office/drawing/2014/main" id="{53E1B958-B87F-0E99-88F3-BDCF93B1348F}"/>
              </a:ext>
            </a:extLst>
          </p:cNvPr>
          <p:cNvSpPr txBox="1"/>
          <p:nvPr/>
        </p:nvSpPr>
        <p:spPr>
          <a:xfrm>
            <a:off x="8371489" y="1650123"/>
            <a:ext cx="2270234" cy="646331"/>
          </a:xfrm>
          <a:prstGeom prst="rect">
            <a:avLst/>
          </a:prstGeom>
          <a:noFill/>
        </p:spPr>
        <p:txBody>
          <a:bodyPr wrap="square" rtlCol="0">
            <a:spAutoFit/>
          </a:bodyPr>
          <a:lstStyle/>
          <a:p>
            <a:r>
              <a:rPr lang="fr-FR" dirty="0"/>
              <a:t>Affichage des tâches planifiées</a:t>
            </a:r>
          </a:p>
        </p:txBody>
      </p:sp>
      <p:sp>
        <p:nvSpPr>
          <p:cNvPr id="9" name="ZoneTexte 8">
            <a:extLst>
              <a:ext uri="{FF2B5EF4-FFF2-40B4-BE49-F238E27FC236}">
                <a16:creationId xmlns:a16="http://schemas.microsoft.com/office/drawing/2014/main" id="{313297FF-EB5B-F3EA-EBAA-E11768632E8C}"/>
              </a:ext>
            </a:extLst>
          </p:cNvPr>
          <p:cNvSpPr txBox="1"/>
          <p:nvPr/>
        </p:nvSpPr>
        <p:spPr>
          <a:xfrm>
            <a:off x="8371489" y="2765322"/>
            <a:ext cx="2286000" cy="663678"/>
          </a:xfrm>
          <a:prstGeom prst="rect">
            <a:avLst/>
          </a:prstGeom>
          <a:noFill/>
        </p:spPr>
        <p:txBody>
          <a:bodyPr wrap="square" rtlCol="0">
            <a:spAutoFit/>
          </a:bodyPr>
          <a:lstStyle/>
          <a:p>
            <a:r>
              <a:rPr lang="fr-FR" dirty="0"/>
              <a:t>Exécution automatique tous les jours à 02h00</a:t>
            </a:r>
          </a:p>
        </p:txBody>
      </p:sp>
      <p:sp>
        <p:nvSpPr>
          <p:cNvPr id="10" name="ZoneTexte 9">
            <a:extLst>
              <a:ext uri="{FF2B5EF4-FFF2-40B4-BE49-F238E27FC236}">
                <a16:creationId xmlns:a16="http://schemas.microsoft.com/office/drawing/2014/main" id="{E046DA59-C9AE-02DF-E1B7-C67B91F5C376}"/>
              </a:ext>
            </a:extLst>
          </p:cNvPr>
          <p:cNvSpPr txBox="1"/>
          <p:nvPr/>
        </p:nvSpPr>
        <p:spPr>
          <a:xfrm>
            <a:off x="8371489" y="4129548"/>
            <a:ext cx="2270234" cy="923330"/>
          </a:xfrm>
          <a:prstGeom prst="rect">
            <a:avLst/>
          </a:prstGeom>
          <a:noFill/>
        </p:spPr>
        <p:txBody>
          <a:bodyPr wrap="square" rtlCol="0">
            <a:spAutoFit/>
          </a:bodyPr>
          <a:lstStyle/>
          <a:p>
            <a:r>
              <a:rPr lang="fr-FR" dirty="0"/>
              <a:t>Script de sauvegarde exécuté automatiquement</a:t>
            </a:r>
          </a:p>
        </p:txBody>
      </p:sp>
      <p:sp>
        <p:nvSpPr>
          <p:cNvPr id="11" name="ZoneTexte 10">
            <a:extLst>
              <a:ext uri="{FF2B5EF4-FFF2-40B4-BE49-F238E27FC236}">
                <a16:creationId xmlns:a16="http://schemas.microsoft.com/office/drawing/2014/main" id="{7D7F203A-010D-7ADB-0EB2-3F221E312CAE}"/>
              </a:ext>
            </a:extLst>
          </p:cNvPr>
          <p:cNvSpPr txBox="1"/>
          <p:nvPr/>
        </p:nvSpPr>
        <p:spPr>
          <a:xfrm>
            <a:off x="7993626" y="5430260"/>
            <a:ext cx="3347884" cy="646331"/>
          </a:xfrm>
          <a:prstGeom prst="rect">
            <a:avLst/>
          </a:prstGeom>
          <a:noFill/>
        </p:spPr>
        <p:txBody>
          <a:bodyPr wrap="square" rtlCol="0">
            <a:spAutoFit/>
          </a:bodyPr>
          <a:lstStyle/>
          <a:p>
            <a:r>
              <a:rPr lang="fr-FR"/>
              <a:t>Planification Cron (Minute, Heure, Jour, Mois, Jour de la semaine)</a:t>
            </a:r>
            <a:endParaRPr lang="fr-FR" dirty="0"/>
          </a:p>
        </p:txBody>
      </p:sp>
      <p:sp>
        <p:nvSpPr>
          <p:cNvPr id="13" name="ZoneTexte 12">
            <a:extLst>
              <a:ext uri="{FF2B5EF4-FFF2-40B4-BE49-F238E27FC236}">
                <a16:creationId xmlns:a16="http://schemas.microsoft.com/office/drawing/2014/main" id="{5FE48ECA-933A-9C05-99F8-CC995A8AB097}"/>
              </a:ext>
            </a:extLst>
          </p:cNvPr>
          <p:cNvSpPr txBox="1"/>
          <p:nvPr/>
        </p:nvSpPr>
        <p:spPr>
          <a:xfrm>
            <a:off x="393626" y="5052878"/>
            <a:ext cx="6540230" cy="923330"/>
          </a:xfrm>
          <a:prstGeom prst="rect">
            <a:avLst/>
          </a:prstGeom>
          <a:noFill/>
        </p:spPr>
        <p:txBody>
          <a:bodyPr wrap="square" rtlCol="0">
            <a:spAutoFit/>
          </a:bodyPr>
          <a:lstStyle/>
          <a:p>
            <a:r>
              <a:rPr lang="fr-FR" dirty="0"/>
              <a:t>La planification avec Cron automatise l'exécution quotidienne du script de sauvegarde, garantissant la régularité des sauvegardes sans intervention manuelle.</a:t>
            </a:r>
          </a:p>
        </p:txBody>
      </p:sp>
    </p:spTree>
    <p:extLst>
      <p:ext uri="{BB962C8B-B14F-4D97-AF65-F5344CB8AC3E}">
        <p14:creationId xmlns:p14="http://schemas.microsoft.com/office/powerpoint/2010/main" val="2457892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984A0D-D934-E25A-7846-402331A18C05}"/>
              </a:ext>
            </a:extLst>
          </p:cNvPr>
          <p:cNvSpPr>
            <a:spLocks noGrp="1"/>
          </p:cNvSpPr>
          <p:nvPr>
            <p:ph type="title"/>
          </p:nvPr>
        </p:nvSpPr>
        <p:spPr>
          <a:xfrm>
            <a:off x="739604" y="214864"/>
            <a:ext cx="10364451" cy="1178507"/>
          </a:xfrm>
        </p:spPr>
        <p:txBody>
          <a:bodyPr>
            <a:normAutofit/>
          </a:bodyPr>
          <a:lstStyle/>
          <a:p>
            <a:r>
              <a:rPr lang="fr-FR">
                <a:solidFill>
                  <a:schemeClr val="tx1"/>
                </a:solidFill>
              </a:rPr>
              <a:t>Phase 4 – Supervision avec Splunk</a:t>
            </a:r>
            <a:br>
              <a:rPr lang="fr-FR"/>
            </a:br>
            <a:endParaRPr lang="fr-FR" dirty="0"/>
          </a:p>
        </p:txBody>
      </p:sp>
      <p:pic>
        <p:nvPicPr>
          <p:cNvPr id="8" name="Espace réservé du contenu 7">
            <a:extLst>
              <a:ext uri="{FF2B5EF4-FFF2-40B4-BE49-F238E27FC236}">
                <a16:creationId xmlns:a16="http://schemas.microsoft.com/office/drawing/2014/main" id="{43322845-7732-74A1-B5ED-3FEB78660B3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36170" y="2571878"/>
            <a:ext cx="4012863" cy="3125638"/>
          </a:xfrm>
          <a:prstGeom prst="rect">
            <a:avLst/>
          </a:prstGeom>
          <a:noFill/>
          <a:ln>
            <a:noFill/>
          </a:ln>
        </p:spPr>
      </p:pic>
      <p:sp>
        <p:nvSpPr>
          <p:cNvPr id="10" name="ZoneTexte 9">
            <a:extLst>
              <a:ext uri="{FF2B5EF4-FFF2-40B4-BE49-F238E27FC236}">
                <a16:creationId xmlns:a16="http://schemas.microsoft.com/office/drawing/2014/main" id="{4E1DC147-57BB-76A8-408E-A4B015F5AD5C}"/>
              </a:ext>
            </a:extLst>
          </p:cNvPr>
          <p:cNvSpPr txBox="1"/>
          <p:nvPr/>
        </p:nvSpPr>
        <p:spPr>
          <a:xfrm>
            <a:off x="1560285" y="1393371"/>
            <a:ext cx="8723087" cy="646331"/>
          </a:xfrm>
          <a:prstGeom prst="rect">
            <a:avLst/>
          </a:prstGeom>
          <a:noFill/>
        </p:spPr>
        <p:txBody>
          <a:bodyPr wrap="square" rtlCol="0">
            <a:spAutoFit/>
          </a:bodyPr>
          <a:lstStyle/>
          <a:p>
            <a:r>
              <a:rPr lang="fr-FR" sz="3600" dirty="0"/>
              <a:t>Configuration du Splunk Universal Forwarder</a:t>
            </a:r>
          </a:p>
        </p:txBody>
      </p:sp>
      <p:sp>
        <p:nvSpPr>
          <p:cNvPr id="12" name="Rectangle 11">
            <a:extLst>
              <a:ext uri="{FF2B5EF4-FFF2-40B4-BE49-F238E27FC236}">
                <a16:creationId xmlns:a16="http://schemas.microsoft.com/office/drawing/2014/main" id="{5FDEC1A0-7092-A33A-9E89-A191258FCF6F}"/>
              </a:ext>
            </a:extLst>
          </p:cNvPr>
          <p:cNvSpPr/>
          <p:nvPr/>
        </p:nvSpPr>
        <p:spPr>
          <a:xfrm>
            <a:off x="936170" y="4467423"/>
            <a:ext cx="3701144" cy="2061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4" name="Connecteur droit avec flèche 13">
            <a:extLst>
              <a:ext uri="{FF2B5EF4-FFF2-40B4-BE49-F238E27FC236}">
                <a16:creationId xmlns:a16="http://schemas.microsoft.com/office/drawing/2014/main" id="{391A0E51-910E-9FB1-788A-D3AA6620C842}"/>
              </a:ext>
            </a:extLst>
          </p:cNvPr>
          <p:cNvCxnSpPr>
            <a:cxnSpLocks/>
            <a:endCxn id="12" idx="3"/>
          </p:cNvCxnSpPr>
          <p:nvPr/>
        </p:nvCxnSpPr>
        <p:spPr>
          <a:xfrm flipH="1">
            <a:off x="4637314" y="4570512"/>
            <a:ext cx="26056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8F0D7314-E6BC-7048-DA8C-357755B53FA4}"/>
              </a:ext>
            </a:extLst>
          </p:cNvPr>
          <p:cNvSpPr txBox="1"/>
          <p:nvPr/>
        </p:nvSpPr>
        <p:spPr>
          <a:xfrm>
            <a:off x="7474857" y="4134697"/>
            <a:ext cx="4012863" cy="646331"/>
          </a:xfrm>
          <a:prstGeom prst="rect">
            <a:avLst/>
          </a:prstGeom>
          <a:noFill/>
        </p:spPr>
        <p:txBody>
          <a:bodyPr wrap="square" rtlCol="0">
            <a:spAutoFit/>
          </a:bodyPr>
          <a:lstStyle/>
          <a:p>
            <a:r>
              <a:rPr lang="fr-FR" dirty="0"/>
              <a:t>Adresse IP du serveur Splunk et port de gestion(Management Port)</a:t>
            </a:r>
          </a:p>
        </p:txBody>
      </p:sp>
      <p:sp>
        <p:nvSpPr>
          <p:cNvPr id="19" name="Rectangle 18">
            <a:extLst>
              <a:ext uri="{FF2B5EF4-FFF2-40B4-BE49-F238E27FC236}">
                <a16:creationId xmlns:a16="http://schemas.microsoft.com/office/drawing/2014/main" id="{4915A079-8B8A-C14B-5ADB-9AAB13D348C2}"/>
              </a:ext>
            </a:extLst>
          </p:cNvPr>
          <p:cNvSpPr/>
          <p:nvPr/>
        </p:nvSpPr>
        <p:spPr>
          <a:xfrm>
            <a:off x="936170" y="4001885"/>
            <a:ext cx="1785258" cy="1994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21" name="Connecteur droit avec flèche 20">
            <a:extLst>
              <a:ext uri="{FF2B5EF4-FFF2-40B4-BE49-F238E27FC236}">
                <a16:creationId xmlns:a16="http://schemas.microsoft.com/office/drawing/2014/main" id="{C40B9C15-57A2-92E8-3F8E-75735157F139}"/>
              </a:ext>
            </a:extLst>
          </p:cNvPr>
          <p:cNvCxnSpPr>
            <a:cxnSpLocks/>
          </p:cNvCxnSpPr>
          <p:nvPr/>
        </p:nvCxnSpPr>
        <p:spPr>
          <a:xfrm flipH="1">
            <a:off x="2844800" y="3788229"/>
            <a:ext cx="4238171" cy="2136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9A188ACF-7C03-C355-751A-4E3F1409EA17}"/>
              </a:ext>
            </a:extLst>
          </p:cNvPr>
          <p:cNvSpPr txBox="1"/>
          <p:nvPr/>
        </p:nvSpPr>
        <p:spPr>
          <a:xfrm>
            <a:off x="7438572" y="3318871"/>
            <a:ext cx="3106057" cy="923330"/>
          </a:xfrm>
          <a:prstGeom prst="rect">
            <a:avLst/>
          </a:prstGeom>
          <a:noFill/>
        </p:spPr>
        <p:txBody>
          <a:bodyPr wrap="square" rtlCol="0">
            <a:spAutoFit/>
          </a:bodyPr>
          <a:lstStyle/>
          <a:p>
            <a:r>
              <a:rPr lang="fr-FR" dirty="0"/>
              <a:t>Configuration du serveur de déploiement</a:t>
            </a:r>
          </a:p>
          <a:p>
            <a:endParaRPr lang="fr-FR" dirty="0"/>
          </a:p>
        </p:txBody>
      </p:sp>
      <p:sp>
        <p:nvSpPr>
          <p:cNvPr id="27" name="ZoneTexte 26">
            <a:extLst>
              <a:ext uri="{FF2B5EF4-FFF2-40B4-BE49-F238E27FC236}">
                <a16:creationId xmlns:a16="http://schemas.microsoft.com/office/drawing/2014/main" id="{F29432C4-DDC3-2DAC-1E10-7FE89DC75963}"/>
              </a:ext>
            </a:extLst>
          </p:cNvPr>
          <p:cNvSpPr txBox="1"/>
          <p:nvPr/>
        </p:nvSpPr>
        <p:spPr>
          <a:xfrm>
            <a:off x="936170" y="5987084"/>
            <a:ext cx="9731830" cy="646331"/>
          </a:xfrm>
          <a:prstGeom prst="rect">
            <a:avLst/>
          </a:prstGeom>
          <a:noFill/>
        </p:spPr>
        <p:txBody>
          <a:bodyPr wrap="square" rtlCol="0">
            <a:spAutoFit/>
          </a:bodyPr>
          <a:lstStyle/>
          <a:p>
            <a:r>
              <a:rPr lang="fr-FR" dirty="0"/>
              <a:t>Le Splunk Universal Forwarder est configuré pour communiquer avec le serveur Splunk (192.168.100.138) afin de centraliser les journaux des machines supervisées.</a:t>
            </a:r>
          </a:p>
        </p:txBody>
      </p:sp>
    </p:spTree>
    <p:extLst>
      <p:ext uri="{BB962C8B-B14F-4D97-AF65-F5344CB8AC3E}">
        <p14:creationId xmlns:p14="http://schemas.microsoft.com/office/powerpoint/2010/main" val="384478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3493762B-9357-E73B-52FD-5784B5A8FAC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9217" y="2065738"/>
            <a:ext cx="4380877" cy="3424237"/>
          </a:xfrm>
          <a:prstGeom prst="rect">
            <a:avLst/>
          </a:prstGeom>
          <a:noFill/>
          <a:ln>
            <a:noFill/>
          </a:ln>
        </p:spPr>
      </p:pic>
      <p:sp>
        <p:nvSpPr>
          <p:cNvPr id="8" name="Rectangle 7">
            <a:extLst>
              <a:ext uri="{FF2B5EF4-FFF2-40B4-BE49-F238E27FC236}">
                <a16:creationId xmlns:a16="http://schemas.microsoft.com/office/drawing/2014/main" id="{F673A82D-4266-0D53-AF7A-8982626EAE34}"/>
              </a:ext>
            </a:extLst>
          </p:cNvPr>
          <p:cNvSpPr/>
          <p:nvPr/>
        </p:nvSpPr>
        <p:spPr>
          <a:xfrm>
            <a:off x="820054" y="4175983"/>
            <a:ext cx="3759202" cy="17692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38DAD67B-AB60-173D-F0C3-7A6E011CDA1C}"/>
              </a:ext>
            </a:extLst>
          </p:cNvPr>
          <p:cNvSpPr txBox="1"/>
          <p:nvPr/>
        </p:nvSpPr>
        <p:spPr>
          <a:xfrm>
            <a:off x="2699656" y="448545"/>
            <a:ext cx="7213600" cy="1200329"/>
          </a:xfrm>
          <a:prstGeom prst="rect">
            <a:avLst/>
          </a:prstGeom>
          <a:noFill/>
        </p:spPr>
        <p:txBody>
          <a:bodyPr wrap="square" rtlCol="0">
            <a:spAutoFit/>
          </a:bodyPr>
          <a:lstStyle/>
          <a:p>
            <a:r>
              <a:rPr lang="fr-FR" sz="3600" dirty="0"/>
              <a:t>Configuration du Serveur Splunk recevant les journaux</a:t>
            </a:r>
            <a:endParaRPr lang="fr-FR" dirty="0"/>
          </a:p>
        </p:txBody>
      </p:sp>
      <p:cxnSp>
        <p:nvCxnSpPr>
          <p:cNvPr id="13" name="Connecteur droit avec flèche 12">
            <a:extLst>
              <a:ext uri="{FF2B5EF4-FFF2-40B4-BE49-F238E27FC236}">
                <a16:creationId xmlns:a16="http://schemas.microsoft.com/office/drawing/2014/main" id="{82B15486-08BC-9C5B-8EF4-9054F2282B6B}"/>
              </a:ext>
            </a:extLst>
          </p:cNvPr>
          <p:cNvCxnSpPr>
            <a:cxnSpLocks/>
          </p:cNvCxnSpPr>
          <p:nvPr/>
        </p:nvCxnSpPr>
        <p:spPr>
          <a:xfrm flipH="1">
            <a:off x="4688114" y="4264445"/>
            <a:ext cx="28157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ZoneTexte 18">
            <a:extLst>
              <a:ext uri="{FF2B5EF4-FFF2-40B4-BE49-F238E27FC236}">
                <a16:creationId xmlns:a16="http://schemas.microsoft.com/office/drawing/2014/main" id="{50C4381C-BB6F-9D1C-83B6-32179BB02FFB}"/>
              </a:ext>
            </a:extLst>
          </p:cNvPr>
          <p:cNvSpPr txBox="1"/>
          <p:nvPr/>
        </p:nvSpPr>
        <p:spPr>
          <a:xfrm>
            <a:off x="7837714" y="3891243"/>
            <a:ext cx="3120572" cy="923330"/>
          </a:xfrm>
          <a:prstGeom prst="rect">
            <a:avLst/>
          </a:prstGeom>
          <a:noFill/>
        </p:spPr>
        <p:txBody>
          <a:bodyPr wrap="square" rtlCol="0">
            <a:spAutoFit/>
          </a:bodyPr>
          <a:lstStyle/>
          <a:p>
            <a:r>
              <a:rPr lang="fr-FR" dirty="0"/>
              <a:t>Adresse IP du serveur Splunk</a:t>
            </a:r>
          </a:p>
          <a:p>
            <a:r>
              <a:rPr lang="fr-FR" dirty="0"/>
              <a:t>Port de réception des journaux (</a:t>
            </a:r>
            <a:r>
              <a:rPr lang="fr-FR" dirty="0" err="1"/>
              <a:t>Forwarding</a:t>
            </a:r>
            <a:r>
              <a:rPr lang="fr-FR" dirty="0"/>
              <a:t> Port)</a:t>
            </a:r>
          </a:p>
        </p:txBody>
      </p:sp>
      <p:sp>
        <p:nvSpPr>
          <p:cNvPr id="20" name="ZoneTexte 19">
            <a:extLst>
              <a:ext uri="{FF2B5EF4-FFF2-40B4-BE49-F238E27FC236}">
                <a16:creationId xmlns:a16="http://schemas.microsoft.com/office/drawing/2014/main" id="{715B82AA-4BA0-2053-3AC0-0A2FEF9EC8B9}"/>
              </a:ext>
            </a:extLst>
          </p:cNvPr>
          <p:cNvSpPr txBox="1"/>
          <p:nvPr/>
        </p:nvSpPr>
        <p:spPr>
          <a:xfrm>
            <a:off x="1248229" y="5775500"/>
            <a:ext cx="8853714" cy="923330"/>
          </a:xfrm>
          <a:prstGeom prst="rect">
            <a:avLst/>
          </a:prstGeom>
          <a:noFill/>
        </p:spPr>
        <p:txBody>
          <a:bodyPr wrap="square" rtlCol="0">
            <a:spAutoFit/>
          </a:bodyPr>
          <a:lstStyle/>
          <a:p>
            <a:r>
              <a:rPr lang="fr-FR" dirty="0"/>
              <a:t>Le Splunk Universal Forwarder est configuré pour envoyer les journaux vers le serveur Splunk (192.168.100.138) via le port 9997 afin de centraliser les événements de sécurité</a:t>
            </a:r>
            <a:r>
              <a:rPr lang="fr-FR" b="1" dirty="0"/>
              <a:t>.</a:t>
            </a:r>
            <a:endParaRPr lang="fr-FR" dirty="0"/>
          </a:p>
          <a:p>
            <a:endParaRPr lang="fr-FR" dirty="0"/>
          </a:p>
        </p:txBody>
      </p:sp>
    </p:spTree>
    <p:extLst>
      <p:ext uri="{BB962C8B-B14F-4D97-AF65-F5344CB8AC3E}">
        <p14:creationId xmlns:p14="http://schemas.microsoft.com/office/powerpoint/2010/main" val="2490826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71C64F47-87E3-EA2B-041C-04194637048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1655" y="2671152"/>
            <a:ext cx="8659433" cy="1276528"/>
          </a:xfrm>
          <a:prstGeom prst="rect">
            <a:avLst/>
          </a:prstGeom>
          <a:noFill/>
          <a:ln>
            <a:noFill/>
          </a:ln>
        </p:spPr>
      </p:pic>
      <p:sp>
        <p:nvSpPr>
          <p:cNvPr id="7" name="Rectangle 6">
            <a:extLst>
              <a:ext uri="{FF2B5EF4-FFF2-40B4-BE49-F238E27FC236}">
                <a16:creationId xmlns:a16="http://schemas.microsoft.com/office/drawing/2014/main" id="{01AB466C-2A1E-59D8-D2C8-A14D77AC2A81}"/>
              </a:ext>
            </a:extLst>
          </p:cNvPr>
          <p:cNvSpPr/>
          <p:nvPr/>
        </p:nvSpPr>
        <p:spPr>
          <a:xfrm>
            <a:off x="3439886" y="2671152"/>
            <a:ext cx="3541485" cy="3077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3A4F32D0-4AFD-F0B1-EC45-528D4A540262}"/>
              </a:ext>
            </a:extLst>
          </p:cNvPr>
          <p:cNvSpPr txBox="1"/>
          <p:nvPr/>
        </p:nvSpPr>
        <p:spPr>
          <a:xfrm>
            <a:off x="1407886" y="783773"/>
            <a:ext cx="10116457" cy="1477328"/>
          </a:xfrm>
          <a:prstGeom prst="rect">
            <a:avLst/>
          </a:prstGeom>
          <a:noFill/>
        </p:spPr>
        <p:txBody>
          <a:bodyPr wrap="square" rtlCol="0">
            <a:spAutoFit/>
          </a:bodyPr>
          <a:lstStyle/>
          <a:p>
            <a:r>
              <a:rPr lang="fr-FR" sz="3600" dirty="0"/>
              <a:t>Vérification de la communication avec le serveur Splunk</a:t>
            </a:r>
          </a:p>
          <a:p>
            <a:endParaRPr lang="fr-FR" dirty="0"/>
          </a:p>
        </p:txBody>
      </p:sp>
      <p:cxnSp>
        <p:nvCxnSpPr>
          <p:cNvPr id="15" name="Connecteur droit avec flèche 14">
            <a:extLst>
              <a:ext uri="{FF2B5EF4-FFF2-40B4-BE49-F238E27FC236}">
                <a16:creationId xmlns:a16="http://schemas.microsoft.com/office/drawing/2014/main" id="{F5C77D17-4FA9-8824-C101-C0878219F22D}"/>
              </a:ext>
            </a:extLst>
          </p:cNvPr>
          <p:cNvCxnSpPr>
            <a:cxnSpLocks/>
          </p:cNvCxnSpPr>
          <p:nvPr/>
        </p:nvCxnSpPr>
        <p:spPr>
          <a:xfrm>
            <a:off x="7082971" y="2859314"/>
            <a:ext cx="2322286"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17" name="ZoneTexte 16">
            <a:extLst>
              <a:ext uri="{FF2B5EF4-FFF2-40B4-BE49-F238E27FC236}">
                <a16:creationId xmlns:a16="http://schemas.microsoft.com/office/drawing/2014/main" id="{E5EDEB55-1378-F08B-60E9-1F5C27CAEA33}"/>
              </a:ext>
            </a:extLst>
          </p:cNvPr>
          <p:cNvSpPr txBox="1"/>
          <p:nvPr/>
        </p:nvSpPr>
        <p:spPr>
          <a:xfrm>
            <a:off x="9579429" y="2671152"/>
            <a:ext cx="2264228" cy="923330"/>
          </a:xfrm>
          <a:prstGeom prst="rect">
            <a:avLst/>
          </a:prstGeom>
          <a:noFill/>
        </p:spPr>
        <p:txBody>
          <a:bodyPr wrap="square" rtlCol="0">
            <a:spAutoFit/>
          </a:bodyPr>
          <a:lstStyle/>
          <a:p>
            <a:r>
              <a:rPr lang="fr-FR" dirty="0"/>
              <a:t>Commande de vérification de la connectivité</a:t>
            </a:r>
          </a:p>
        </p:txBody>
      </p:sp>
      <p:sp>
        <p:nvSpPr>
          <p:cNvPr id="20" name="Rectangle 19">
            <a:extLst>
              <a:ext uri="{FF2B5EF4-FFF2-40B4-BE49-F238E27FC236}">
                <a16:creationId xmlns:a16="http://schemas.microsoft.com/office/drawing/2014/main" id="{A6E0F515-EBB8-9C69-F6E6-6438CB68D106}"/>
              </a:ext>
            </a:extLst>
          </p:cNvPr>
          <p:cNvSpPr/>
          <p:nvPr/>
        </p:nvSpPr>
        <p:spPr>
          <a:xfrm>
            <a:off x="111655" y="3793791"/>
            <a:ext cx="3541485" cy="3077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2" name="Connecteur droit avec flèche 21">
            <a:extLst>
              <a:ext uri="{FF2B5EF4-FFF2-40B4-BE49-F238E27FC236}">
                <a16:creationId xmlns:a16="http://schemas.microsoft.com/office/drawing/2014/main" id="{29C54282-5790-2490-2194-3F27A6925D9C}"/>
              </a:ext>
            </a:extLst>
          </p:cNvPr>
          <p:cNvCxnSpPr>
            <a:cxnSpLocks/>
          </p:cNvCxnSpPr>
          <p:nvPr/>
        </p:nvCxnSpPr>
        <p:spPr>
          <a:xfrm>
            <a:off x="3653140" y="3998686"/>
            <a:ext cx="5505374" cy="13715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6" name="ZoneTexte 25">
            <a:extLst>
              <a:ext uri="{FF2B5EF4-FFF2-40B4-BE49-F238E27FC236}">
                <a16:creationId xmlns:a16="http://schemas.microsoft.com/office/drawing/2014/main" id="{973CC479-3E11-CB78-8D40-1EFCA334A3F6}"/>
              </a:ext>
            </a:extLst>
          </p:cNvPr>
          <p:cNvSpPr txBox="1"/>
          <p:nvPr/>
        </p:nvSpPr>
        <p:spPr>
          <a:xfrm>
            <a:off x="9405257" y="3822756"/>
            <a:ext cx="1944914" cy="646331"/>
          </a:xfrm>
          <a:prstGeom prst="rect">
            <a:avLst/>
          </a:prstGeom>
          <a:noFill/>
        </p:spPr>
        <p:txBody>
          <a:bodyPr wrap="square" rtlCol="0">
            <a:spAutoFit/>
          </a:bodyPr>
          <a:lstStyle/>
          <a:p>
            <a:r>
              <a:rPr lang="fr-FR" dirty="0"/>
              <a:t>Connexion établie avec succès</a:t>
            </a:r>
          </a:p>
        </p:txBody>
      </p:sp>
      <p:sp>
        <p:nvSpPr>
          <p:cNvPr id="28" name="ZoneTexte 27">
            <a:extLst>
              <a:ext uri="{FF2B5EF4-FFF2-40B4-BE49-F238E27FC236}">
                <a16:creationId xmlns:a16="http://schemas.microsoft.com/office/drawing/2014/main" id="{FE815924-8586-3EFF-BC51-5B3C5B77BDCD}"/>
              </a:ext>
            </a:extLst>
          </p:cNvPr>
          <p:cNvSpPr txBox="1"/>
          <p:nvPr/>
        </p:nvSpPr>
        <p:spPr>
          <a:xfrm>
            <a:off x="493486" y="5044791"/>
            <a:ext cx="8766628" cy="646331"/>
          </a:xfrm>
          <a:prstGeom prst="rect">
            <a:avLst/>
          </a:prstGeom>
          <a:noFill/>
        </p:spPr>
        <p:txBody>
          <a:bodyPr wrap="square">
            <a:spAutoFit/>
          </a:bodyPr>
          <a:lstStyle/>
          <a:p>
            <a:pPr>
              <a:buNone/>
            </a:pPr>
            <a:r>
              <a:rPr lang="fr-FR" dirty="0"/>
              <a:t>La commande Test-</a:t>
            </a:r>
            <a:r>
              <a:rPr lang="fr-FR" dirty="0" err="1"/>
              <a:t>NetConnection</a:t>
            </a:r>
            <a:r>
              <a:rPr lang="fr-FR" dirty="0"/>
              <a:t> confirme que le Splunk Universal Forwarder communique correctement avec le serveur Splunk via le port 8089.</a:t>
            </a:r>
          </a:p>
        </p:txBody>
      </p:sp>
    </p:spTree>
    <p:extLst>
      <p:ext uri="{BB962C8B-B14F-4D97-AF65-F5344CB8AC3E}">
        <p14:creationId xmlns:p14="http://schemas.microsoft.com/office/powerpoint/2010/main" val="4167755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7248EE32-43F0-25D5-9AB0-CB8D21F4E743}"/>
              </a:ext>
            </a:extLst>
          </p:cNvPr>
          <p:cNvPicPr>
            <a:picLocks noChangeAspect="1"/>
          </p:cNvPicPr>
          <p:nvPr/>
        </p:nvPicPr>
        <p:blipFill>
          <a:blip r:embed="rId2"/>
          <a:stretch>
            <a:fillRect/>
          </a:stretch>
        </p:blipFill>
        <p:spPr>
          <a:xfrm>
            <a:off x="281429" y="1196635"/>
            <a:ext cx="7768886" cy="2726774"/>
          </a:xfrm>
          <a:prstGeom prst="rect">
            <a:avLst/>
          </a:prstGeom>
        </p:spPr>
      </p:pic>
      <p:pic>
        <p:nvPicPr>
          <p:cNvPr id="5" name="Image 4">
            <a:extLst>
              <a:ext uri="{FF2B5EF4-FFF2-40B4-BE49-F238E27FC236}">
                <a16:creationId xmlns:a16="http://schemas.microsoft.com/office/drawing/2014/main" id="{367082DA-FA4E-A7CF-BD1A-56BCCB7455E8}"/>
              </a:ext>
            </a:extLst>
          </p:cNvPr>
          <p:cNvPicPr>
            <a:picLocks noChangeAspect="1"/>
          </p:cNvPicPr>
          <p:nvPr/>
        </p:nvPicPr>
        <p:blipFill>
          <a:blip r:embed="rId3"/>
          <a:stretch>
            <a:fillRect/>
          </a:stretch>
        </p:blipFill>
        <p:spPr>
          <a:xfrm>
            <a:off x="261373" y="4235021"/>
            <a:ext cx="7788942" cy="1010221"/>
          </a:xfrm>
          <a:prstGeom prst="rect">
            <a:avLst/>
          </a:prstGeom>
        </p:spPr>
      </p:pic>
      <p:sp>
        <p:nvSpPr>
          <p:cNvPr id="7" name="ZoneTexte 6">
            <a:extLst>
              <a:ext uri="{FF2B5EF4-FFF2-40B4-BE49-F238E27FC236}">
                <a16:creationId xmlns:a16="http://schemas.microsoft.com/office/drawing/2014/main" id="{6DF4E19F-58C4-358A-87A3-A213B20BC383}"/>
              </a:ext>
            </a:extLst>
          </p:cNvPr>
          <p:cNvSpPr txBox="1"/>
          <p:nvPr/>
        </p:nvSpPr>
        <p:spPr>
          <a:xfrm>
            <a:off x="1900744" y="238692"/>
            <a:ext cx="8984969" cy="646331"/>
          </a:xfrm>
          <a:prstGeom prst="rect">
            <a:avLst/>
          </a:prstGeom>
          <a:noFill/>
        </p:spPr>
        <p:txBody>
          <a:bodyPr wrap="square">
            <a:spAutoFit/>
          </a:bodyPr>
          <a:lstStyle/>
          <a:p>
            <a:r>
              <a:rPr lang="fr-FR" sz="3600" dirty="0"/>
              <a:t>Accès à l'interface Web de Splunk Enterprise</a:t>
            </a:r>
          </a:p>
        </p:txBody>
      </p:sp>
      <p:sp>
        <p:nvSpPr>
          <p:cNvPr id="8" name="ZoneTexte 7">
            <a:extLst>
              <a:ext uri="{FF2B5EF4-FFF2-40B4-BE49-F238E27FC236}">
                <a16:creationId xmlns:a16="http://schemas.microsoft.com/office/drawing/2014/main" id="{06E84327-A488-C836-7372-9A1EECB4FEF1}"/>
              </a:ext>
            </a:extLst>
          </p:cNvPr>
          <p:cNvSpPr txBox="1"/>
          <p:nvPr/>
        </p:nvSpPr>
        <p:spPr>
          <a:xfrm>
            <a:off x="8325968" y="1165482"/>
            <a:ext cx="3521313" cy="369332"/>
          </a:xfrm>
          <a:prstGeom prst="rect">
            <a:avLst/>
          </a:prstGeom>
          <a:noFill/>
        </p:spPr>
        <p:txBody>
          <a:bodyPr wrap="square" rtlCol="0">
            <a:spAutoFit/>
          </a:bodyPr>
          <a:lstStyle/>
          <a:p>
            <a:r>
              <a:rPr lang="fr-FR" dirty="0"/>
              <a:t>Accès à l'interface Web de Splunk</a:t>
            </a:r>
          </a:p>
        </p:txBody>
      </p:sp>
      <p:sp>
        <p:nvSpPr>
          <p:cNvPr id="9" name="ZoneTexte 8">
            <a:extLst>
              <a:ext uri="{FF2B5EF4-FFF2-40B4-BE49-F238E27FC236}">
                <a16:creationId xmlns:a16="http://schemas.microsoft.com/office/drawing/2014/main" id="{D8C36A58-CBDD-DEA5-B3F8-58021522258B}"/>
              </a:ext>
            </a:extLst>
          </p:cNvPr>
          <p:cNvSpPr txBox="1"/>
          <p:nvPr/>
        </p:nvSpPr>
        <p:spPr>
          <a:xfrm>
            <a:off x="8325968" y="2337262"/>
            <a:ext cx="3773715" cy="646331"/>
          </a:xfrm>
          <a:prstGeom prst="rect">
            <a:avLst/>
          </a:prstGeom>
          <a:noFill/>
        </p:spPr>
        <p:txBody>
          <a:bodyPr wrap="square" rtlCol="0">
            <a:spAutoFit/>
          </a:bodyPr>
          <a:lstStyle/>
          <a:p>
            <a:r>
              <a:rPr lang="fr-FR" dirty="0"/>
              <a:t>SIEM utilisé pour la supervision des événements</a:t>
            </a:r>
          </a:p>
        </p:txBody>
      </p:sp>
      <p:sp>
        <p:nvSpPr>
          <p:cNvPr id="10" name="ZoneTexte 9">
            <a:extLst>
              <a:ext uri="{FF2B5EF4-FFF2-40B4-BE49-F238E27FC236}">
                <a16:creationId xmlns:a16="http://schemas.microsoft.com/office/drawing/2014/main" id="{FCB31960-5554-780F-8C28-A1700813A95E}"/>
              </a:ext>
            </a:extLst>
          </p:cNvPr>
          <p:cNvSpPr txBox="1"/>
          <p:nvPr/>
        </p:nvSpPr>
        <p:spPr>
          <a:xfrm>
            <a:off x="8766629" y="4646309"/>
            <a:ext cx="3182370" cy="369332"/>
          </a:xfrm>
          <a:prstGeom prst="rect">
            <a:avLst/>
          </a:prstGeom>
          <a:noFill/>
        </p:spPr>
        <p:txBody>
          <a:bodyPr wrap="square" rtlCol="0">
            <a:spAutoFit/>
          </a:bodyPr>
          <a:lstStyle/>
          <a:p>
            <a:r>
              <a:rPr lang="fr-FR" dirty="0"/>
              <a:t>Zone de saisie  des requêtes SPL</a:t>
            </a:r>
          </a:p>
        </p:txBody>
      </p:sp>
      <p:sp>
        <p:nvSpPr>
          <p:cNvPr id="12" name="ZoneTexte 11">
            <a:extLst>
              <a:ext uri="{FF2B5EF4-FFF2-40B4-BE49-F238E27FC236}">
                <a16:creationId xmlns:a16="http://schemas.microsoft.com/office/drawing/2014/main" id="{0DC4621C-85B4-4985-6BAB-51E3047D8111}"/>
              </a:ext>
            </a:extLst>
          </p:cNvPr>
          <p:cNvSpPr txBox="1"/>
          <p:nvPr/>
        </p:nvSpPr>
        <p:spPr>
          <a:xfrm>
            <a:off x="537027" y="5556854"/>
            <a:ext cx="7788941" cy="646331"/>
          </a:xfrm>
          <a:prstGeom prst="rect">
            <a:avLst/>
          </a:prstGeom>
          <a:noFill/>
        </p:spPr>
        <p:txBody>
          <a:bodyPr wrap="square">
            <a:spAutoFit/>
          </a:bodyPr>
          <a:lstStyle/>
          <a:p>
            <a:r>
              <a:rPr lang="fr-FR" dirty="0"/>
              <a:t>Le module Search &amp; </a:t>
            </a:r>
            <a:r>
              <a:rPr lang="fr-FR" dirty="0" err="1"/>
              <a:t>Reporting</a:t>
            </a:r>
            <a:r>
              <a:rPr lang="fr-FR" dirty="0"/>
              <a:t> permet d'exécuter des requêtes SPL afin de rechercher, filtrer et analyser les événements de sécurité centralisés dans Splunk</a:t>
            </a:r>
          </a:p>
        </p:txBody>
      </p:sp>
      <p:sp>
        <p:nvSpPr>
          <p:cNvPr id="14" name="Rectangle 13">
            <a:extLst>
              <a:ext uri="{FF2B5EF4-FFF2-40B4-BE49-F238E27FC236}">
                <a16:creationId xmlns:a16="http://schemas.microsoft.com/office/drawing/2014/main" id="{2712E30C-F07E-7A5E-3FD6-50B4E3CB06B8}"/>
              </a:ext>
            </a:extLst>
          </p:cNvPr>
          <p:cNvSpPr/>
          <p:nvPr/>
        </p:nvSpPr>
        <p:spPr>
          <a:xfrm>
            <a:off x="1026055" y="1095218"/>
            <a:ext cx="3541485" cy="3077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avec flèche 15">
            <a:extLst>
              <a:ext uri="{FF2B5EF4-FFF2-40B4-BE49-F238E27FC236}">
                <a16:creationId xmlns:a16="http://schemas.microsoft.com/office/drawing/2014/main" id="{E17FFF98-542B-2AFD-2148-FAEAC59427A5}"/>
              </a:ext>
            </a:extLst>
          </p:cNvPr>
          <p:cNvCxnSpPr>
            <a:cxnSpLocks/>
            <a:stCxn id="8" idx="1"/>
          </p:cNvCxnSpPr>
          <p:nvPr/>
        </p:nvCxnSpPr>
        <p:spPr>
          <a:xfrm flipH="1" flipV="1">
            <a:off x="4688114" y="1241055"/>
            <a:ext cx="3637854" cy="10909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9" name="Connecteur droit avec flèche 18">
            <a:extLst>
              <a:ext uri="{FF2B5EF4-FFF2-40B4-BE49-F238E27FC236}">
                <a16:creationId xmlns:a16="http://schemas.microsoft.com/office/drawing/2014/main" id="{20BC37FD-CD01-CE2B-C993-6D7B135BADE1}"/>
              </a:ext>
            </a:extLst>
          </p:cNvPr>
          <p:cNvCxnSpPr>
            <a:cxnSpLocks/>
          </p:cNvCxnSpPr>
          <p:nvPr/>
        </p:nvCxnSpPr>
        <p:spPr>
          <a:xfrm flipH="1" flipV="1">
            <a:off x="4688114" y="2518468"/>
            <a:ext cx="3468915" cy="239246"/>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
        <p:nvSpPr>
          <p:cNvPr id="22" name="Rectangle 21">
            <a:extLst>
              <a:ext uri="{FF2B5EF4-FFF2-40B4-BE49-F238E27FC236}">
                <a16:creationId xmlns:a16="http://schemas.microsoft.com/office/drawing/2014/main" id="{06170518-B449-D9E3-6DA3-93F7B2B33B02}"/>
              </a:ext>
            </a:extLst>
          </p:cNvPr>
          <p:cNvSpPr/>
          <p:nvPr/>
        </p:nvSpPr>
        <p:spPr>
          <a:xfrm>
            <a:off x="2888343" y="2288866"/>
            <a:ext cx="1933197" cy="3077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Rectangle 23">
            <a:extLst>
              <a:ext uri="{FF2B5EF4-FFF2-40B4-BE49-F238E27FC236}">
                <a16:creationId xmlns:a16="http://schemas.microsoft.com/office/drawing/2014/main" id="{C4DF7774-1B48-702A-FD66-B320963C0406}"/>
              </a:ext>
            </a:extLst>
          </p:cNvPr>
          <p:cNvSpPr/>
          <p:nvPr/>
        </p:nvSpPr>
        <p:spPr>
          <a:xfrm>
            <a:off x="281429" y="4798467"/>
            <a:ext cx="5567828" cy="21717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6" name="Connecteur droit avec flèche 25">
            <a:extLst>
              <a:ext uri="{FF2B5EF4-FFF2-40B4-BE49-F238E27FC236}">
                <a16:creationId xmlns:a16="http://schemas.microsoft.com/office/drawing/2014/main" id="{22BCDCB5-3A0A-5679-F48C-B8A87FE8CE71}"/>
              </a:ext>
            </a:extLst>
          </p:cNvPr>
          <p:cNvCxnSpPr>
            <a:cxnSpLocks/>
          </p:cNvCxnSpPr>
          <p:nvPr/>
        </p:nvCxnSpPr>
        <p:spPr>
          <a:xfrm flipH="1">
            <a:off x="5950857" y="4828133"/>
            <a:ext cx="2714172" cy="73479"/>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184325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Espace réservé du contenu 7">
            <a:extLst>
              <a:ext uri="{FF2B5EF4-FFF2-40B4-BE49-F238E27FC236}">
                <a16:creationId xmlns:a16="http://schemas.microsoft.com/office/drawing/2014/main" id="{2FAAAA41-63CB-813C-7227-DC11811F6E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5326" y="2369219"/>
            <a:ext cx="7847661" cy="3881437"/>
          </a:xfrm>
          <a:prstGeom prst="rect">
            <a:avLst/>
          </a:prstGeom>
        </p:spPr>
      </p:pic>
      <p:pic>
        <p:nvPicPr>
          <p:cNvPr id="4" name="Image 3">
            <a:extLst>
              <a:ext uri="{FF2B5EF4-FFF2-40B4-BE49-F238E27FC236}">
                <a16:creationId xmlns:a16="http://schemas.microsoft.com/office/drawing/2014/main" id="{AEEC3353-0E53-ABCE-76AF-5B597FC6BE8B}"/>
              </a:ext>
            </a:extLst>
          </p:cNvPr>
          <p:cNvPicPr>
            <a:picLocks noChangeAspect="1"/>
          </p:cNvPicPr>
          <p:nvPr/>
        </p:nvPicPr>
        <p:blipFill>
          <a:blip r:embed="rId3"/>
          <a:stretch>
            <a:fillRect/>
          </a:stretch>
        </p:blipFill>
        <p:spPr>
          <a:xfrm>
            <a:off x="278241" y="1458791"/>
            <a:ext cx="8021832" cy="779800"/>
          </a:xfrm>
          <a:prstGeom prst="rect">
            <a:avLst/>
          </a:prstGeom>
        </p:spPr>
      </p:pic>
      <p:sp>
        <p:nvSpPr>
          <p:cNvPr id="5" name="ZoneTexte 4">
            <a:extLst>
              <a:ext uri="{FF2B5EF4-FFF2-40B4-BE49-F238E27FC236}">
                <a16:creationId xmlns:a16="http://schemas.microsoft.com/office/drawing/2014/main" id="{1F4961F4-9739-F348-0298-5F57D61D2185}"/>
              </a:ext>
            </a:extLst>
          </p:cNvPr>
          <p:cNvSpPr txBox="1"/>
          <p:nvPr/>
        </p:nvSpPr>
        <p:spPr>
          <a:xfrm>
            <a:off x="2755660" y="273975"/>
            <a:ext cx="6680680" cy="1200329"/>
          </a:xfrm>
          <a:prstGeom prst="rect">
            <a:avLst/>
          </a:prstGeom>
          <a:noFill/>
        </p:spPr>
        <p:txBody>
          <a:bodyPr wrap="square">
            <a:spAutoFit/>
          </a:bodyPr>
          <a:lstStyle/>
          <a:p>
            <a:r>
              <a:rPr lang="fr-FR" sz="3600" dirty="0"/>
              <a:t>Détection d'une ouverture de session privilégiée (Event ID 4672)</a:t>
            </a:r>
          </a:p>
        </p:txBody>
      </p:sp>
      <p:cxnSp>
        <p:nvCxnSpPr>
          <p:cNvPr id="7" name="Connecteur droit avec flèche 6">
            <a:extLst>
              <a:ext uri="{FF2B5EF4-FFF2-40B4-BE49-F238E27FC236}">
                <a16:creationId xmlns:a16="http://schemas.microsoft.com/office/drawing/2014/main" id="{B6AF1EE6-D2C8-9711-CA80-8D38DE31ADE4}"/>
              </a:ext>
            </a:extLst>
          </p:cNvPr>
          <p:cNvCxnSpPr>
            <a:cxnSpLocks/>
          </p:cNvCxnSpPr>
          <p:nvPr/>
        </p:nvCxnSpPr>
        <p:spPr>
          <a:xfrm flipH="1">
            <a:off x="2755660" y="2801257"/>
            <a:ext cx="545732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5F3EACC8-2B14-C684-C8DB-B1289483F857}"/>
              </a:ext>
            </a:extLst>
          </p:cNvPr>
          <p:cNvSpPr txBox="1"/>
          <p:nvPr/>
        </p:nvSpPr>
        <p:spPr>
          <a:xfrm>
            <a:off x="8430332" y="2443842"/>
            <a:ext cx="3396342" cy="369332"/>
          </a:xfrm>
          <a:prstGeom prst="rect">
            <a:avLst/>
          </a:prstGeom>
          <a:noFill/>
        </p:spPr>
        <p:txBody>
          <a:bodyPr wrap="square" rtlCol="0">
            <a:spAutoFit/>
          </a:bodyPr>
          <a:lstStyle/>
          <a:p>
            <a:r>
              <a:rPr lang="fr-FR" dirty="0"/>
              <a:t>Événement Windows 4672 détecté</a:t>
            </a:r>
          </a:p>
        </p:txBody>
      </p:sp>
      <p:sp>
        <p:nvSpPr>
          <p:cNvPr id="13" name="ZoneTexte 12">
            <a:extLst>
              <a:ext uri="{FF2B5EF4-FFF2-40B4-BE49-F238E27FC236}">
                <a16:creationId xmlns:a16="http://schemas.microsoft.com/office/drawing/2014/main" id="{E65777FD-02B1-5546-FE72-88A4B628AC98}"/>
              </a:ext>
            </a:extLst>
          </p:cNvPr>
          <p:cNvSpPr txBox="1"/>
          <p:nvPr/>
        </p:nvSpPr>
        <p:spPr>
          <a:xfrm>
            <a:off x="8577943" y="4309936"/>
            <a:ext cx="3248731" cy="646331"/>
          </a:xfrm>
          <a:prstGeom prst="rect">
            <a:avLst/>
          </a:prstGeom>
          <a:noFill/>
        </p:spPr>
        <p:txBody>
          <a:bodyPr wrap="square" rtlCol="0">
            <a:spAutoFit/>
          </a:bodyPr>
          <a:lstStyle/>
          <a:p>
            <a:r>
              <a:rPr lang="fr-FR" dirty="0"/>
              <a:t>Connexion avec des privilèges administrateur</a:t>
            </a:r>
          </a:p>
        </p:txBody>
      </p:sp>
      <p:cxnSp>
        <p:nvCxnSpPr>
          <p:cNvPr id="15" name="Connecteur droit avec flèche 14">
            <a:extLst>
              <a:ext uri="{FF2B5EF4-FFF2-40B4-BE49-F238E27FC236}">
                <a16:creationId xmlns:a16="http://schemas.microsoft.com/office/drawing/2014/main" id="{510B1CF2-EC0A-5B56-CEE5-CC64982FAA5B}"/>
              </a:ext>
            </a:extLst>
          </p:cNvPr>
          <p:cNvCxnSpPr>
            <a:cxnSpLocks/>
            <a:stCxn id="13" idx="1"/>
          </p:cNvCxnSpPr>
          <p:nvPr/>
        </p:nvCxnSpPr>
        <p:spPr>
          <a:xfrm flipH="1" flipV="1">
            <a:off x="6516914" y="4484914"/>
            <a:ext cx="2061029" cy="148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C23D26E1-4370-9E76-7AD3-77E396B12CB8}"/>
              </a:ext>
            </a:extLst>
          </p:cNvPr>
          <p:cNvCxnSpPr>
            <a:cxnSpLocks/>
          </p:cNvCxnSpPr>
          <p:nvPr/>
        </p:nvCxnSpPr>
        <p:spPr>
          <a:xfrm flipH="1" flipV="1">
            <a:off x="3719582" y="3108376"/>
            <a:ext cx="4789714" cy="753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ZoneTexte 24">
            <a:extLst>
              <a:ext uri="{FF2B5EF4-FFF2-40B4-BE49-F238E27FC236}">
                <a16:creationId xmlns:a16="http://schemas.microsoft.com/office/drawing/2014/main" id="{856F144C-5718-568D-CEC9-842ED3CA5198}"/>
              </a:ext>
            </a:extLst>
          </p:cNvPr>
          <p:cNvSpPr txBox="1"/>
          <p:nvPr/>
        </p:nvSpPr>
        <p:spPr>
          <a:xfrm>
            <a:off x="8805604" y="3015566"/>
            <a:ext cx="2830286" cy="369332"/>
          </a:xfrm>
          <a:prstGeom prst="rect">
            <a:avLst/>
          </a:prstGeom>
          <a:noFill/>
        </p:spPr>
        <p:txBody>
          <a:bodyPr wrap="square" rtlCol="0">
            <a:spAutoFit/>
          </a:bodyPr>
          <a:lstStyle/>
          <a:p>
            <a:r>
              <a:rPr lang="fr-FR" dirty="0"/>
              <a:t>Machine concernée</a:t>
            </a:r>
          </a:p>
        </p:txBody>
      </p:sp>
      <p:cxnSp>
        <p:nvCxnSpPr>
          <p:cNvPr id="27" name="Connecteur droit avec flèche 26">
            <a:extLst>
              <a:ext uri="{FF2B5EF4-FFF2-40B4-BE49-F238E27FC236}">
                <a16:creationId xmlns:a16="http://schemas.microsoft.com/office/drawing/2014/main" id="{015D7E32-B722-95C7-41C8-5485CC36B458}"/>
              </a:ext>
            </a:extLst>
          </p:cNvPr>
          <p:cNvCxnSpPr>
            <a:cxnSpLocks/>
          </p:cNvCxnSpPr>
          <p:nvPr/>
        </p:nvCxnSpPr>
        <p:spPr>
          <a:xfrm flipH="1" flipV="1">
            <a:off x="3657600" y="3904343"/>
            <a:ext cx="5283200" cy="18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ZoneTexte 28">
            <a:extLst>
              <a:ext uri="{FF2B5EF4-FFF2-40B4-BE49-F238E27FC236}">
                <a16:creationId xmlns:a16="http://schemas.microsoft.com/office/drawing/2014/main" id="{12C04F24-5F79-2C05-8BD4-1372F9206826}"/>
              </a:ext>
            </a:extLst>
          </p:cNvPr>
          <p:cNvSpPr txBox="1"/>
          <p:nvPr/>
        </p:nvSpPr>
        <p:spPr>
          <a:xfrm>
            <a:off x="9042400" y="3663605"/>
            <a:ext cx="2784274" cy="646331"/>
          </a:xfrm>
          <a:prstGeom prst="rect">
            <a:avLst/>
          </a:prstGeom>
          <a:noFill/>
        </p:spPr>
        <p:txBody>
          <a:bodyPr wrap="square" rtlCol="0">
            <a:spAutoFit/>
          </a:bodyPr>
          <a:lstStyle/>
          <a:p>
            <a:r>
              <a:rPr lang="fr-FR" dirty="0"/>
              <a:t>Ouverture de session réussie</a:t>
            </a:r>
          </a:p>
          <a:p>
            <a:endParaRPr lang="fr-FR" dirty="0"/>
          </a:p>
        </p:txBody>
      </p:sp>
    </p:spTree>
    <p:extLst>
      <p:ext uri="{BB962C8B-B14F-4D97-AF65-F5344CB8AC3E}">
        <p14:creationId xmlns:p14="http://schemas.microsoft.com/office/powerpoint/2010/main" val="697828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CC2DFAD5-16EC-3BD7-2DD3-31398BB388F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6029" y="1780525"/>
            <a:ext cx="3856218" cy="1802782"/>
          </a:xfrm>
          <a:prstGeom prst="rect">
            <a:avLst/>
          </a:prstGeom>
          <a:noFill/>
          <a:ln>
            <a:noFill/>
          </a:ln>
        </p:spPr>
      </p:pic>
      <p:pic>
        <p:nvPicPr>
          <p:cNvPr id="5" name="Image 4">
            <a:extLst>
              <a:ext uri="{FF2B5EF4-FFF2-40B4-BE49-F238E27FC236}">
                <a16:creationId xmlns:a16="http://schemas.microsoft.com/office/drawing/2014/main" id="{70EF5F7A-2E60-0398-21D4-074D00AA60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808494" y="1753237"/>
            <a:ext cx="3952240" cy="1830070"/>
          </a:xfrm>
          <a:prstGeom prst="rect">
            <a:avLst/>
          </a:prstGeom>
          <a:noFill/>
          <a:ln>
            <a:noFill/>
          </a:ln>
        </p:spPr>
      </p:pic>
      <p:pic>
        <p:nvPicPr>
          <p:cNvPr id="6" name="Image 5">
            <a:extLst>
              <a:ext uri="{FF2B5EF4-FFF2-40B4-BE49-F238E27FC236}">
                <a16:creationId xmlns:a16="http://schemas.microsoft.com/office/drawing/2014/main" id="{DE7BB02A-4575-BA16-2834-D4589BACF6F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9657" y="4850287"/>
            <a:ext cx="3856218" cy="1691523"/>
          </a:xfrm>
          <a:prstGeom prst="rect">
            <a:avLst/>
          </a:prstGeom>
          <a:noFill/>
          <a:ln>
            <a:noFill/>
          </a:ln>
        </p:spPr>
      </p:pic>
      <p:sp>
        <p:nvSpPr>
          <p:cNvPr id="7" name="ZoneTexte 6">
            <a:extLst>
              <a:ext uri="{FF2B5EF4-FFF2-40B4-BE49-F238E27FC236}">
                <a16:creationId xmlns:a16="http://schemas.microsoft.com/office/drawing/2014/main" id="{EB39821C-3BE5-2024-A752-EF1F6444B176}"/>
              </a:ext>
            </a:extLst>
          </p:cNvPr>
          <p:cNvSpPr txBox="1"/>
          <p:nvPr/>
        </p:nvSpPr>
        <p:spPr>
          <a:xfrm>
            <a:off x="2917371" y="722809"/>
            <a:ext cx="6096000" cy="646331"/>
          </a:xfrm>
          <a:prstGeom prst="rect">
            <a:avLst/>
          </a:prstGeom>
          <a:noFill/>
        </p:spPr>
        <p:txBody>
          <a:bodyPr wrap="square">
            <a:spAutoFit/>
          </a:bodyPr>
          <a:lstStyle/>
          <a:p>
            <a:r>
              <a:rPr lang="fr-FR" sz="3600" dirty="0"/>
              <a:t>Création d'un tableau de bord </a:t>
            </a:r>
          </a:p>
        </p:txBody>
      </p:sp>
      <p:sp>
        <p:nvSpPr>
          <p:cNvPr id="10" name="ZoneTexte 9">
            <a:extLst>
              <a:ext uri="{FF2B5EF4-FFF2-40B4-BE49-F238E27FC236}">
                <a16:creationId xmlns:a16="http://schemas.microsoft.com/office/drawing/2014/main" id="{558E0431-4647-C3D6-E0D9-CC09A1F535F3}"/>
              </a:ext>
            </a:extLst>
          </p:cNvPr>
          <p:cNvSpPr txBox="1"/>
          <p:nvPr/>
        </p:nvSpPr>
        <p:spPr>
          <a:xfrm>
            <a:off x="4461901" y="2081751"/>
            <a:ext cx="3006939" cy="1200329"/>
          </a:xfrm>
          <a:prstGeom prst="rect">
            <a:avLst/>
          </a:prstGeom>
          <a:noFill/>
        </p:spPr>
        <p:txBody>
          <a:bodyPr wrap="square">
            <a:spAutoFit/>
          </a:bodyPr>
          <a:lstStyle/>
          <a:p>
            <a:r>
              <a:rPr lang="fr-FR" dirty="0"/>
              <a:t>Requête SPL permet de compter le nombre d'événements générés par chaque machine</a:t>
            </a:r>
          </a:p>
        </p:txBody>
      </p:sp>
      <p:cxnSp>
        <p:nvCxnSpPr>
          <p:cNvPr id="14" name="Connecteur droit avec flèche 13">
            <a:extLst>
              <a:ext uri="{FF2B5EF4-FFF2-40B4-BE49-F238E27FC236}">
                <a16:creationId xmlns:a16="http://schemas.microsoft.com/office/drawing/2014/main" id="{28386B2A-2252-98D3-2B0E-51D775FE97DA}"/>
              </a:ext>
            </a:extLst>
          </p:cNvPr>
          <p:cNvCxnSpPr/>
          <p:nvPr/>
        </p:nvCxnSpPr>
        <p:spPr>
          <a:xfrm flipH="1" flipV="1">
            <a:off x="2194138" y="2525486"/>
            <a:ext cx="2267763" cy="406400"/>
          </a:xfrm>
          <a:prstGeom prst="straightConnector1">
            <a:avLst/>
          </a:prstGeom>
          <a:ln>
            <a:tailEnd type="triangle"/>
          </a:ln>
        </p:spPr>
        <p:style>
          <a:lnRef idx="3">
            <a:schemeClr val="accent3"/>
          </a:lnRef>
          <a:fillRef idx="0">
            <a:schemeClr val="accent3"/>
          </a:fillRef>
          <a:effectRef idx="2">
            <a:schemeClr val="accent3"/>
          </a:effectRef>
          <a:fontRef idx="minor">
            <a:schemeClr val="tx1"/>
          </a:fontRef>
        </p:style>
      </p:cxnSp>
      <p:sp>
        <p:nvSpPr>
          <p:cNvPr id="17" name="ZoneTexte 16">
            <a:extLst>
              <a:ext uri="{FF2B5EF4-FFF2-40B4-BE49-F238E27FC236}">
                <a16:creationId xmlns:a16="http://schemas.microsoft.com/office/drawing/2014/main" id="{68FE22A3-583A-B7A3-6CA9-C21301CFE052}"/>
              </a:ext>
            </a:extLst>
          </p:cNvPr>
          <p:cNvSpPr txBox="1"/>
          <p:nvPr/>
        </p:nvSpPr>
        <p:spPr>
          <a:xfrm>
            <a:off x="7953637" y="3759200"/>
            <a:ext cx="3381829" cy="923330"/>
          </a:xfrm>
          <a:prstGeom prst="rect">
            <a:avLst/>
          </a:prstGeom>
          <a:noFill/>
        </p:spPr>
        <p:txBody>
          <a:bodyPr wrap="square" rtlCol="0">
            <a:spAutoFit/>
          </a:bodyPr>
          <a:lstStyle/>
          <a:p>
            <a:r>
              <a:rPr lang="fr-FR" dirty="0"/>
              <a:t>Requête SPL permet d'identifier les ouvertures de session avec privilèges élevés</a:t>
            </a:r>
          </a:p>
        </p:txBody>
      </p:sp>
      <p:cxnSp>
        <p:nvCxnSpPr>
          <p:cNvPr id="19" name="Connecteur droit avec flèche 18">
            <a:extLst>
              <a:ext uri="{FF2B5EF4-FFF2-40B4-BE49-F238E27FC236}">
                <a16:creationId xmlns:a16="http://schemas.microsoft.com/office/drawing/2014/main" id="{61838B1B-BC67-6D01-D1B5-85BF17B67D78}"/>
              </a:ext>
            </a:extLst>
          </p:cNvPr>
          <p:cNvCxnSpPr>
            <a:cxnSpLocks/>
          </p:cNvCxnSpPr>
          <p:nvPr/>
        </p:nvCxnSpPr>
        <p:spPr>
          <a:xfrm flipH="1" flipV="1">
            <a:off x="9644551" y="2668272"/>
            <a:ext cx="588020" cy="1090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ZoneTexte 21">
            <a:extLst>
              <a:ext uri="{FF2B5EF4-FFF2-40B4-BE49-F238E27FC236}">
                <a16:creationId xmlns:a16="http://schemas.microsoft.com/office/drawing/2014/main" id="{FB7C31DF-C5D5-6E7B-4EFF-F99E2195B06B}"/>
              </a:ext>
            </a:extLst>
          </p:cNvPr>
          <p:cNvSpPr txBox="1"/>
          <p:nvPr/>
        </p:nvSpPr>
        <p:spPr>
          <a:xfrm>
            <a:off x="5965370" y="5372882"/>
            <a:ext cx="4760686" cy="646331"/>
          </a:xfrm>
          <a:prstGeom prst="rect">
            <a:avLst/>
          </a:prstGeom>
          <a:noFill/>
        </p:spPr>
        <p:txBody>
          <a:bodyPr wrap="square" rtlCol="0">
            <a:spAutoFit/>
          </a:bodyPr>
          <a:lstStyle/>
          <a:p>
            <a:r>
              <a:rPr lang="fr-FR" dirty="0"/>
              <a:t>Requête SPL permet de détecter les tentatives de connexion échouées</a:t>
            </a:r>
          </a:p>
        </p:txBody>
      </p:sp>
      <p:cxnSp>
        <p:nvCxnSpPr>
          <p:cNvPr id="24" name="Connecteur droit avec flèche 23">
            <a:extLst>
              <a:ext uri="{FF2B5EF4-FFF2-40B4-BE49-F238E27FC236}">
                <a16:creationId xmlns:a16="http://schemas.microsoft.com/office/drawing/2014/main" id="{9A843E6D-E7E2-1959-0643-40464758BD89}"/>
              </a:ext>
            </a:extLst>
          </p:cNvPr>
          <p:cNvCxnSpPr>
            <a:stCxn id="22" idx="1"/>
          </p:cNvCxnSpPr>
          <p:nvPr/>
        </p:nvCxnSpPr>
        <p:spPr>
          <a:xfrm flipH="1">
            <a:off x="3328019" y="5696048"/>
            <a:ext cx="26373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37379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51F0AD9-A807-D8BF-F3A8-F9BF060FB4E2}"/>
              </a:ext>
            </a:extLst>
          </p:cNvPr>
          <p:cNvPicPr>
            <a:picLocks noChangeAspect="1"/>
          </p:cNvPicPr>
          <p:nvPr/>
        </p:nvPicPr>
        <p:blipFill>
          <a:blip r:embed="rId2"/>
          <a:stretch>
            <a:fillRect/>
          </a:stretch>
        </p:blipFill>
        <p:spPr>
          <a:xfrm>
            <a:off x="2231571" y="1963478"/>
            <a:ext cx="7728857" cy="3100860"/>
          </a:xfrm>
          <a:prstGeom prst="rect">
            <a:avLst/>
          </a:prstGeom>
        </p:spPr>
      </p:pic>
      <p:sp>
        <p:nvSpPr>
          <p:cNvPr id="7" name="ZoneTexte 6">
            <a:extLst>
              <a:ext uri="{FF2B5EF4-FFF2-40B4-BE49-F238E27FC236}">
                <a16:creationId xmlns:a16="http://schemas.microsoft.com/office/drawing/2014/main" id="{76AAE380-F909-AAF2-51EA-E08AA261B7AB}"/>
              </a:ext>
            </a:extLst>
          </p:cNvPr>
          <p:cNvSpPr txBox="1"/>
          <p:nvPr/>
        </p:nvSpPr>
        <p:spPr>
          <a:xfrm>
            <a:off x="1683657" y="5170492"/>
            <a:ext cx="7837714" cy="646331"/>
          </a:xfrm>
          <a:prstGeom prst="rect">
            <a:avLst/>
          </a:prstGeom>
          <a:noFill/>
        </p:spPr>
        <p:txBody>
          <a:bodyPr wrap="square">
            <a:spAutoFit/>
          </a:bodyPr>
          <a:lstStyle/>
          <a:p>
            <a:r>
              <a:rPr lang="fr-FR" dirty="0"/>
              <a:t>Ce tableau de bord permet de visualiser les activités des comptes administrateurs, notamment les ouvertures de session root</a:t>
            </a:r>
          </a:p>
        </p:txBody>
      </p:sp>
      <p:sp>
        <p:nvSpPr>
          <p:cNvPr id="8" name="ZoneTexte 7">
            <a:extLst>
              <a:ext uri="{FF2B5EF4-FFF2-40B4-BE49-F238E27FC236}">
                <a16:creationId xmlns:a16="http://schemas.microsoft.com/office/drawing/2014/main" id="{F3647B26-AE57-70C3-C575-9D0EC983B00C}"/>
              </a:ext>
            </a:extLst>
          </p:cNvPr>
          <p:cNvSpPr txBox="1"/>
          <p:nvPr/>
        </p:nvSpPr>
        <p:spPr>
          <a:xfrm>
            <a:off x="2656113" y="656995"/>
            <a:ext cx="8128001" cy="1200329"/>
          </a:xfrm>
          <a:prstGeom prst="rect">
            <a:avLst/>
          </a:prstGeom>
          <a:noFill/>
        </p:spPr>
        <p:txBody>
          <a:bodyPr wrap="square" rtlCol="0">
            <a:spAutoFit/>
          </a:bodyPr>
          <a:lstStyle/>
          <a:p>
            <a:r>
              <a:rPr lang="fr-FR" sz="3600" dirty="0"/>
              <a:t>Résultat du  tableau de bord Activité Admin</a:t>
            </a:r>
          </a:p>
        </p:txBody>
      </p:sp>
    </p:spTree>
    <p:extLst>
      <p:ext uri="{BB962C8B-B14F-4D97-AF65-F5344CB8AC3E}">
        <p14:creationId xmlns:p14="http://schemas.microsoft.com/office/powerpoint/2010/main" val="2401402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6C0897-BA90-E0EC-BB0B-515A9508DDCA}"/>
              </a:ext>
            </a:extLst>
          </p:cNvPr>
          <p:cNvSpPr>
            <a:spLocks noGrp="1"/>
          </p:cNvSpPr>
          <p:nvPr>
            <p:ph type="title"/>
          </p:nvPr>
        </p:nvSpPr>
        <p:spPr>
          <a:xfrm>
            <a:off x="652517" y="192252"/>
            <a:ext cx="10364451" cy="1596177"/>
          </a:xfrm>
        </p:spPr>
        <p:txBody>
          <a:bodyPr/>
          <a:lstStyle/>
          <a:p>
            <a:r>
              <a:rPr lang="fr-FR" dirty="0">
                <a:solidFill>
                  <a:schemeClr val="tx1"/>
                </a:solidFill>
              </a:rPr>
              <a:t>Phase 5 Simulation d’attaque</a:t>
            </a:r>
          </a:p>
        </p:txBody>
      </p:sp>
      <p:pic>
        <p:nvPicPr>
          <p:cNvPr id="4" name="Espace réservé du contenu 3">
            <a:extLst>
              <a:ext uri="{FF2B5EF4-FFF2-40B4-BE49-F238E27FC236}">
                <a16:creationId xmlns:a16="http://schemas.microsoft.com/office/drawing/2014/main" id="{68E3CAC3-1C33-606A-7B99-39C2B340375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3204" y="2582641"/>
            <a:ext cx="8596312" cy="1634834"/>
          </a:xfrm>
          <a:prstGeom prst="rect">
            <a:avLst/>
          </a:prstGeom>
          <a:noFill/>
          <a:ln>
            <a:noFill/>
          </a:ln>
        </p:spPr>
      </p:pic>
      <p:sp>
        <p:nvSpPr>
          <p:cNvPr id="6" name="ZoneTexte 5">
            <a:extLst>
              <a:ext uri="{FF2B5EF4-FFF2-40B4-BE49-F238E27FC236}">
                <a16:creationId xmlns:a16="http://schemas.microsoft.com/office/drawing/2014/main" id="{7E5BB518-0924-68A8-BE35-ED0F14574FE9}"/>
              </a:ext>
            </a:extLst>
          </p:cNvPr>
          <p:cNvSpPr txBox="1"/>
          <p:nvPr/>
        </p:nvSpPr>
        <p:spPr>
          <a:xfrm>
            <a:off x="652517" y="1830674"/>
            <a:ext cx="6096000" cy="369332"/>
          </a:xfrm>
          <a:prstGeom prst="rect">
            <a:avLst/>
          </a:prstGeom>
          <a:noFill/>
        </p:spPr>
        <p:txBody>
          <a:bodyPr wrap="square">
            <a:spAutoFit/>
          </a:bodyPr>
          <a:lstStyle/>
          <a:p>
            <a:pPr>
              <a:buNone/>
            </a:pPr>
            <a:r>
              <a:rPr lang="fr-FR" b="1" dirty="0"/>
              <a:t>Simulation d'une attaque par force brute SSH avec Hydra</a:t>
            </a:r>
            <a:endParaRPr lang="fr-FR" dirty="0"/>
          </a:p>
        </p:txBody>
      </p:sp>
      <p:sp>
        <p:nvSpPr>
          <p:cNvPr id="8" name="ZoneTexte 7">
            <a:extLst>
              <a:ext uri="{FF2B5EF4-FFF2-40B4-BE49-F238E27FC236}">
                <a16:creationId xmlns:a16="http://schemas.microsoft.com/office/drawing/2014/main" id="{DA6B551C-E70A-336D-E5CE-5C8F9296502F}"/>
              </a:ext>
            </a:extLst>
          </p:cNvPr>
          <p:cNvSpPr txBox="1"/>
          <p:nvPr/>
        </p:nvSpPr>
        <p:spPr>
          <a:xfrm>
            <a:off x="124502" y="5240342"/>
            <a:ext cx="10364450" cy="923330"/>
          </a:xfrm>
          <a:prstGeom prst="rect">
            <a:avLst/>
          </a:prstGeom>
          <a:noFill/>
        </p:spPr>
        <p:txBody>
          <a:bodyPr wrap="square">
            <a:spAutoFit/>
          </a:bodyPr>
          <a:lstStyle/>
          <a:p>
            <a:pPr>
              <a:buNone/>
            </a:pPr>
            <a:r>
              <a:rPr lang="fr-FR" dirty="0"/>
              <a:t>Cette simulation d'attaque avec Hydra cible le service SSH afin de tester son exposition. Le résultat "Connection </a:t>
            </a:r>
            <a:r>
              <a:rPr lang="fr-FR" dirty="0" err="1"/>
              <a:t>refused</a:t>
            </a:r>
            <a:r>
              <a:rPr lang="fr-FR" dirty="0"/>
              <a:t>" indique que le service SSH n'était pas accessible, limitant ainsi les possibilités d'une attaque par force brute.</a:t>
            </a:r>
          </a:p>
        </p:txBody>
      </p:sp>
      <p:sp>
        <p:nvSpPr>
          <p:cNvPr id="9" name="Rectangle 8">
            <a:extLst>
              <a:ext uri="{FF2B5EF4-FFF2-40B4-BE49-F238E27FC236}">
                <a16:creationId xmlns:a16="http://schemas.microsoft.com/office/drawing/2014/main" id="{67FFDD88-C466-8077-0D22-DA01158520B1}"/>
              </a:ext>
            </a:extLst>
          </p:cNvPr>
          <p:cNvSpPr/>
          <p:nvPr/>
        </p:nvSpPr>
        <p:spPr>
          <a:xfrm>
            <a:off x="1582056" y="3795852"/>
            <a:ext cx="1306286" cy="22123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566BC238-31B1-E62F-DBAF-60721FC79B95}"/>
              </a:ext>
            </a:extLst>
          </p:cNvPr>
          <p:cNvSpPr txBox="1"/>
          <p:nvPr/>
        </p:nvSpPr>
        <p:spPr>
          <a:xfrm>
            <a:off x="9361715" y="3731850"/>
            <a:ext cx="2496458" cy="646331"/>
          </a:xfrm>
          <a:prstGeom prst="rect">
            <a:avLst/>
          </a:prstGeom>
          <a:noFill/>
        </p:spPr>
        <p:txBody>
          <a:bodyPr wrap="square" rtlCol="0">
            <a:spAutoFit/>
          </a:bodyPr>
          <a:lstStyle/>
          <a:p>
            <a:r>
              <a:rPr lang="fr-FR" dirty="0"/>
              <a:t>Machine cible et service ciblé SSH port 22</a:t>
            </a:r>
          </a:p>
        </p:txBody>
      </p:sp>
      <p:cxnSp>
        <p:nvCxnSpPr>
          <p:cNvPr id="12" name="Connecteur droit avec flèche 11">
            <a:extLst>
              <a:ext uri="{FF2B5EF4-FFF2-40B4-BE49-F238E27FC236}">
                <a16:creationId xmlns:a16="http://schemas.microsoft.com/office/drawing/2014/main" id="{31A39A01-442D-BCA6-D3A2-BD52A7BAB197}"/>
              </a:ext>
            </a:extLst>
          </p:cNvPr>
          <p:cNvCxnSpPr>
            <a:cxnSpLocks/>
          </p:cNvCxnSpPr>
          <p:nvPr/>
        </p:nvCxnSpPr>
        <p:spPr>
          <a:xfrm flipV="1">
            <a:off x="2888342" y="3906467"/>
            <a:ext cx="6357258" cy="20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14081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548AA39C-6AFD-EF3A-425D-3E4D79689A4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98189" y="1999994"/>
            <a:ext cx="7895963" cy="2310747"/>
          </a:xfrm>
          <a:prstGeom prst="rect">
            <a:avLst/>
          </a:prstGeom>
          <a:noFill/>
          <a:ln>
            <a:noFill/>
          </a:ln>
        </p:spPr>
      </p:pic>
      <p:sp>
        <p:nvSpPr>
          <p:cNvPr id="6" name="ZoneTexte 5">
            <a:extLst>
              <a:ext uri="{FF2B5EF4-FFF2-40B4-BE49-F238E27FC236}">
                <a16:creationId xmlns:a16="http://schemas.microsoft.com/office/drawing/2014/main" id="{8D9C5655-4D67-4349-81DA-7E70FD388D03}"/>
              </a:ext>
            </a:extLst>
          </p:cNvPr>
          <p:cNvSpPr txBox="1"/>
          <p:nvPr/>
        </p:nvSpPr>
        <p:spPr>
          <a:xfrm>
            <a:off x="957943" y="589095"/>
            <a:ext cx="9100457" cy="1200329"/>
          </a:xfrm>
          <a:prstGeom prst="rect">
            <a:avLst/>
          </a:prstGeom>
          <a:noFill/>
        </p:spPr>
        <p:txBody>
          <a:bodyPr wrap="square" rtlCol="0">
            <a:spAutoFit/>
          </a:bodyPr>
          <a:lstStyle/>
          <a:p>
            <a:r>
              <a:rPr lang="fr-FR" sz="3600" dirty="0"/>
              <a:t>Simulation d'une attaque par force brute RDP avec Hydra</a:t>
            </a:r>
          </a:p>
        </p:txBody>
      </p:sp>
      <p:sp>
        <p:nvSpPr>
          <p:cNvPr id="9" name="Rectangle 8">
            <a:extLst>
              <a:ext uri="{FF2B5EF4-FFF2-40B4-BE49-F238E27FC236}">
                <a16:creationId xmlns:a16="http://schemas.microsoft.com/office/drawing/2014/main" id="{F70C037D-3FC4-FB60-97AC-437AAD4E1D77}"/>
              </a:ext>
            </a:extLst>
          </p:cNvPr>
          <p:cNvSpPr/>
          <p:nvPr/>
        </p:nvSpPr>
        <p:spPr>
          <a:xfrm>
            <a:off x="1451427" y="1999994"/>
            <a:ext cx="3701144" cy="20617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 name="Connecteur droit avec flèche 10">
            <a:extLst>
              <a:ext uri="{FF2B5EF4-FFF2-40B4-BE49-F238E27FC236}">
                <a16:creationId xmlns:a16="http://schemas.microsoft.com/office/drawing/2014/main" id="{E5B133AA-781C-0803-F0E7-3221BA5DE86C}"/>
              </a:ext>
            </a:extLst>
          </p:cNvPr>
          <p:cNvCxnSpPr>
            <a:cxnSpLocks/>
          </p:cNvCxnSpPr>
          <p:nvPr/>
        </p:nvCxnSpPr>
        <p:spPr>
          <a:xfrm flipH="1">
            <a:off x="5152571" y="2206171"/>
            <a:ext cx="44704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ZoneTexte 13">
            <a:extLst>
              <a:ext uri="{FF2B5EF4-FFF2-40B4-BE49-F238E27FC236}">
                <a16:creationId xmlns:a16="http://schemas.microsoft.com/office/drawing/2014/main" id="{D4D016BA-019B-CBEA-504B-F7D25C9778B3}"/>
              </a:ext>
            </a:extLst>
          </p:cNvPr>
          <p:cNvSpPr txBox="1"/>
          <p:nvPr/>
        </p:nvSpPr>
        <p:spPr>
          <a:xfrm>
            <a:off x="9681029" y="1789424"/>
            <a:ext cx="2278742" cy="646331"/>
          </a:xfrm>
          <a:prstGeom prst="rect">
            <a:avLst/>
          </a:prstGeom>
          <a:noFill/>
        </p:spPr>
        <p:txBody>
          <a:bodyPr wrap="square" rtlCol="0">
            <a:spAutoFit/>
          </a:bodyPr>
          <a:lstStyle/>
          <a:p>
            <a:r>
              <a:rPr lang="fr-FR" dirty="0"/>
              <a:t>Machine cible : IP</a:t>
            </a:r>
          </a:p>
          <a:p>
            <a:r>
              <a:rPr lang="fr-FR" dirty="0"/>
              <a:t>(RDP - Port 3389)</a:t>
            </a:r>
          </a:p>
        </p:txBody>
      </p:sp>
      <p:sp>
        <p:nvSpPr>
          <p:cNvPr id="15" name="ZoneTexte 14">
            <a:extLst>
              <a:ext uri="{FF2B5EF4-FFF2-40B4-BE49-F238E27FC236}">
                <a16:creationId xmlns:a16="http://schemas.microsoft.com/office/drawing/2014/main" id="{06D939C4-CE5B-C007-D257-57BEFD9D7D71}"/>
              </a:ext>
            </a:extLst>
          </p:cNvPr>
          <p:cNvSpPr txBox="1"/>
          <p:nvPr/>
        </p:nvSpPr>
        <p:spPr>
          <a:xfrm>
            <a:off x="776418" y="5345575"/>
            <a:ext cx="10043982" cy="923330"/>
          </a:xfrm>
          <a:prstGeom prst="rect">
            <a:avLst/>
          </a:prstGeom>
          <a:noFill/>
        </p:spPr>
        <p:txBody>
          <a:bodyPr wrap="square" rtlCol="0">
            <a:spAutoFit/>
          </a:bodyPr>
          <a:lstStyle/>
          <a:p>
            <a:r>
              <a:rPr lang="fr-FR" dirty="0"/>
              <a:t>Cette simulation d'attaque RDP avec Hydra montre que, malgré la détection d'un compte potentiellement valide, les connexions Bureau à distance étaient refusées, empêchant ainsi la réussite de l'attaque.</a:t>
            </a:r>
          </a:p>
          <a:p>
            <a:endParaRPr lang="fr-FR" dirty="0"/>
          </a:p>
        </p:txBody>
      </p:sp>
      <p:sp>
        <p:nvSpPr>
          <p:cNvPr id="16" name="ZoneTexte 15">
            <a:extLst>
              <a:ext uri="{FF2B5EF4-FFF2-40B4-BE49-F238E27FC236}">
                <a16:creationId xmlns:a16="http://schemas.microsoft.com/office/drawing/2014/main" id="{3527EB82-4AA0-92F8-AF65-E13365A70946}"/>
              </a:ext>
            </a:extLst>
          </p:cNvPr>
          <p:cNvSpPr txBox="1"/>
          <p:nvPr/>
        </p:nvSpPr>
        <p:spPr>
          <a:xfrm>
            <a:off x="9768114" y="2572819"/>
            <a:ext cx="2104572" cy="923330"/>
          </a:xfrm>
          <a:prstGeom prst="rect">
            <a:avLst/>
          </a:prstGeom>
          <a:noFill/>
        </p:spPr>
        <p:txBody>
          <a:bodyPr wrap="square" rtlCol="0">
            <a:spAutoFit/>
          </a:bodyPr>
          <a:lstStyle/>
          <a:p>
            <a:r>
              <a:rPr lang="fr-FR" dirty="0"/>
              <a:t>Compte utilisateur détecté</a:t>
            </a:r>
          </a:p>
          <a:p>
            <a:endParaRPr lang="fr-FR" dirty="0"/>
          </a:p>
        </p:txBody>
      </p:sp>
      <p:sp>
        <p:nvSpPr>
          <p:cNvPr id="18" name="ZoneTexte 17">
            <a:extLst>
              <a:ext uri="{FF2B5EF4-FFF2-40B4-BE49-F238E27FC236}">
                <a16:creationId xmlns:a16="http://schemas.microsoft.com/office/drawing/2014/main" id="{E12ADD3E-62BB-EFD7-CF02-056D89D521D4}"/>
              </a:ext>
            </a:extLst>
          </p:cNvPr>
          <p:cNvSpPr txBox="1"/>
          <p:nvPr/>
        </p:nvSpPr>
        <p:spPr>
          <a:xfrm>
            <a:off x="9681029" y="3303323"/>
            <a:ext cx="2569126" cy="923330"/>
          </a:xfrm>
          <a:prstGeom prst="rect">
            <a:avLst/>
          </a:prstGeom>
          <a:noFill/>
        </p:spPr>
        <p:txBody>
          <a:bodyPr wrap="square" rtlCol="0">
            <a:spAutoFit/>
          </a:bodyPr>
          <a:lstStyle/>
          <a:p>
            <a:r>
              <a:rPr lang="fr-FR" dirty="0"/>
              <a:t>Connexion refusée : la tentative d'attaque a échoué</a:t>
            </a:r>
          </a:p>
        </p:txBody>
      </p:sp>
      <p:cxnSp>
        <p:nvCxnSpPr>
          <p:cNvPr id="20" name="Connecteur droit avec flèche 19">
            <a:extLst>
              <a:ext uri="{FF2B5EF4-FFF2-40B4-BE49-F238E27FC236}">
                <a16:creationId xmlns:a16="http://schemas.microsoft.com/office/drawing/2014/main" id="{CF35FD9C-6D6B-B597-5764-4E95C26FD0B4}"/>
              </a:ext>
            </a:extLst>
          </p:cNvPr>
          <p:cNvCxnSpPr>
            <a:cxnSpLocks/>
          </p:cNvCxnSpPr>
          <p:nvPr/>
        </p:nvCxnSpPr>
        <p:spPr>
          <a:xfrm flipH="1" flipV="1">
            <a:off x="5617029" y="2390859"/>
            <a:ext cx="4064000" cy="43339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Connecteur droit avec flèche 21">
            <a:extLst>
              <a:ext uri="{FF2B5EF4-FFF2-40B4-BE49-F238E27FC236}">
                <a16:creationId xmlns:a16="http://schemas.microsoft.com/office/drawing/2014/main" id="{1A84023E-8FD8-FB89-3A44-AE7EE7535275}"/>
              </a:ext>
            </a:extLst>
          </p:cNvPr>
          <p:cNvCxnSpPr>
            <a:stCxn id="18" idx="1"/>
          </p:cNvCxnSpPr>
          <p:nvPr/>
        </p:nvCxnSpPr>
        <p:spPr>
          <a:xfrm flipH="1" flipV="1">
            <a:off x="5508171" y="3541486"/>
            <a:ext cx="4172858" cy="223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5249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08BEFB-78EB-D31A-E61D-071147CDCB06}"/>
              </a:ext>
            </a:extLst>
          </p:cNvPr>
          <p:cNvSpPr>
            <a:spLocks noGrp="1"/>
          </p:cNvSpPr>
          <p:nvPr>
            <p:ph type="title"/>
          </p:nvPr>
        </p:nvSpPr>
        <p:spPr>
          <a:xfrm>
            <a:off x="820367" y="105146"/>
            <a:ext cx="10364451" cy="1596177"/>
          </a:xfrm>
        </p:spPr>
        <p:txBody>
          <a:bodyPr/>
          <a:lstStyle/>
          <a:p>
            <a:r>
              <a:rPr lang="fr-FR" dirty="0">
                <a:solidFill>
                  <a:schemeClr val="tx1"/>
                </a:solidFill>
              </a:rPr>
              <a:t>Phase 6 – Confinement de l'incident</a:t>
            </a:r>
            <a:endParaRPr lang="fr-FR" dirty="0"/>
          </a:p>
        </p:txBody>
      </p:sp>
      <p:pic>
        <p:nvPicPr>
          <p:cNvPr id="4" name="Espace réservé du contenu 3">
            <a:extLst>
              <a:ext uri="{FF2B5EF4-FFF2-40B4-BE49-F238E27FC236}">
                <a16:creationId xmlns:a16="http://schemas.microsoft.com/office/drawing/2014/main" id="{EF219C74-C267-A0A5-BC0E-CAF6BD8D9F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511277" y="2096338"/>
            <a:ext cx="6194922" cy="3424237"/>
          </a:xfrm>
          <a:prstGeom prst="rect">
            <a:avLst/>
          </a:prstGeom>
          <a:noFill/>
          <a:ln>
            <a:noFill/>
          </a:ln>
        </p:spPr>
      </p:pic>
      <p:pic>
        <p:nvPicPr>
          <p:cNvPr id="5" name="Image 4">
            <a:extLst>
              <a:ext uri="{FF2B5EF4-FFF2-40B4-BE49-F238E27FC236}">
                <a16:creationId xmlns:a16="http://schemas.microsoft.com/office/drawing/2014/main" id="{EAF82597-12CF-032A-35F7-8C8F998633FA}"/>
              </a:ext>
            </a:extLst>
          </p:cNvPr>
          <p:cNvPicPr>
            <a:picLocks noChangeAspect="1"/>
          </p:cNvPicPr>
          <p:nvPr/>
        </p:nvPicPr>
        <p:blipFill>
          <a:blip r:embed="rId3"/>
          <a:stretch>
            <a:fillRect/>
          </a:stretch>
        </p:blipFill>
        <p:spPr>
          <a:xfrm>
            <a:off x="936993" y="1480417"/>
            <a:ext cx="5141800" cy="410615"/>
          </a:xfrm>
          <a:prstGeom prst="rect">
            <a:avLst/>
          </a:prstGeom>
        </p:spPr>
      </p:pic>
      <p:cxnSp>
        <p:nvCxnSpPr>
          <p:cNvPr id="14" name="Connecteur droit avec flèche 13">
            <a:extLst>
              <a:ext uri="{FF2B5EF4-FFF2-40B4-BE49-F238E27FC236}">
                <a16:creationId xmlns:a16="http://schemas.microsoft.com/office/drawing/2014/main" id="{43CF086B-4F5F-4220-BF85-AA200D4D8C94}"/>
              </a:ext>
            </a:extLst>
          </p:cNvPr>
          <p:cNvCxnSpPr/>
          <p:nvPr/>
        </p:nvCxnSpPr>
        <p:spPr>
          <a:xfrm flipH="1">
            <a:off x="3751007" y="4085304"/>
            <a:ext cx="39771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ZoneTexte 15">
            <a:extLst>
              <a:ext uri="{FF2B5EF4-FFF2-40B4-BE49-F238E27FC236}">
                <a16:creationId xmlns:a16="http://schemas.microsoft.com/office/drawing/2014/main" id="{D8CD094C-2418-DC45-AF99-56177CCCF443}"/>
              </a:ext>
            </a:extLst>
          </p:cNvPr>
          <p:cNvSpPr txBox="1"/>
          <p:nvPr/>
        </p:nvSpPr>
        <p:spPr>
          <a:xfrm>
            <a:off x="8215000" y="3872751"/>
            <a:ext cx="2714004" cy="646331"/>
          </a:xfrm>
          <a:prstGeom prst="rect">
            <a:avLst/>
          </a:prstGeom>
          <a:noFill/>
        </p:spPr>
        <p:txBody>
          <a:bodyPr wrap="square" rtlCol="0">
            <a:spAutoFit/>
          </a:bodyPr>
          <a:lstStyle/>
          <a:p>
            <a:r>
              <a:rPr lang="fr-FR" b="1" dirty="0"/>
              <a:t>Machine source de l'attaque</a:t>
            </a:r>
            <a:endParaRPr lang="fr-FR" dirty="0"/>
          </a:p>
        </p:txBody>
      </p:sp>
      <p:cxnSp>
        <p:nvCxnSpPr>
          <p:cNvPr id="21" name="Connecteur droit avec flèche 20">
            <a:extLst>
              <a:ext uri="{FF2B5EF4-FFF2-40B4-BE49-F238E27FC236}">
                <a16:creationId xmlns:a16="http://schemas.microsoft.com/office/drawing/2014/main" id="{D4286670-9FE7-7885-3D05-DB3D63337131}"/>
              </a:ext>
            </a:extLst>
          </p:cNvPr>
          <p:cNvCxnSpPr>
            <a:cxnSpLocks/>
          </p:cNvCxnSpPr>
          <p:nvPr/>
        </p:nvCxnSpPr>
        <p:spPr>
          <a:xfrm flipH="1" flipV="1">
            <a:off x="4222954" y="4290611"/>
            <a:ext cx="3746091" cy="959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ZoneTexte 21">
            <a:extLst>
              <a:ext uri="{FF2B5EF4-FFF2-40B4-BE49-F238E27FC236}">
                <a16:creationId xmlns:a16="http://schemas.microsoft.com/office/drawing/2014/main" id="{804222F7-7BFA-48D0-7DD1-E8159259344E}"/>
              </a:ext>
            </a:extLst>
          </p:cNvPr>
          <p:cNvSpPr txBox="1"/>
          <p:nvPr/>
        </p:nvSpPr>
        <p:spPr>
          <a:xfrm>
            <a:off x="8215000" y="4969183"/>
            <a:ext cx="2625813" cy="646331"/>
          </a:xfrm>
          <a:prstGeom prst="rect">
            <a:avLst/>
          </a:prstGeom>
          <a:noFill/>
        </p:spPr>
        <p:txBody>
          <a:bodyPr wrap="square" rtlCol="0">
            <a:spAutoFit/>
          </a:bodyPr>
          <a:lstStyle/>
          <a:p>
            <a:r>
              <a:rPr lang="fr-FR" b="1" dirty="0"/>
              <a:t>Adresse IP de l'attaquant identifiée</a:t>
            </a:r>
            <a:endParaRPr lang="fr-FR" dirty="0"/>
          </a:p>
        </p:txBody>
      </p:sp>
      <p:cxnSp>
        <p:nvCxnSpPr>
          <p:cNvPr id="24" name="Connecteur droit avec flèche 23">
            <a:extLst>
              <a:ext uri="{FF2B5EF4-FFF2-40B4-BE49-F238E27FC236}">
                <a16:creationId xmlns:a16="http://schemas.microsoft.com/office/drawing/2014/main" id="{A3BCB90B-2169-1066-B218-B2A07C4A024E}"/>
              </a:ext>
            </a:extLst>
          </p:cNvPr>
          <p:cNvCxnSpPr>
            <a:cxnSpLocks/>
          </p:cNvCxnSpPr>
          <p:nvPr/>
        </p:nvCxnSpPr>
        <p:spPr>
          <a:xfrm flipH="1">
            <a:off x="6706199" y="2403987"/>
            <a:ext cx="155289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ZoneTexte 29">
            <a:extLst>
              <a:ext uri="{FF2B5EF4-FFF2-40B4-BE49-F238E27FC236}">
                <a16:creationId xmlns:a16="http://schemas.microsoft.com/office/drawing/2014/main" id="{814E6251-AC1B-7991-F3E5-A1BB8C3320F0}"/>
              </a:ext>
            </a:extLst>
          </p:cNvPr>
          <p:cNvSpPr txBox="1"/>
          <p:nvPr/>
        </p:nvSpPr>
        <p:spPr>
          <a:xfrm>
            <a:off x="8450975" y="2129988"/>
            <a:ext cx="3229748" cy="646331"/>
          </a:xfrm>
          <a:prstGeom prst="rect">
            <a:avLst/>
          </a:prstGeom>
          <a:noFill/>
        </p:spPr>
        <p:txBody>
          <a:bodyPr wrap="square" rtlCol="0">
            <a:spAutoFit/>
          </a:bodyPr>
          <a:lstStyle/>
          <a:p>
            <a:r>
              <a:rPr lang="fr-FR" b="1" dirty="0"/>
              <a:t>Échec de l'authentification détecté</a:t>
            </a:r>
            <a:endParaRPr lang="fr-FR" dirty="0"/>
          </a:p>
        </p:txBody>
      </p:sp>
      <p:cxnSp>
        <p:nvCxnSpPr>
          <p:cNvPr id="36" name="Connecteur droit avec flèche 35">
            <a:extLst>
              <a:ext uri="{FF2B5EF4-FFF2-40B4-BE49-F238E27FC236}">
                <a16:creationId xmlns:a16="http://schemas.microsoft.com/office/drawing/2014/main" id="{1BA9B5A5-8D62-39B9-4030-2EFA0F258CA5}"/>
              </a:ext>
            </a:extLst>
          </p:cNvPr>
          <p:cNvCxnSpPr>
            <a:cxnSpLocks/>
            <a:stCxn id="38" idx="1"/>
          </p:cNvCxnSpPr>
          <p:nvPr/>
        </p:nvCxnSpPr>
        <p:spPr>
          <a:xfrm flipH="1">
            <a:off x="4011561" y="1775055"/>
            <a:ext cx="43563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ZoneTexte 37">
            <a:extLst>
              <a:ext uri="{FF2B5EF4-FFF2-40B4-BE49-F238E27FC236}">
                <a16:creationId xmlns:a16="http://schemas.microsoft.com/office/drawing/2014/main" id="{564C5525-2E86-F655-B107-B6CC1CDDB4C1}"/>
              </a:ext>
            </a:extLst>
          </p:cNvPr>
          <p:cNvSpPr txBox="1"/>
          <p:nvPr/>
        </p:nvSpPr>
        <p:spPr>
          <a:xfrm>
            <a:off x="8367876" y="1590389"/>
            <a:ext cx="2816942" cy="369332"/>
          </a:xfrm>
          <a:prstGeom prst="rect">
            <a:avLst/>
          </a:prstGeom>
          <a:noFill/>
        </p:spPr>
        <p:txBody>
          <a:bodyPr wrap="square" rtlCol="0">
            <a:spAutoFit/>
          </a:bodyPr>
          <a:lstStyle/>
          <a:p>
            <a:r>
              <a:rPr lang="fr-FR" b="1" dirty="0"/>
              <a:t>Requête SQL</a:t>
            </a:r>
          </a:p>
        </p:txBody>
      </p:sp>
      <p:sp>
        <p:nvSpPr>
          <p:cNvPr id="43" name="ZoneTexte 42">
            <a:extLst>
              <a:ext uri="{FF2B5EF4-FFF2-40B4-BE49-F238E27FC236}">
                <a16:creationId xmlns:a16="http://schemas.microsoft.com/office/drawing/2014/main" id="{C26BA189-E71D-B0A1-A0B4-61C90061B27D}"/>
              </a:ext>
            </a:extLst>
          </p:cNvPr>
          <p:cNvSpPr txBox="1"/>
          <p:nvPr/>
        </p:nvSpPr>
        <p:spPr>
          <a:xfrm>
            <a:off x="511277" y="5736978"/>
            <a:ext cx="10048568" cy="923330"/>
          </a:xfrm>
          <a:prstGeom prst="rect">
            <a:avLst/>
          </a:prstGeom>
          <a:noFill/>
        </p:spPr>
        <p:txBody>
          <a:bodyPr wrap="square">
            <a:spAutoFit/>
          </a:bodyPr>
          <a:lstStyle/>
          <a:p>
            <a:r>
              <a:rPr lang="fr-FR" dirty="0"/>
              <a:t>La requête </a:t>
            </a:r>
            <a:r>
              <a:rPr lang="fr-FR" dirty="0">
                <a:latin typeface="Courier New" panose="02070309020205020404" pitchFamily="49" charset="0"/>
              </a:rPr>
              <a:t>index=* </a:t>
            </a:r>
            <a:r>
              <a:rPr lang="fr-FR" dirty="0" err="1">
                <a:latin typeface="Courier New" panose="02070309020205020404" pitchFamily="49" charset="0"/>
              </a:rPr>
              <a:t>EventCode</a:t>
            </a:r>
            <a:r>
              <a:rPr lang="fr-FR" dirty="0">
                <a:latin typeface="Courier New" panose="02070309020205020404" pitchFamily="49" charset="0"/>
              </a:rPr>
              <a:t>=4625</a:t>
            </a:r>
            <a:r>
              <a:rPr lang="fr-FR" dirty="0"/>
              <a:t> a permis d'identifier l'adresse IP source (192.168.100.130), la machine d'origine (Kali) ainsi que la cause de l'échec de l'authentification, facilitant ainsi l'identification de l'attaquant.</a:t>
            </a:r>
          </a:p>
        </p:txBody>
      </p:sp>
    </p:spTree>
    <p:extLst>
      <p:ext uri="{BB962C8B-B14F-4D97-AF65-F5344CB8AC3E}">
        <p14:creationId xmlns:p14="http://schemas.microsoft.com/office/powerpoint/2010/main" val="603976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A26959-E386-5D58-6F40-798B8EA4B3CB}"/>
              </a:ext>
            </a:extLst>
          </p:cNvPr>
          <p:cNvSpPr>
            <a:spLocks noGrp="1"/>
          </p:cNvSpPr>
          <p:nvPr>
            <p:ph type="title"/>
          </p:nvPr>
        </p:nvSpPr>
        <p:spPr/>
        <p:txBody>
          <a:bodyPr>
            <a:normAutofit/>
          </a:bodyPr>
          <a:lstStyle/>
          <a:p>
            <a:br>
              <a:rPr lang="fr-FR" dirty="0"/>
            </a:br>
            <a:endParaRPr lang="fr-FR" dirty="0"/>
          </a:p>
        </p:txBody>
      </p:sp>
      <p:pic>
        <p:nvPicPr>
          <p:cNvPr id="5" name="Image 4">
            <a:extLst>
              <a:ext uri="{FF2B5EF4-FFF2-40B4-BE49-F238E27FC236}">
                <a16:creationId xmlns:a16="http://schemas.microsoft.com/office/drawing/2014/main" id="{FA39B233-8AE5-7F1B-32F7-0AD42C1B8A86}"/>
              </a:ext>
            </a:extLst>
          </p:cNvPr>
          <p:cNvPicPr>
            <a:picLocks noChangeAspect="1"/>
          </p:cNvPicPr>
          <p:nvPr/>
        </p:nvPicPr>
        <p:blipFill>
          <a:blip r:embed="rId2"/>
          <a:stretch>
            <a:fillRect/>
          </a:stretch>
        </p:blipFill>
        <p:spPr>
          <a:xfrm>
            <a:off x="383066" y="2019300"/>
            <a:ext cx="8775078" cy="2819400"/>
          </a:xfrm>
          <a:prstGeom prst="rect">
            <a:avLst/>
          </a:prstGeom>
        </p:spPr>
      </p:pic>
      <p:sp>
        <p:nvSpPr>
          <p:cNvPr id="6" name="ZoneTexte 5">
            <a:extLst>
              <a:ext uri="{FF2B5EF4-FFF2-40B4-BE49-F238E27FC236}">
                <a16:creationId xmlns:a16="http://schemas.microsoft.com/office/drawing/2014/main" id="{8A55781F-C514-3F82-0007-78415AE437F4}"/>
              </a:ext>
            </a:extLst>
          </p:cNvPr>
          <p:cNvSpPr txBox="1"/>
          <p:nvPr/>
        </p:nvSpPr>
        <p:spPr>
          <a:xfrm>
            <a:off x="827315" y="501601"/>
            <a:ext cx="8775078" cy="1200329"/>
          </a:xfrm>
          <a:prstGeom prst="rect">
            <a:avLst/>
          </a:prstGeom>
          <a:noFill/>
        </p:spPr>
        <p:txBody>
          <a:bodyPr wrap="square">
            <a:spAutoFit/>
          </a:bodyPr>
          <a:lstStyle/>
          <a:p>
            <a:r>
              <a:rPr lang="fr-FR" sz="3600" dirty="0"/>
              <a:t>Création d'une règle de pare-feu pour bloquer l'adresse IP de l'attaquant Windows</a:t>
            </a:r>
          </a:p>
        </p:txBody>
      </p:sp>
      <p:cxnSp>
        <p:nvCxnSpPr>
          <p:cNvPr id="10" name="Connecteur droit avec flèche 9">
            <a:extLst>
              <a:ext uri="{FF2B5EF4-FFF2-40B4-BE49-F238E27FC236}">
                <a16:creationId xmlns:a16="http://schemas.microsoft.com/office/drawing/2014/main" id="{5D49DEDF-A588-B25B-E733-898AF5FE2765}"/>
              </a:ext>
            </a:extLst>
          </p:cNvPr>
          <p:cNvCxnSpPr>
            <a:cxnSpLocks/>
          </p:cNvCxnSpPr>
          <p:nvPr/>
        </p:nvCxnSpPr>
        <p:spPr>
          <a:xfrm flipH="1">
            <a:off x="7605486" y="2331610"/>
            <a:ext cx="2148114" cy="10998"/>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21" name="ZoneTexte 20">
            <a:extLst>
              <a:ext uri="{FF2B5EF4-FFF2-40B4-BE49-F238E27FC236}">
                <a16:creationId xmlns:a16="http://schemas.microsoft.com/office/drawing/2014/main" id="{8318AD3D-11E9-537C-E37D-7E6F6EAACEBF}"/>
              </a:ext>
            </a:extLst>
          </p:cNvPr>
          <p:cNvSpPr txBox="1"/>
          <p:nvPr/>
        </p:nvSpPr>
        <p:spPr>
          <a:xfrm>
            <a:off x="9855201" y="2028624"/>
            <a:ext cx="1509485" cy="923330"/>
          </a:xfrm>
          <a:prstGeom prst="rect">
            <a:avLst/>
          </a:prstGeom>
          <a:noFill/>
        </p:spPr>
        <p:txBody>
          <a:bodyPr wrap="square" rtlCol="0">
            <a:spAutoFit/>
          </a:bodyPr>
          <a:lstStyle/>
          <a:p>
            <a:r>
              <a:rPr lang="fr-FR" dirty="0"/>
              <a:t>Adresse IP de l'attaquant bloquée</a:t>
            </a:r>
          </a:p>
        </p:txBody>
      </p:sp>
      <p:sp>
        <p:nvSpPr>
          <p:cNvPr id="30" name="Rectangle 29">
            <a:extLst>
              <a:ext uri="{FF2B5EF4-FFF2-40B4-BE49-F238E27FC236}">
                <a16:creationId xmlns:a16="http://schemas.microsoft.com/office/drawing/2014/main" id="{A843F5C0-FDCE-13B1-B257-6AAE7E225249}"/>
              </a:ext>
            </a:extLst>
          </p:cNvPr>
          <p:cNvSpPr/>
          <p:nvPr/>
        </p:nvSpPr>
        <p:spPr>
          <a:xfrm>
            <a:off x="6676571" y="2019300"/>
            <a:ext cx="928915" cy="31231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5B042C58-8239-FD07-C315-FFAAB2A1717C}"/>
              </a:ext>
            </a:extLst>
          </p:cNvPr>
          <p:cNvSpPr txBox="1"/>
          <p:nvPr/>
        </p:nvSpPr>
        <p:spPr>
          <a:xfrm>
            <a:off x="383066" y="5168915"/>
            <a:ext cx="6757962" cy="923330"/>
          </a:xfrm>
          <a:prstGeom prst="rect">
            <a:avLst/>
          </a:prstGeom>
          <a:noFill/>
        </p:spPr>
        <p:txBody>
          <a:bodyPr wrap="square">
            <a:spAutoFit/>
          </a:bodyPr>
          <a:lstStyle/>
          <a:p>
            <a:pPr>
              <a:buNone/>
            </a:pPr>
            <a:r>
              <a:rPr lang="fr-FR" dirty="0"/>
              <a:t>Une règle de pare-feu a été créée afin de bloquer l'adresse IP identifiée lors de l'investigation et d'empêcher toute nouvelle tentative de connexion.</a:t>
            </a:r>
          </a:p>
        </p:txBody>
      </p:sp>
      <p:sp>
        <p:nvSpPr>
          <p:cNvPr id="36" name="ZoneTexte 35">
            <a:extLst>
              <a:ext uri="{FF2B5EF4-FFF2-40B4-BE49-F238E27FC236}">
                <a16:creationId xmlns:a16="http://schemas.microsoft.com/office/drawing/2014/main" id="{5D7C9095-B909-53E1-479D-E36597351B4E}"/>
              </a:ext>
            </a:extLst>
          </p:cNvPr>
          <p:cNvSpPr txBox="1"/>
          <p:nvPr/>
        </p:nvSpPr>
        <p:spPr>
          <a:xfrm>
            <a:off x="9255046" y="3476171"/>
            <a:ext cx="2553888" cy="1477328"/>
          </a:xfrm>
          <a:prstGeom prst="rect">
            <a:avLst/>
          </a:prstGeom>
          <a:noFill/>
        </p:spPr>
        <p:txBody>
          <a:bodyPr wrap="square">
            <a:spAutoFit/>
          </a:bodyPr>
          <a:lstStyle/>
          <a:p>
            <a:r>
              <a:rPr lang="fr-FR" dirty="0"/>
              <a:t>Règle de pare-feu créée avec succès. </a:t>
            </a:r>
          </a:p>
          <a:p>
            <a:r>
              <a:rPr lang="fr-FR" dirty="0"/>
              <a:t>Réduction du risque de nouvelles tentatives d'attaque.</a:t>
            </a:r>
          </a:p>
        </p:txBody>
      </p:sp>
      <p:cxnSp>
        <p:nvCxnSpPr>
          <p:cNvPr id="39" name="Connecteur droit avec flèche 38">
            <a:extLst>
              <a:ext uri="{FF2B5EF4-FFF2-40B4-BE49-F238E27FC236}">
                <a16:creationId xmlns:a16="http://schemas.microsoft.com/office/drawing/2014/main" id="{6D42BE50-5E27-0953-D8E7-E162CDF888E1}"/>
              </a:ext>
            </a:extLst>
          </p:cNvPr>
          <p:cNvCxnSpPr>
            <a:cxnSpLocks/>
          </p:cNvCxnSpPr>
          <p:nvPr/>
        </p:nvCxnSpPr>
        <p:spPr>
          <a:xfrm flipH="1">
            <a:off x="3149600" y="3643086"/>
            <a:ext cx="6008544"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004787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59A129D6-0E93-0044-C07D-030887BC5F2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38623" y="2562317"/>
            <a:ext cx="9840698" cy="304843"/>
          </a:xfrm>
          <a:prstGeom prst="rect">
            <a:avLst/>
          </a:prstGeom>
          <a:noFill/>
          <a:ln>
            <a:noFill/>
          </a:ln>
        </p:spPr>
      </p:pic>
      <p:sp>
        <p:nvSpPr>
          <p:cNvPr id="6" name="ZoneTexte 5">
            <a:extLst>
              <a:ext uri="{FF2B5EF4-FFF2-40B4-BE49-F238E27FC236}">
                <a16:creationId xmlns:a16="http://schemas.microsoft.com/office/drawing/2014/main" id="{2A533247-899C-9E2A-45E9-AA4661B4159A}"/>
              </a:ext>
            </a:extLst>
          </p:cNvPr>
          <p:cNvSpPr txBox="1"/>
          <p:nvPr/>
        </p:nvSpPr>
        <p:spPr>
          <a:xfrm>
            <a:off x="1364343" y="841829"/>
            <a:ext cx="9840697" cy="646331"/>
          </a:xfrm>
          <a:prstGeom prst="rect">
            <a:avLst/>
          </a:prstGeom>
          <a:noFill/>
        </p:spPr>
        <p:txBody>
          <a:bodyPr wrap="square" rtlCol="0">
            <a:spAutoFit/>
          </a:bodyPr>
          <a:lstStyle/>
          <a:p>
            <a:r>
              <a:rPr lang="fr-FR" sz="3600" dirty="0"/>
              <a:t>Blocage de l'adresse IP source sur le pare-feu Linux</a:t>
            </a:r>
          </a:p>
        </p:txBody>
      </p:sp>
      <p:sp>
        <p:nvSpPr>
          <p:cNvPr id="12" name="ZoneTexte 11">
            <a:extLst>
              <a:ext uri="{FF2B5EF4-FFF2-40B4-BE49-F238E27FC236}">
                <a16:creationId xmlns:a16="http://schemas.microsoft.com/office/drawing/2014/main" id="{E12E0E71-54BC-8DC3-BAE7-E80CA9DC3243}"/>
              </a:ext>
            </a:extLst>
          </p:cNvPr>
          <p:cNvSpPr txBox="1"/>
          <p:nvPr/>
        </p:nvSpPr>
        <p:spPr>
          <a:xfrm>
            <a:off x="1146629" y="3480389"/>
            <a:ext cx="9332692" cy="646331"/>
          </a:xfrm>
          <a:prstGeom prst="rect">
            <a:avLst/>
          </a:prstGeom>
          <a:noFill/>
        </p:spPr>
        <p:txBody>
          <a:bodyPr wrap="square">
            <a:spAutoFit/>
          </a:bodyPr>
          <a:lstStyle/>
          <a:p>
            <a:pPr>
              <a:buNone/>
            </a:pPr>
            <a:r>
              <a:rPr lang="fr-FR" dirty="0"/>
              <a:t>Après l'identification de l'adresse IP source (192.168.100.130), une règle </a:t>
            </a:r>
            <a:r>
              <a:rPr lang="fr-FR" dirty="0" err="1"/>
              <a:t>iptables</a:t>
            </a:r>
            <a:r>
              <a:rPr lang="fr-FR" dirty="0"/>
              <a:t> a été ajoutée afin de bloquer tout trafic entrant provenant de cette adresse et de contenir l'incident.</a:t>
            </a:r>
          </a:p>
        </p:txBody>
      </p:sp>
    </p:spTree>
    <p:extLst>
      <p:ext uri="{BB962C8B-B14F-4D97-AF65-F5344CB8AC3E}">
        <p14:creationId xmlns:p14="http://schemas.microsoft.com/office/powerpoint/2010/main" val="38229822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a:extLst>
              <a:ext uri="{FF2B5EF4-FFF2-40B4-BE49-F238E27FC236}">
                <a16:creationId xmlns:a16="http://schemas.microsoft.com/office/drawing/2014/main" id="{6228EB56-66E6-C0F7-523F-1E285422A53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6400" y="2564282"/>
            <a:ext cx="6071114" cy="3183034"/>
          </a:xfrm>
          <a:prstGeom prst="rect">
            <a:avLst/>
          </a:prstGeom>
          <a:noFill/>
          <a:ln>
            <a:noFill/>
          </a:ln>
        </p:spPr>
      </p:pic>
      <p:pic>
        <p:nvPicPr>
          <p:cNvPr id="5" name="Image 4">
            <a:extLst>
              <a:ext uri="{FF2B5EF4-FFF2-40B4-BE49-F238E27FC236}">
                <a16:creationId xmlns:a16="http://schemas.microsoft.com/office/drawing/2014/main" id="{4DF83AA1-5E38-822F-D972-EFD671AD8A06}"/>
              </a:ext>
            </a:extLst>
          </p:cNvPr>
          <p:cNvPicPr>
            <a:picLocks noChangeAspect="1"/>
          </p:cNvPicPr>
          <p:nvPr/>
        </p:nvPicPr>
        <p:blipFill>
          <a:blip r:embed="rId3"/>
          <a:stretch>
            <a:fillRect/>
          </a:stretch>
        </p:blipFill>
        <p:spPr>
          <a:xfrm>
            <a:off x="406400" y="1222822"/>
            <a:ext cx="6071114" cy="1199938"/>
          </a:xfrm>
          <a:prstGeom prst="rect">
            <a:avLst/>
          </a:prstGeom>
        </p:spPr>
      </p:pic>
      <p:sp>
        <p:nvSpPr>
          <p:cNvPr id="6" name="ZoneTexte 5">
            <a:extLst>
              <a:ext uri="{FF2B5EF4-FFF2-40B4-BE49-F238E27FC236}">
                <a16:creationId xmlns:a16="http://schemas.microsoft.com/office/drawing/2014/main" id="{AFE0D0E6-1C4F-AE60-AB14-09C82D7CC268}"/>
              </a:ext>
            </a:extLst>
          </p:cNvPr>
          <p:cNvSpPr txBox="1"/>
          <p:nvPr/>
        </p:nvSpPr>
        <p:spPr>
          <a:xfrm>
            <a:off x="1727200" y="290409"/>
            <a:ext cx="9855200" cy="646331"/>
          </a:xfrm>
          <a:prstGeom prst="rect">
            <a:avLst/>
          </a:prstGeom>
          <a:noFill/>
        </p:spPr>
        <p:txBody>
          <a:bodyPr wrap="square">
            <a:spAutoFit/>
          </a:bodyPr>
          <a:lstStyle/>
          <a:p>
            <a:pPr>
              <a:buNone/>
            </a:pPr>
            <a:r>
              <a:rPr lang="fr-FR" sz="3600" dirty="0"/>
              <a:t>Désactivation du compte administrateur compromis</a:t>
            </a:r>
          </a:p>
        </p:txBody>
      </p:sp>
      <p:cxnSp>
        <p:nvCxnSpPr>
          <p:cNvPr id="16" name="Connecteur droit avec flèche 15">
            <a:extLst>
              <a:ext uri="{FF2B5EF4-FFF2-40B4-BE49-F238E27FC236}">
                <a16:creationId xmlns:a16="http://schemas.microsoft.com/office/drawing/2014/main" id="{F87C448F-E3C7-482D-0B7E-92BB0B4B466B}"/>
              </a:ext>
            </a:extLst>
          </p:cNvPr>
          <p:cNvCxnSpPr>
            <a:cxnSpLocks/>
          </p:cNvCxnSpPr>
          <p:nvPr/>
        </p:nvCxnSpPr>
        <p:spPr>
          <a:xfrm flipH="1">
            <a:off x="5471885" y="1364344"/>
            <a:ext cx="242388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B67934A6-C02B-E7DB-B15F-26DDB650A539}"/>
              </a:ext>
            </a:extLst>
          </p:cNvPr>
          <p:cNvCxnSpPr>
            <a:cxnSpLocks/>
          </p:cNvCxnSpPr>
          <p:nvPr/>
        </p:nvCxnSpPr>
        <p:spPr>
          <a:xfrm flipH="1">
            <a:off x="5338143" y="1969926"/>
            <a:ext cx="30915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B2819E81-78AF-244D-6BB8-380C1DA37022}"/>
              </a:ext>
            </a:extLst>
          </p:cNvPr>
          <p:cNvSpPr txBox="1"/>
          <p:nvPr/>
        </p:nvSpPr>
        <p:spPr>
          <a:xfrm>
            <a:off x="8429686" y="1747725"/>
            <a:ext cx="3091543" cy="923330"/>
          </a:xfrm>
          <a:prstGeom prst="rect">
            <a:avLst/>
          </a:prstGeom>
          <a:noFill/>
        </p:spPr>
        <p:txBody>
          <a:bodyPr wrap="square" rtlCol="0">
            <a:spAutoFit/>
          </a:bodyPr>
          <a:lstStyle/>
          <a:p>
            <a:r>
              <a:rPr lang="fr-FR" dirty="0"/>
              <a:t>Commande exécutée avec succès</a:t>
            </a:r>
          </a:p>
          <a:p>
            <a:endParaRPr lang="fr-FR" dirty="0"/>
          </a:p>
        </p:txBody>
      </p:sp>
      <p:sp>
        <p:nvSpPr>
          <p:cNvPr id="25" name="ZoneTexte 24">
            <a:extLst>
              <a:ext uri="{FF2B5EF4-FFF2-40B4-BE49-F238E27FC236}">
                <a16:creationId xmlns:a16="http://schemas.microsoft.com/office/drawing/2014/main" id="{07E6ACC8-16BB-C924-48AB-567ADAA12F21}"/>
              </a:ext>
            </a:extLst>
          </p:cNvPr>
          <p:cNvSpPr txBox="1"/>
          <p:nvPr/>
        </p:nvSpPr>
        <p:spPr>
          <a:xfrm>
            <a:off x="8694056" y="1607850"/>
            <a:ext cx="3091543" cy="369332"/>
          </a:xfrm>
          <a:prstGeom prst="rect">
            <a:avLst/>
          </a:prstGeom>
          <a:noFill/>
        </p:spPr>
        <p:txBody>
          <a:bodyPr wrap="square" rtlCol="0">
            <a:spAutoFit/>
          </a:bodyPr>
          <a:lstStyle/>
          <a:p>
            <a:endParaRPr lang="fr-FR" dirty="0"/>
          </a:p>
        </p:txBody>
      </p:sp>
      <p:sp>
        <p:nvSpPr>
          <p:cNvPr id="27" name="ZoneTexte 26">
            <a:extLst>
              <a:ext uri="{FF2B5EF4-FFF2-40B4-BE49-F238E27FC236}">
                <a16:creationId xmlns:a16="http://schemas.microsoft.com/office/drawing/2014/main" id="{989A2FF9-CE8C-3051-98C7-CD47670135BA}"/>
              </a:ext>
            </a:extLst>
          </p:cNvPr>
          <p:cNvSpPr txBox="1"/>
          <p:nvPr/>
        </p:nvSpPr>
        <p:spPr>
          <a:xfrm>
            <a:off x="8316685" y="1193979"/>
            <a:ext cx="3468914" cy="369332"/>
          </a:xfrm>
          <a:prstGeom prst="rect">
            <a:avLst/>
          </a:prstGeom>
          <a:noFill/>
        </p:spPr>
        <p:txBody>
          <a:bodyPr wrap="square" rtlCol="0">
            <a:spAutoFit/>
          </a:bodyPr>
          <a:lstStyle/>
          <a:p>
            <a:r>
              <a:rPr lang="fr-FR" dirty="0"/>
              <a:t>Commande utilisée</a:t>
            </a:r>
          </a:p>
        </p:txBody>
      </p:sp>
      <p:sp>
        <p:nvSpPr>
          <p:cNvPr id="29" name="ZoneTexte 28">
            <a:extLst>
              <a:ext uri="{FF2B5EF4-FFF2-40B4-BE49-F238E27FC236}">
                <a16:creationId xmlns:a16="http://schemas.microsoft.com/office/drawing/2014/main" id="{42D2F0F1-817B-47B4-C476-368D6542391F}"/>
              </a:ext>
            </a:extLst>
          </p:cNvPr>
          <p:cNvSpPr txBox="1"/>
          <p:nvPr/>
        </p:nvSpPr>
        <p:spPr>
          <a:xfrm>
            <a:off x="6654800" y="3519579"/>
            <a:ext cx="5101771" cy="369324"/>
          </a:xfrm>
          <a:prstGeom prst="rect">
            <a:avLst/>
          </a:prstGeom>
          <a:noFill/>
        </p:spPr>
        <p:txBody>
          <a:bodyPr wrap="square">
            <a:spAutoFit/>
          </a:bodyPr>
          <a:lstStyle/>
          <a:p>
            <a:pPr>
              <a:buNone/>
            </a:pPr>
            <a:r>
              <a:rPr lang="fr-FR"/>
              <a:t>Vérification : le compte administrateur est désactivé</a:t>
            </a:r>
            <a:endParaRPr lang="fr-FR" dirty="0"/>
          </a:p>
        </p:txBody>
      </p:sp>
      <p:sp>
        <p:nvSpPr>
          <p:cNvPr id="30" name="ZoneTexte 29">
            <a:extLst>
              <a:ext uri="{FF2B5EF4-FFF2-40B4-BE49-F238E27FC236}">
                <a16:creationId xmlns:a16="http://schemas.microsoft.com/office/drawing/2014/main" id="{2029367F-7870-3A1F-6269-39402C46265F}"/>
              </a:ext>
            </a:extLst>
          </p:cNvPr>
          <p:cNvSpPr txBox="1"/>
          <p:nvPr/>
        </p:nvSpPr>
        <p:spPr>
          <a:xfrm>
            <a:off x="478971" y="5993051"/>
            <a:ext cx="9085943" cy="646331"/>
          </a:xfrm>
          <a:prstGeom prst="rect">
            <a:avLst/>
          </a:prstGeom>
          <a:noFill/>
        </p:spPr>
        <p:txBody>
          <a:bodyPr wrap="square" rtlCol="0">
            <a:spAutoFit/>
          </a:bodyPr>
          <a:lstStyle/>
          <a:p>
            <a:r>
              <a:rPr lang="fr-FR" dirty="0"/>
              <a:t>Le compte administrateur a été désactivé afin d'empêcher toute connexion non autorisée et de limiter l'impact de l'incident.</a:t>
            </a:r>
          </a:p>
        </p:txBody>
      </p:sp>
    </p:spTree>
    <p:extLst>
      <p:ext uri="{BB962C8B-B14F-4D97-AF65-F5344CB8AC3E}">
        <p14:creationId xmlns:p14="http://schemas.microsoft.com/office/powerpoint/2010/main" val="22687283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9C8F70-BED1-4062-123C-F53A4A210623}"/>
              </a:ext>
            </a:extLst>
          </p:cNvPr>
          <p:cNvSpPr>
            <a:spLocks noGrp="1"/>
          </p:cNvSpPr>
          <p:nvPr>
            <p:ph type="title"/>
          </p:nvPr>
        </p:nvSpPr>
        <p:spPr>
          <a:xfrm>
            <a:off x="795787" y="131820"/>
            <a:ext cx="10364451" cy="1596177"/>
          </a:xfrm>
        </p:spPr>
        <p:txBody>
          <a:bodyPr/>
          <a:lstStyle/>
          <a:p>
            <a:r>
              <a:rPr lang="fr-FR" dirty="0">
                <a:solidFill>
                  <a:schemeClr val="tx1"/>
                </a:solidFill>
              </a:rPr>
              <a:t>Phase 7 Investigation et analyse forensique</a:t>
            </a:r>
          </a:p>
        </p:txBody>
      </p:sp>
      <p:pic>
        <p:nvPicPr>
          <p:cNvPr id="4" name="Espace réservé du contenu 3">
            <a:extLst>
              <a:ext uri="{FF2B5EF4-FFF2-40B4-BE49-F238E27FC236}">
                <a16:creationId xmlns:a16="http://schemas.microsoft.com/office/drawing/2014/main" id="{AAAC69F2-77BE-21E2-39BC-E432EB07C36A}"/>
              </a:ext>
            </a:extLst>
          </p:cNvPr>
          <p:cNvPicPr>
            <a:picLocks noGrp="1" noChangeAspect="1"/>
          </p:cNvPicPr>
          <p:nvPr>
            <p:ph idx="1"/>
          </p:nvPr>
        </p:nvPicPr>
        <p:blipFill>
          <a:blip r:embed="rId2"/>
          <a:stretch>
            <a:fillRect/>
          </a:stretch>
        </p:blipFill>
        <p:spPr>
          <a:xfrm>
            <a:off x="117987" y="2877014"/>
            <a:ext cx="6650949" cy="2784401"/>
          </a:xfrm>
          <a:prstGeom prst="rect">
            <a:avLst/>
          </a:prstGeom>
        </p:spPr>
      </p:pic>
      <p:pic>
        <p:nvPicPr>
          <p:cNvPr id="7" name="Image 6">
            <a:extLst>
              <a:ext uri="{FF2B5EF4-FFF2-40B4-BE49-F238E27FC236}">
                <a16:creationId xmlns:a16="http://schemas.microsoft.com/office/drawing/2014/main" id="{40CA61D4-13B6-C4BA-E5DA-D5E7F6B7CEAC}"/>
              </a:ext>
            </a:extLst>
          </p:cNvPr>
          <p:cNvPicPr>
            <a:picLocks noChangeAspect="1"/>
          </p:cNvPicPr>
          <p:nvPr/>
        </p:nvPicPr>
        <p:blipFill>
          <a:blip r:embed="rId3"/>
          <a:stretch>
            <a:fillRect/>
          </a:stretch>
        </p:blipFill>
        <p:spPr>
          <a:xfrm>
            <a:off x="117987" y="1698146"/>
            <a:ext cx="5141800" cy="410615"/>
          </a:xfrm>
          <a:prstGeom prst="rect">
            <a:avLst/>
          </a:prstGeom>
        </p:spPr>
      </p:pic>
      <p:sp>
        <p:nvSpPr>
          <p:cNvPr id="9" name="ZoneTexte 8">
            <a:extLst>
              <a:ext uri="{FF2B5EF4-FFF2-40B4-BE49-F238E27FC236}">
                <a16:creationId xmlns:a16="http://schemas.microsoft.com/office/drawing/2014/main" id="{A1E520CF-29B6-2595-9E43-F1B3DD1E67AE}"/>
              </a:ext>
            </a:extLst>
          </p:cNvPr>
          <p:cNvSpPr txBox="1"/>
          <p:nvPr/>
        </p:nvSpPr>
        <p:spPr>
          <a:xfrm>
            <a:off x="0" y="5661415"/>
            <a:ext cx="6098458" cy="923330"/>
          </a:xfrm>
          <a:prstGeom prst="rect">
            <a:avLst/>
          </a:prstGeom>
          <a:noFill/>
        </p:spPr>
        <p:txBody>
          <a:bodyPr wrap="square">
            <a:spAutoFit/>
          </a:bodyPr>
          <a:lstStyle/>
          <a:p>
            <a:r>
              <a:rPr lang="fr-FR" dirty="0"/>
              <a:t>Cette analyse forensique a permis d'identifier les tentatives de connexion échouées, d'analyser les événements de sécurité et de reconstituer la chronologie de l'incident.</a:t>
            </a:r>
          </a:p>
        </p:txBody>
      </p:sp>
      <p:sp>
        <p:nvSpPr>
          <p:cNvPr id="11" name="ZoneTexte 10">
            <a:extLst>
              <a:ext uri="{FF2B5EF4-FFF2-40B4-BE49-F238E27FC236}">
                <a16:creationId xmlns:a16="http://schemas.microsoft.com/office/drawing/2014/main" id="{111D8108-7E5C-6B0B-A2A4-D9D94FADAFDA}"/>
              </a:ext>
            </a:extLst>
          </p:cNvPr>
          <p:cNvSpPr txBox="1"/>
          <p:nvPr/>
        </p:nvSpPr>
        <p:spPr>
          <a:xfrm>
            <a:off x="6768936" y="1312499"/>
            <a:ext cx="4970207" cy="1754326"/>
          </a:xfrm>
          <a:prstGeom prst="rect">
            <a:avLst/>
          </a:prstGeom>
          <a:noFill/>
        </p:spPr>
        <p:txBody>
          <a:bodyPr wrap="square">
            <a:spAutoFit/>
          </a:bodyPr>
          <a:lstStyle/>
          <a:p>
            <a:r>
              <a:rPr lang="fr-FR" dirty="0"/>
              <a:t>Recherche de toutes les tentatives de connexion échouées (Event ID 4625).</a:t>
            </a:r>
          </a:p>
          <a:p>
            <a:r>
              <a:rPr lang="fr-FR" dirty="0"/>
              <a:t>Cette requête Splunk permet d'identifier les tentatives de connexion échouées, d'analyser les journaux de sécurité et de reconstituer la chronologie de l'incident.</a:t>
            </a:r>
          </a:p>
        </p:txBody>
      </p:sp>
      <p:sp>
        <p:nvSpPr>
          <p:cNvPr id="13" name="ZoneTexte 12">
            <a:extLst>
              <a:ext uri="{FF2B5EF4-FFF2-40B4-BE49-F238E27FC236}">
                <a16:creationId xmlns:a16="http://schemas.microsoft.com/office/drawing/2014/main" id="{72D1C2FB-070B-16F0-6B58-9612B55FA659}"/>
              </a:ext>
            </a:extLst>
          </p:cNvPr>
          <p:cNvSpPr txBox="1"/>
          <p:nvPr/>
        </p:nvSpPr>
        <p:spPr>
          <a:xfrm>
            <a:off x="7414751" y="3451123"/>
            <a:ext cx="3263081" cy="369332"/>
          </a:xfrm>
          <a:prstGeom prst="rect">
            <a:avLst/>
          </a:prstGeom>
          <a:noFill/>
        </p:spPr>
        <p:txBody>
          <a:bodyPr wrap="square">
            <a:spAutoFit/>
          </a:bodyPr>
          <a:lstStyle/>
          <a:p>
            <a:r>
              <a:rPr lang="fr-FR" dirty="0"/>
              <a:t>Histogramme des événements</a:t>
            </a:r>
          </a:p>
        </p:txBody>
      </p:sp>
      <p:sp>
        <p:nvSpPr>
          <p:cNvPr id="15" name="ZoneTexte 14">
            <a:extLst>
              <a:ext uri="{FF2B5EF4-FFF2-40B4-BE49-F238E27FC236}">
                <a16:creationId xmlns:a16="http://schemas.microsoft.com/office/drawing/2014/main" id="{C4F62FE5-96B9-235C-B536-7E95418FD434}"/>
              </a:ext>
            </a:extLst>
          </p:cNvPr>
          <p:cNvSpPr txBox="1"/>
          <p:nvPr/>
        </p:nvSpPr>
        <p:spPr>
          <a:xfrm>
            <a:off x="7414751" y="4169121"/>
            <a:ext cx="2550243" cy="369332"/>
          </a:xfrm>
          <a:prstGeom prst="rect">
            <a:avLst/>
          </a:prstGeom>
          <a:noFill/>
        </p:spPr>
        <p:txBody>
          <a:bodyPr wrap="square">
            <a:spAutoFit/>
          </a:bodyPr>
          <a:lstStyle/>
          <a:p>
            <a:r>
              <a:rPr lang="fr-FR" dirty="0"/>
              <a:t>188 événements détectés</a:t>
            </a:r>
          </a:p>
        </p:txBody>
      </p:sp>
      <p:sp>
        <p:nvSpPr>
          <p:cNvPr id="17" name="ZoneTexte 16">
            <a:extLst>
              <a:ext uri="{FF2B5EF4-FFF2-40B4-BE49-F238E27FC236}">
                <a16:creationId xmlns:a16="http://schemas.microsoft.com/office/drawing/2014/main" id="{7536ED40-68A9-B979-A9C7-9ED5C12F6708}"/>
              </a:ext>
            </a:extLst>
          </p:cNvPr>
          <p:cNvSpPr txBox="1"/>
          <p:nvPr/>
        </p:nvSpPr>
        <p:spPr>
          <a:xfrm>
            <a:off x="7449163" y="5107417"/>
            <a:ext cx="2284772" cy="369332"/>
          </a:xfrm>
          <a:prstGeom prst="rect">
            <a:avLst/>
          </a:prstGeom>
          <a:noFill/>
        </p:spPr>
        <p:txBody>
          <a:bodyPr wrap="square">
            <a:spAutoFit/>
          </a:bodyPr>
          <a:lstStyle/>
          <a:p>
            <a:r>
              <a:rPr lang="fr-FR" dirty="0"/>
              <a:t>Détails de l'événement</a:t>
            </a:r>
          </a:p>
        </p:txBody>
      </p:sp>
      <p:cxnSp>
        <p:nvCxnSpPr>
          <p:cNvPr id="19" name="Connecteur droit avec flèche 18">
            <a:extLst>
              <a:ext uri="{FF2B5EF4-FFF2-40B4-BE49-F238E27FC236}">
                <a16:creationId xmlns:a16="http://schemas.microsoft.com/office/drawing/2014/main" id="{A33EFFD5-1C2F-D011-405D-88129764A7E8}"/>
              </a:ext>
            </a:extLst>
          </p:cNvPr>
          <p:cNvCxnSpPr>
            <a:cxnSpLocks/>
            <a:stCxn id="11" idx="1"/>
            <a:endCxn id="7" idx="3"/>
          </p:cNvCxnSpPr>
          <p:nvPr/>
        </p:nvCxnSpPr>
        <p:spPr>
          <a:xfrm flipH="1" flipV="1">
            <a:off x="5259787" y="1903454"/>
            <a:ext cx="1509149" cy="286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DF1AF0FD-DBC8-7352-3E69-273AE8C69933}"/>
              </a:ext>
            </a:extLst>
          </p:cNvPr>
          <p:cNvCxnSpPr>
            <a:cxnSpLocks/>
            <a:stCxn id="13" idx="1"/>
          </p:cNvCxnSpPr>
          <p:nvPr/>
        </p:nvCxnSpPr>
        <p:spPr>
          <a:xfrm flipH="1">
            <a:off x="6768936" y="3635789"/>
            <a:ext cx="6458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81822782-9A30-58A7-1461-5642396C2E4C}"/>
              </a:ext>
            </a:extLst>
          </p:cNvPr>
          <p:cNvCxnSpPr>
            <a:cxnSpLocks/>
            <a:stCxn id="17" idx="1"/>
          </p:cNvCxnSpPr>
          <p:nvPr/>
        </p:nvCxnSpPr>
        <p:spPr>
          <a:xfrm flipH="1" flipV="1">
            <a:off x="3775587" y="4719484"/>
            <a:ext cx="3673576" cy="5725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5211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388A71-7174-4DB5-EB1A-7E1DD10846B3}"/>
              </a:ext>
            </a:extLst>
          </p:cNvPr>
          <p:cNvSpPr>
            <a:spLocks noGrp="1"/>
          </p:cNvSpPr>
          <p:nvPr>
            <p:ph type="title"/>
          </p:nvPr>
        </p:nvSpPr>
        <p:spPr>
          <a:xfrm>
            <a:off x="235974" y="226660"/>
            <a:ext cx="10998007" cy="1596177"/>
          </a:xfrm>
        </p:spPr>
        <p:txBody>
          <a:bodyPr/>
          <a:lstStyle/>
          <a:p>
            <a:r>
              <a:rPr lang="fr-FR" dirty="0">
                <a:solidFill>
                  <a:schemeClr val="tx1"/>
                </a:solidFill>
              </a:rPr>
              <a:t>Phase 8 – </a:t>
            </a:r>
            <a:r>
              <a:rPr lang="fr-FR" dirty="0"/>
              <a:t>Communication de crise et Retour d'expérience</a:t>
            </a:r>
            <a:endParaRPr lang="fr-FR" dirty="0">
              <a:solidFill>
                <a:schemeClr val="tx1"/>
              </a:solidFill>
            </a:endParaRPr>
          </a:p>
        </p:txBody>
      </p:sp>
      <p:graphicFrame>
        <p:nvGraphicFramePr>
          <p:cNvPr id="12" name="Espace réservé du contenu 11">
            <a:extLst>
              <a:ext uri="{FF2B5EF4-FFF2-40B4-BE49-F238E27FC236}">
                <a16:creationId xmlns:a16="http://schemas.microsoft.com/office/drawing/2014/main" id="{0E176107-8B46-3D23-D52D-2CCFE4DD9AC8}"/>
              </a:ext>
            </a:extLst>
          </p:cNvPr>
          <p:cNvGraphicFramePr>
            <a:graphicFrameLocks noGrp="1"/>
          </p:cNvGraphicFramePr>
          <p:nvPr>
            <p:ph idx="1"/>
            <p:extLst>
              <p:ext uri="{D42A27DB-BD31-4B8C-83A1-F6EECF244321}">
                <p14:modId xmlns:p14="http://schemas.microsoft.com/office/powerpoint/2010/main" val="527242715"/>
              </p:ext>
            </p:extLst>
          </p:nvPr>
        </p:nvGraphicFramePr>
        <p:xfrm>
          <a:off x="360104" y="2702714"/>
          <a:ext cx="5524502" cy="2834640"/>
        </p:xfrm>
        <a:graphic>
          <a:graphicData uri="http://schemas.openxmlformats.org/drawingml/2006/table">
            <a:tbl>
              <a:tblPr firstRow="1" bandRow="1">
                <a:tableStyleId>{073A0DAA-6AF3-43AB-8588-CEC1D06C72B9}</a:tableStyleId>
              </a:tblPr>
              <a:tblGrid>
                <a:gridCol w="2762251">
                  <a:extLst>
                    <a:ext uri="{9D8B030D-6E8A-4147-A177-3AD203B41FA5}">
                      <a16:colId xmlns:a16="http://schemas.microsoft.com/office/drawing/2014/main" val="212553466"/>
                    </a:ext>
                  </a:extLst>
                </a:gridCol>
                <a:gridCol w="2762251">
                  <a:extLst>
                    <a:ext uri="{9D8B030D-6E8A-4147-A177-3AD203B41FA5}">
                      <a16:colId xmlns:a16="http://schemas.microsoft.com/office/drawing/2014/main" val="422947582"/>
                    </a:ext>
                  </a:extLst>
                </a:gridCol>
              </a:tblGrid>
              <a:tr h="360427">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a:t>
                      </a:r>
                      <a:r>
                        <a:rPr lang="fr-FR" b="1" dirty="0"/>
                        <a:t>Communication </a:t>
                      </a:r>
                    </a:p>
                    <a:p>
                      <a:endParaRPr lang="fr-FR" dirty="0"/>
                    </a:p>
                  </a:txBody>
                  <a:tcPr/>
                </a:tc>
                <a:tc hMerge="1">
                  <a:txBody>
                    <a:bodyPr/>
                    <a:lstStyle/>
                    <a:p>
                      <a:endParaRPr lang="fr-FR"/>
                    </a:p>
                  </a:txBody>
                  <a:tcPr/>
                </a:tc>
                <a:extLst>
                  <a:ext uri="{0D108BD9-81ED-4DB2-BD59-A6C34878D82A}">
                    <a16:rowId xmlns:a16="http://schemas.microsoft.com/office/drawing/2014/main" val="662901251"/>
                  </a:ext>
                </a:extLst>
              </a:tr>
              <a:tr h="5148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Direction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dirty="0"/>
                    </a:p>
                    <a:p>
                      <a:endParaRPr lang="fr-FR" dirty="0"/>
                    </a:p>
                  </a:txBody>
                  <a:tcPr/>
                </a:tc>
                <a:tc>
                  <a:txBody>
                    <a:bodyPr/>
                    <a:lstStyle/>
                    <a:p>
                      <a:r>
                        <a:rPr lang="fr-FR" dirty="0"/>
                        <a:t>Impact de l'incident, mesures prises</a:t>
                      </a:r>
                    </a:p>
                  </a:txBody>
                  <a:tcPr/>
                </a:tc>
                <a:extLst>
                  <a:ext uri="{0D108BD9-81ED-4DB2-BD59-A6C34878D82A}">
                    <a16:rowId xmlns:a16="http://schemas.microsoft.com/office/drawing/2014/main" val="1440498186"/>
                  </a:ext>
                </a:extLst>
              </a:tr>
              <a:tr h="3604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Utilisateurs</a:t>
                      </a:r>
                    </a:p>
                    <a:p>
                      <a:endParaRPr lang="fr-FR" dirty="0"/>
                    </a:p>
                  </a:txBody>
                  <a:tcPr/>
                </a:tc>
                <a:tc>
                  <a:txBody>
                    <a:bodyPr/>
                    <a:lstStyle/>
                    <a:p>
                      <a:r>
                        <a:rPr lang="fr-FR" dirty="0"/>
                        <a:t>Information, recommandations</a:t>
                      </a:r>
                    </a:p>
                  </a:txBody>
                  <a:tcPr/>
                </a:tc>
                <a:extLst>
                  <a:ext uri="{0D108BD9-81ED-4DB2-BD59-A6C34878D82A}">
                    <a16:rowId xmlns:a16="http://schemas.microsoft.com/office/drawing/2014/main" val="3896960276"/>
                  </a:ext>
                </a:extLst>
              </a:tr>
              <a:tr h="3604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Equipe informatique</a:t>
                      </a:r>
                    </a:p>
                    <a:p>
                      <a:endParaRPr lang="fr-FR" dirty="0"/>
                    </a:p>
                  </a:txBody>
                  <a:tcPr/>
                </a:tc>
                <a:tc>
                  <a:txBody>
                    <a:bodyPr/>
                    <a:lstStyle/>
                    <a:p>
                      <a:r>
                        <a:rPr lang="fr-FR" dirty="0"/>
                        <a:t>Analyse des causes, actions correctives</a:t>
                      </a:r>
                    </a:p>
                  </a:txBody>
                  <a:tcPr/>
                </a:tc>
                <a:extLst>
                  <a:ext uri="{0D108BD9-81ED-4DB2-BD59-A6C34878D82A}">
                    <a16:rowId xmlns:a16="http://schemas.microsoft.com/office/drawing/2014/main" val="2210365054"/>
                  </a:ext>
                </a:extLst>
              </a:tr>
            </a:tbl>
          </a:graphicData>
        </a:graphic>
      </p:graphicFrame>
      <p:graphicFrame>
        <p:nvGraphicFramePr>
          <p:cNvPr id="15" name="Tableau 14">
            <a:extLst>
              <a:ext uri="{FF2B5EF4-FFF2-40B4-BE49-F238E27FC236}">
                <a16:creationId xmlns:a16="http://schemas.microsoft.com/office/drawing/2014/main" id="{9D7E0DAE-2B1C-9EDC-1B9B-75258878BB1C}"/>
              </a:ext>
            </a:extLst>
          </p:cNvPr>
          <p:cNvGraphicFramePr>
            <a:graphicFrameLocks noGrp="1"/>
          </p:cNvGraphicFramePr>
          <p:nvPr>
            <p:extLst>
              <p:ext uri="{D42A27DB-BD31-4B8C-83A1-F6EECF244321}">
                <p14:modId xmlns:p14="http://schemas.microsoft.com/office/powerpoint/2010/main" val="211806326"/>
              </p:ext>
            </p:extLst>
          </p:nvPr>
        </p:nvGraphicFramePr>
        <p:xfrm>
          <a:off x="6307396" y="2692554"/>
          <a:ext cx="4798140" cy="2834640"/>
        </p:xfrm>
        <a:graphic>
          <a:graphicData uri="http://schemas.openxmlformats.org/drawingml/2006/table">
            <a:tbl>
              <a:tblPr firstRow="1" bandRow="1">
                <a:tableStyleId>{073A0DAA-6AF3-43AB-8588-CEC1D06C72B9}</a:tableStyleId>
              </a:tblPr>
              <a:tblGrid>
                <a:gridCol w="2399070">
                  <a:extLst>
                    <a:ext uri="{9D8B030D-6E8A-4147-A177-3AD203B41FA5}">
                      <a16:colId xmlns:a16="http://schemas.microsoft.com/office/drawing/2014/main" val="831235302"/>
                    </a:ext>
                  </a:extLst>
                </a:gridCol>
                <a:gridCol w="2399070">
                  <a:extLst>
                    <a:ext uri="{9D8B030D-6E8A-4147-A177-3AD203B41FA5}">
                      <a16:colId xmlns:a16="http://schemas.microsoft.com/office/drawing/2014/main" val="598879843"/>
                    </a:ext>
                  </a:extLst>
                </a:gridCol>
              </a:tblGrid>
              <a:tr h="619792">
                <a:tc gridSpan="2">
                  <a:txBody>
                    <a:bodyPr/>
                    <a:lstStyle/>
                    <a:p>
                      <a:r>
                        <a:rPr lang="fr-FR" dirty="0"/>
                        <a:t>🔄  Retour d'expérience </a:t>
                      </a:r>
                    </a:p>
                  </a:txBody>
                  <a:tcPr/>
                </a:tc>
                <a:tc hMerge="1">
                  <a:txBody>
                    <a:bodyPr/>
                    <a:lstStyle/>
                    <a:p>
                      <a:endParaRPr lang="fr-FR"/>
                    </a:p>
                  </a:txBody>
                  <a:tcPr/>
                </a:tc>
                <a:extLst>
                  <a:ext uri="{0D108BD9-81ED-4DB2-BD59-A6C34878D82A}">
                    <a16:rowId xmlns:a16="http://schemas.microsoft.com/office/drawing/2014/main" val="3684912731"/>
                  </a:ext>
                </a:extLst>
              </a:tr>
              <a:tr h="112618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Points positifs</a:t>
                      </a:r>
                    </a:p>
                    <a:p>
                      <a:endParaRPr lang="fr-FR" dirty="0"/>
                    </a:p>
                  </a:txBody>
                  <a:tcPr/>
                </a:tc>
                <a:tc>
                  <a:txBody>
                    <a:bodyPr/>
                    <a:lstStyle/>
                    <a:p>
                      <a:r>
                        <a:rPr lang="fr-FR" dirty="0"/>
                        <a:t>Détection avec Splunk</a:t>
                      </a:r>
                      <a:br>
                        <a:rPr lang="fr-FR" dirty="0"/>
                      </a:br>
                      <a:r>
                        <a:rPr lang="fr-FR" dirty="0"/>
                        <a:t>• Confinement rapide</a:t>
                      </a:r>
                      <a:br>
                        <a:rPr lang="fr-FR" dirty="0"/>
                      </a:br>
                      <a:r>
                        <a:rPr lang="fr-FR" dirty="0"/>
                        <a:t>• Analyse des journaux</a:t>
                      </a:r>
                    </a:p>
                  </a:txBody>
                  <a:tcPr/>
                </a:tc>
                <a:extLst>
                  <a:ext uri="{0D108BD9-81ED-4DB2-BD59-A6C34878D82A}">
                    <a16:rowId xmlns:a16="http://schemas.microsoft.com/office/drawing/2014/main" val="3433256700"/>
                  </a:ext>
                </a:extLst>
              </a:tr>
              <a:tr h="10886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Axes d'amélioration</a:t>
                      </a:r>
                    </a:p>
                    <a:p>
                      <a:endParaRPr lang="fr-FR" dirty="0"/>
                    </a:p>
                  </a:txBody>
                  <a:tcPr/>
                </a:tc>
                <a:tc>
                  <a:txBody>
                    <a:bodyPr/>
                    <a:lstStyle/>
                    <a:p>
                      <a:pPr>
                        <a:buNone/>
                      </a:pPr>
                      <a:r>
                        <a:rPr lang="fr-FR" dirty="0"/>
                        <a:t>• Automatiser les alertes</a:t>
                      </a:r>
                      <a:br>
                        <a:rPr lang="fr-FR" dirty="0"/>
                      </a:br>
                      <a:r>
                        <a:rPr lang="fr-FR" dirty="0"/>
                        <a:t>• Déployer le MFA</a:t>
                      </a:r>
                      <a:br>
                        <a:rPr lang="fr-FR" dirty="0"/>
                      </a:br>
                      <a:r>
                        <a:rPr lang="fr-FR" dirty="0"/>
                        <a:t>• Audits réguliers</a:t>
                      </a:r>
                    </a:p>
                  </a:txBody>
                  <a:tcPr anchor="ctr"/>
                </a:tc>
                <a:extLst>
                  <a:ext uri="{0D108BD9-81ED-4DB2-BD59-A6C34878D82A}">
                    <a16:rowId xmlns:a16="http://schemas.microsoft.com/office/drawing/2014/main" val="375741851"/>
                  </a:ext>
                </a:extLst>
              </a:tr>
            </a:tbl>
          </a:graphicData>
        </a:graphic>
      </p:graphicFrame>
      <p:sp>
        <p:nvSpPr>
          <p:cNvPr id="17" name="ZoneTexte 16">
            <a:extLst>
              <a:ext uri="{FF2B5EF4-FFF2-40B4-BE49-F238E27FC236}">
                <a16:creationId xmlns:a16="http://schemas.microsoft.com/office/drawing/2014/main" id="{631F6E16-EEAA-3C01-D6DB-37F4725119BA}"/>
              </a:ext>
            </a:extLst>
          </p:cNvPr>
          <p:cNvSpPr txBox="1"/>
          <p:nvPr/>
        </p:nvSpPr>
        <p:spPr>
          <a:xfrm>
            <a:off x="2341307" y="1645674"/>
            <a:ext cx="6098458"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2000" dirty="0"/>
              <a:t>Objectif: Informer les parties prenantes et améliorer la sécurité après l'incident.</a:t>
            </a:r>
          </a:p>
        </p:txBody>
      </p:sp>
    </p:spTree>
    <p:extLst>
      <p:ext uri="{BB962C8B-B14F-4D97-AF65-F5344CB8AC3E}">
        <p14:creationId xmlns:p14="http://schemas.microsoft.com/office/powerpoint/2010/main" val="7553942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BDB1C-AFAC-85E3-6442-37B25E33C3D6}"/>
              </a:ext>
            </a:extLst>
          </p:cNvPr>
          <p:cNvSpPr>
            <a:spLocks noGrp="1"/>
          </p:cNvSpPr>
          <p:nvPr>
            <p:ph type="title"/>
          </p:nvPr>
        </p:nvSpPr>
        <p:spPr/>
        <p:txBody>
          <a:bodyPr/>
          <a:lstStyle/>
          <a:p>
            <a:r>
              <a:rPr lang="fr-FR" dirty="0"/>
              <a:t>le cycle d'amélioration </a:t>
            </a:r>
          </a:p>
        </p:txBody>
      </p:sp>
      <p:graphicFrame>
        <p:nvGraphicFramePr>
          <p:cNvPr id="5" name="Espace réservé du contenu 4">
            <a:extLst>
              <a:ext uri="{FF2B5EF4-FFF2-40B4-BE49-F238E27FC236}">
                <a16:creationId xmlns:a16="http://schemas.microsoft.com/office/drawing/2014/main" id="{6143C4C0-3BAF-C601-3478-D81D83CD11AE}"/>
              </a:ext>
            </a:extLst>
          </p:cNvPr>
          <p:cNvGraphicFramePr>
            <a:graphicFrameLocks noGrp="1"/>
          </p:cNvGraphicFramePr>
          <p:nvPr>
            <p:ph idx="1"/>
            <p:extLst>
              <p:ext uri="{D42A27DB-BD31-4B8C-83A1-F6EECF244321}">
                <p14:modId xmlns:p14="http://schemas.microsoft.com/office/powerpoint/2010/main" val="2107266351"/>
              </p:ext>
            </p:extLst>
          </p:nvPr>
        </p:nvGraphicFramePr>
        <p:xfrm>
          <a:off x="914400" y="2366963"/>
          <a:ext cx="10363200" cy="3424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ZoneTexte 6">
            <a:extLst>
              <a:ext uri="{FF2B5EF4-FFF2-40B4-BE49-F238E27FC236}">
                <a16:creationId xmlns:a16="http://schemas.microsoft.com/office/drawing/2014/main" id="{BDC51F4C-A064-4F31-2D84-DC6D4FBA1990}"/>
              </a:ext>
            </a:extLst>
          </p:cNvPr>
          <p:cNvSpPr txBox="1"/>
          <p:nvPr/>
        </p:nvSpPr>
        <p:spPr>
          <a:xfrm>
            <a:off x="1740310" y="5421868"/>
            <a:ext cx="8026810" cy="369332"/>
          </a:xfrm>
          <a:prstGeom prst="rect">
            <a:avLst/>
          </a:prstGeom>
          <a:noFill/>
        </p:spPr>
        <p:txBody>
          <a:bodyPr wrap="square">
            <a:spAutoFit/>
          </a:bodyPr>
          <a:lstStyle/>
          <a:p>
            <a:r>
              <a:rPr lang="fr-FR" dirty="0"/>
              <a:t>Le retour d'expérience permet d'améliorer durablement la sécurité de l'infrastructure.</a:t>
            </a:r>
          </a:p>
        </p:txBody>
      </p:sp>
    </p:spTree>
    <p:extLst>
      <p:ext uri="{BB962C8B-B14F-4D97-AF65-F5344CB8AC3E}">
        <p14:creationId xmlns:p14="http://schemas.microsoft.com/office/powerpoint/2010/main" val="3857383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53993D-82A6-778D-9335-DAE1A0C7E96E}"/>
              </a:ext>
            </a:extLst>
          </p:cNvPr>
          <p:cNvSpPr>
            <a:spLocks noGrp="1"/>
          </p:cNvSpPr>
          <p:nvPr>
            <p:ph type="title"/>
          </p:nvPr>
        </p:nvSpPr>
        <p:spPr>
          <a:xfrm>
            <a:off x="913774" y="131820"/>
            <a:ext cx="10364451" cy="1596177"/>
          </a:xfrm>
        </p:spPr>
        <p:txBody>
          <a:bodyPr>
            <a:normAutofit/>
          </a:bodyPr>
          <a:lstStyle/>
          <a:p>
            <a:r>
              <a:rPr lang="fr-FR" dirty="0">
                <a:solidFill>
                  <a:schemeClr val="tx1"/>
                </a:solidFill>
              </a:rPr>
              <a:t>Conclusion</a:t>
            </a:r>
            <a:br>
              <a:rPr lang="fr-FR" dirty="0"/>
            </a:br>
            <a:endParaRPr lang="fr-FR" dirty="0"/>
          </a:p>
        </p:txBody>
      </p:sp>
      <p:sp>
        <p:nvSpPr>
          <p:cNvPr id="3" name="Espace réservé du contenu 2">
            <a:extLst>
              <a:ext uri="{FF2B5EF4-FFF2-40B4-BE49-F238E27FC236}">
                <a16:creationId xmlns:a16="http://schemas.microsoft.com/office/drawing/2014/main" id="{5022C623-B1DE-4724-66F7-21D0AFF7E389}"/>
              </a:ext>
            </a:extLst>
          </p:cNvPr>
          <p:cNvSpPr>
            <a:spLocks noGrp="1"/>
          </p:cNvSpPr>
          <p:nvPr>
            <p:ph idx="1"/>
          </p:nvPr>
        </p:nvSpPr>
        <p:spPr>
          <a:xfrm>
            <a:off x="603592" y="1080294"/>
            <a:ext cx="8596668" cy="4697411"/>
          </a:xfrm>
        </p:spPr>
        <p:txBody>
          <a:bodyPr>
            <a:normAutofit/>
          </a:bodyPr>
          <a:lstStyle/>
          <a:p>
            <a:r>
              <a:rPr lang="fr-FR" b="1" dirty="0"/>
              <a:t>Objectifs atteints</a:t>
            </a:r>
          </a:p>
          <a:p>
            <a:r>
              <a:rPr lang="fr-FR" dirty="0"/>
              <a:t>✅ Audit de l'infrastructure</a:t>
            </a:r>
          </a:p>
          <a:p>
            <a:r>
              <a:rPr lang="fr-FR" dirty="0"/>
              <a:t>✅ Sécurisation des systèmes</a:t>
            </a:r>
          </a:p>
          <a:p>
            <a:r>
              <a:rPr lang="fr-FR" dirty="0"/>
              <a:t>✅ Déploiement de Splunk</a:t>
            </a:r>
          </a:p>
          <a:p>
            <a:r>
              <a:rPr lang="fr-FR" dirty="0"/>
              <a:t>✅ Centralisation des journaux</a:t>
            </a:r>
          </a:p>
          <a:p>
            <a:r>
              <a:rPr lang="fr-FR" dirty="0"/>
              <a:t>✅ Détection des incidents</a:t>
            </a:r>
          </a:p>
          <a:p>
            <a:r>
              <a:rPr lang="fr-FR" dirty="0"/>
              <a:t>✅ Réponse à incident</a:t>
            </a:r>
          </a:p>
          <a:p>
            <a:r>
              <a:rPr lang="fr-FR" dirty="0"/>
              <a:t>✅ Analyse forensique</a:t>
            </a:r>
          </a:p>
          <a:p>
            <a:pPr marL="0" indent="0">
              <a:buNone/>
            </a:pPr>
            <a:endParaRPr lang="fr-FR" dirty="0"/>
          </a:p>
        </p:txBody>
      </p:sp>
      <p:sp>
        <p:nvSpPr>
          <p:cNvPr id="5" name="ZoneTexte 4">
            <a:extLst>
              <a:ext uri="{FF2B5EF4-FFF2-40B4-BE49-F238E27FC236}">
                <a16:creationId xmlns:a16="http://schemas.microsoft.com/office/drawing/2014/main" id="{63441BB5-ECAB-1004-0881-8C249C9F6B52}"/>
              </a:ext>
            </a:extLst>
          </p:cNvPr>
          <p:cNvSpPr txBox="1"/>
          <p:nvPr/>
        </p:nvSpPr>
        <p:spPr>
          <a:xfrm>
            <a:off x="913774" y="5307011"/>
            <a:ext cx="9469091" cy="646331"/>
          </a:xfrm>
          <a:prstGeom prst="rect">
            <a:avLst/>
          </a:prstGeom>
          <a:noFill/>
        </p:spPr>
        <p:txBody>
          <a:bodyPr wrap="square">
            <a:spAutoFit/>
          </a:bodyPr>
          <a:lstStyle/>
          <a:p>
            <a:r>
              <a:rPr lang="fr-FR" dirty="0"/>
              <a:t>Ce projet répond aux besoins exprimés par Iron4Software et propose une approche complète de la cybersécurité, de l'audit jusqu'à la réponse à incident.</a:t>
            </a:r>
          </a:p>
        </p:txBody>
      </p:sp>
    </p:spTree>
    <p:extLst>
      <p:ext uri="{BB962C8B-B14F-4D97-AF65-F5344CB8AC3E}">
        <p14:creationId xmlns:p14="http://schemas.microsoft.com/office/powerpoint/2010/main" val="762928273"/>
      </p:ext>
    </p:extLst>
  </p:cSld>
  <p:clrMapOvr>
    <a:masterClrMapping/>
  </p:clrMapOvr>
</p:sld>
</file>

<file path=ppt/theme/theme1.xml><?xml version="1.0" encoding="utf-8"?>
<a:theme xmlns:a="http://schemas.openxmlformats.org/drawingml/2006/main" name="Ronds dans l’eau">
  <a:themeElements>
    <a:clrScheme name="Ronds dans l’eau">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Ronds dans l’eau">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onds dans l’eau">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TM04033925[[fn=Ronds dans l’eau]]</Template>
  <TotalTime>3921</TotalTime>
  <Words>1768</Words>
  <Application>Microsoft Office PowerPoint</Application>
  <PresentationFormat>Grand écran</PresentationFormat>
  <Paragraphs>199</Paragraphs>
  <Slides>38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38</vt:i4>
      </vt:variant>
    </vt:vector>
  </HeadingPairs>
  <TitlesOfParts>
    <vt:vector size="42" baseType="lpstr">
      <vt:lpstr>Arial</vt:lpstr>
      <vt:lpstr>Courier New</vt:lpstr>
      <vt:lpstr>Tw Cen MT</vt:lpstr>
      <vt:lpstr>Ronds dans l’eau</vt:lpstr>
      <vt:lpstr>Présentation PowerPoint</vt:lpstr>
      <vt:lpstr>SOMMAIRE</vt:lpstr>
      <vt:lpstr>Présentation d'Iron4Software</vt:lpstr>
      <vt:lpstr>Réunion avec le client</vt:lpstr>
      <vt:lpstr>Budget du projet</vt:lpstr>
      <vt:lpstr>Phase1- Cadrage et présentation de l'infrastructure</vt:lpstr>
      <vt:lpstr>Présentation PowerPoint</vt:lpstr>
      <vt:lpstr>Présentation PowerPoint</vt:lpstr>
      <vt:lpstr>Présentation PowerPoint</vt:lpstr>
      <vt:lpstr>Phase 2 – Audit de sécurité </vt:lpstr>
      <vt:lpstr>Présentation PowerPoint</vt:lpstr>
      <vt:lpstr>Présentation PowerPoint</vt:lpstr>
      <vt:lpstr>Audit  de vulnérabilités</vt:lpstr>
      <vt:lpstr>Phase 3 – Sécurisation de l'infrastructure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Phase 4 – Supervision avec Splunk </vt:lpstr>
      <vt:lpstr>Présentation PowerPoint</vt:lpstr>
      <vt:lpstr>Présentation PowerPoint</vt:lpstr>
      <vt:lpstr>Présentation PowerPoint</vt:lpstr>
      <vt:lpstr>Présentation PowerPoint</vt:lpstr>
      <vt:lpstr>Présentation PowerPoint</vt:lpstr>
      <vt:lpstr>Présentation PowerPoint</vt:lpstr>
      <vt:lpstr>Phase 5 Simulation d’attaque</vt:lpstr>
      <vt:lpstr>Présentation PowerPoint</vt:lpstr>
      <vt:lpstr>Phase 6 – Confinement de l'incident</vt:lpstr>
      <vt:lpstr> </vt:lpstr>
      <vt:lpstr>Présentation PowerPoint</vt:lpstr>
      <vt:lpstr>Présentation PowerPoint</vt:lpstr>
      <vt:lpstr>Phase 7 Investigation et analyse forensique</vt:lpstr>
      <vt:lpstr>Phase 8 – Communication de crise et Retour d'expérience</vt:lpstr>
      <vt:lpstr>le cycle d'amélioration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Cedric Dezszer</dc:creator>
  <cp:lastModifiedBy>Cedric Dezszer</cp:lastModifiedBy>
  <cp:revision>127</cp:revision>
  <dcterms:created xsi:type="dcterms:W3CDTF">2026-07-15T13:44:27Z</dcterms:created>
  <dcterms:modified xsi:type="dcterms:W3CDTF">2026-07-28T14:59:23Z</dcterms:modified>
</cp:coreProperties>
</file>